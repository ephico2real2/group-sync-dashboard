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tool by the question it answers: who can reach what. Part 1 is for leadership and audit (why); part 2 is for the platform team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none of these raise an event or a failed reconcile. Each is an absence, and absences are what a person reading oc get does not notice. The 9 comes from the README's reference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Self-service lowers the load on the platform team; quarterly review is a compliance requirement. The tool serves both from one read-only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to remember: read-only, every cluster, OpenShift login, evidence. Product name on screen: OCP Access Tracking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flow: sign in, open Home, read your own access. Direct grants are highlighted because they survive leaving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shows 5 namespaces at risk, 7 people, 12 grants to migrate. The quote is the page's own operational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catalogue top to bottom; each report answers one question an access review asks. Formats: PDF/A-2b, HTML, CSV,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artefact the quarterly review signs. Decisions are recorded on paper or in the PDF; the dashboard never changes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provenance table: who, when, from which snapshot, with which build. The 400 days is the chart's login retention.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is the lab's own values. Delivery is a webhook CloudEvent per run; GroupSyncDashboardReportScheduleLate fires on a late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technical audience: tiers, architecture, one poll, reporting, credentials, operations,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never decides access itself; it asks the cluster. A failed check always narrows, never widens.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door (oauth-proxy), one writer (the dashboard), a report pod that reads a snapshot and never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60 s each cluster is read and written in one transaction; bindings hourly; sync, membership and Kyverno history is pruned only after a successful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in, one pipeline. The report pod holds no cluster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Polling only reads. The browser never receives a cluster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get health from the dashboard itself and from Prometheus. Backups are local every 6 h plus an offsite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to production. They map to the chart's clusters (Rejoin is a button on Cluster Configurations), rbacAuditors.groups, reporting.schedules, and a schedule's deliver: webhook.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Everything in the deck is in these documents, each checked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191273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OCP ACCESS TRACKING DASHBOARD</a:t>
            </a:r>
            <a:endParaRPr lang="en-US" sz="1400" dirty="0"/>
          </a:p>
        </p:txBody>
      </p:sp>
      <p:sp>
        <p:nvSpPr>
          <p:cNvPr id="3" name="Text 1"/>
          <p:cNvSpPr/>
          <p:nvPr/>
        </p:nvSpPr>
        <p:spPr>
          <a:xfrm>
            <a:off x="812800" y="2415580"/>
            <a:ext cx="9810750" cy="1412081"/>
          </a:xfrm>
          <a:prstGeom prst="rect">
            <a:avLst/>
          </a:prstGeom>
          <a:noFill/>
          <a:ln/>
        </p:spPr>
        <p:txBody>
          <a:bodyPr wrap="square" lIns="0" tIns="0" rIns="0" bIns="0" rtlCol="0" anchor="t">
            <a:normAutofit/>
          </a:bodyPr>
          <a:lstStyle/>
          <a:p>
            <a:pPr algn="l" indent="0" marL="0">
              <a:lnSpc>
                <a:spcPts val="5460"/>
              </a:lnSpc>
              <a:buNone/>
            </a:pPr>
            <a:r>
              <a:rPr lang="en-US" sz="5200" b="1" dirty="0">
                <a:solidFill>
                  <a:srgbClr val="F5F6F8"/>
                </a:solidFill>
                <a:latin typeface="Arial" pitchFamily="34" charset="0"/>
                <a:ea typeface="Arial" pitchFamily="34" charset="-122"/>
                <a:cs typeface="Arial" pitchFamily="34" charset="-120"/>
              </a:rPr>
              <a:t>OpenShift Access Tracking &amp; Reporting</a:t>
            </a:r>
            <a:endParaRPr lang="en-US" sz="5200" dirty="0"/>
          </a:p>
        </p:txBody>
      </p:sp>
      <p:sp>
        <p:nvSpPr>
          <p:cNvPr id="4" name="Text 2"/>
          <p:cNvSpPr/>
          <p:nvPr/>
        </p:nvSpPr>
        <p:spPr>
          <a:xfrm>
            <a:off x="812800" y="4056261"/>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Who can reach what, on every cluster: for the people who hold access, and for the quarterly review that must prove it.</a:t>
            </a:r>
            <a:endParaRPr lang="en-US" sz="2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5B3"/>
                </a:solidFill>
                <a:latin typeface="Arial" pitchFamily="34" charset="0"/>
                <a:ea typeface="Arial" pitchFamily="34" charset="-122"/>
                <a:cs typeface="Arial" pitchFamily="34" charset="-120"/>
              </a:rPr>
              <a:t>Application 5.8.0 · chart 0.70.12 · every screenshot is from the lab on 2026-10-08: the running dashboard, or a report it generated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PROBLEM</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Access on OpenShift fails silently</a:t>
            </a:r>
            <a:endParaRPr lang="en-US" sz="3000" dirty="0"/>
          </a:p>
        </p:txBody>
      </p:sp>
      <p:sp>
        <p:nvSpPr>
          <p:cNvPr id="4" name="Shape 2"/>
          <p:cNvSpPr/>
          <p:nvPr/>
        </p:nvSpPr>
        <p:spPr>
          <a:xfrm>
            <a:off x="812800" y="1953220"/>
            <a:ext cx="4064000" cy="2919016"/>
          </a:xfrm>
          <a:prstGeom prst="roundRect">
            <a:avLst>
              <a:gd name="adj" fmla="val 3481"/>
            </a:avLst>
          </a:prstGeom>
          <a:solidFill>
            <a:srgbClr val="14202B"/>
          </a:solidFill>
          <a:ln/>
        </p:spPr>
      </p:sp>
      <p:sp>
        <p:nvSpPr>
          <p:cNvPr id="5" name="Shape 3"/>
          <p:cNvSpPr/>
          <p:nvPr/>
        </p:nvSpPr>
        <p:spPr>
          <a:xfrm>
            <a:off x="812800" y="1953220"/>
            <a:ext cx="4064000" cy="2919016"/>
          </a:xfrm>
          <a:custGeom>
            <a:avLst/>
            <a:gdLst/>
            <a:ahLst/>
            <a:cxnLst/>
            <a:rect l="l" t="t" r="r" b="b"/>
            <a:pathLst>
              <a:path w="4064000" h="2919016">
                <a:moveTo>
                  <a:pt x="0" y="101600"/>
                </a:moveTo>
                <a:lnTo>
                  <a:pt x="0" y="101600"/>
                </a:lnTo>
                <a:arcTo hR="101600" wR="101600" stAng="10800000" swAng="5400000"/>
                <a:lnTo>
                  <a:pt x="3962400" y="0"/>
                </a:lnTo>
                <a:arcTo hR="101600" wR="101600" stAng="16200000" swAng="5400000"/>
                <a:lnTo>
                  <a:pt x="4064000" y="101600"/>
                </a:lnTo>
                <a:arcTo hR="25400" wR="101600" stAng="0" swAng="-5400000"/>
                <a:lnTo>
                  <a:pt x="101600" y="76200"/>
                </a:lnTo>
                <a:arcTo hR="25400" wR="101600" stAng="16200000" swAng="-5400000"/>
                <a:close/>
              </a:path>
            </a:pathLst>
          </a:custGeom>
          <a:solidFill>
            <a:srgbClr val="B3261E"/>
          </a:solidFill>
          <a:ln/>
        </p:spPr>
      </p:sp>
      <p:sp>
        <p:nvSpPr>
          <p:cNvPr id="6" name="Text 4"/>
          <p:cNvSpPr/>
          <p:nvPr/>
        </p:nvSpPr>
        <p:spPr>
          <a:xfrm>
            <a:off x="1117600" y="2334220"/>
            <a:ext cx="355803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3FCFC0"/>
                </a:solidFill>
                <a:latin typeface="Arial" pitchFamily="34" charset="0"/>
                <a:ea typeface="Arial" pitchFamily="34" charset="-122"/>
                <a:cs typeface="Arial" pitchFamily="34" charset="-120"/>
              </a:rPr>
              <a:t>9</a:t>
            </a:r>
            <a:endParaRPr lang="en-US" sz="6000" dirty="0"/>
          </a:p>
        </p:txBody>
      </p:sp>
      <p:sp>
        <p:nvSpPr>
          <p:cNvPr id="7" name="Text 5"/>
          <p:cNvSpPr/>
          <p:nvPr/>
        </p:nvSpPr>
        <p:spPr>
          <a:xfrm>
            <a:off x="1117600" y="3223220"/>
            <a:ext cx="355803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E5E9EF"/>
                </a:solidFill>
                <a:latin typeface="Arial" pitchFamily="34" charset="0"/>
                <a:ea typeface="Arial" pitchFamily="34" charset="-122"/>
                <a:cs typeface="Arial" pitchFamily="34" charset="-120"/>
              </a:rPr>
              <a:t>RoleBindings granting </a:t>
            </a:r>
            <a:r>
              <a:rPr lang="en-US" sz="1500" b="1" dirty="0">
                <a:solidFill>
                  <a:srgbClr val="E5E9EF"/>
                </a:solidFill>
                <a:latin typeface="Arial" pitchFamily="34" charset="0"/>
                <a:ea typeface="Arial" pitchFamily="34" charset="-122"/>
                <a:cs typeface="Arial" pitchFamily="34" charset="-120"/>
              </a:rPr>
              <a:t>admin</a:t>
            </a:r>
            <a:r>
              <a:rPr lang="en-US" sz="1500" dirty="0">
                <a:solidFill>
                  <a:srgbClr val="E5E9EF"/>
                </a:solidFill>
                <a:latin typeface="Arial" pitchFamily="34" charset="0"/>
                <a:ea typeface="Arial" pitchFamily="34" charset="-122"/>
                <a:cs typeface="Arial" pitchFamily="34" charset="-120"/>
              </a:rPr>
              <a:t>, </a:t>
            </a:r>
            <a:r>
              <a:rPr lang="en-US" sz="1500" b="1" dirty="0">
                <a:solidFill>
                  <a:srgbClr val="E5E9EF"/>
                </a:solidFill>
                <a:latin typeface="Arial" pitchFamily="34" charset="0"/>
                <a:ea typeface="Arial" pitchFamily="34" charset="-122"/>
                <a:cs typeface="Arial" pitchFamily="34" charset="-120"/>
              </a:rPr>
              <a:t>view</a:t>
            </a:r>
            <a:r>
              <a:rPr lang="en-US" sz="1500" dirty="0">
                <a:solidFill>
                  <a:srgbClr val="E5E9EF"/>
                </a:solidFill>
                <a:latin typeface="Arial" pitchFamily="34" charset="0"/>
                <a:ea typeface="Arial" pitchFamily="34" charset="-122"/>
                <a:cs typeface="Arial" pitchFamily="34" charset="-120"/>
              </a:rPr>
              <a:t> and </a:t>
            </a:r>
            <a:r>
              <a:rPr lang="en-US" sz="1500" b="1" dirty="0">
                <a:solidFill>
                  <a:srgbClr val="E5E9EF"/>
                </a:solidFill>
                <a:latin typeface="Arial" pitchFamily="34" charset="0"/>
                <a:ea typeface="Arial" pitchFamily="34" charset="-122"/>
                <a:cs typeface="Arial" pitchFamily="34" charset="-120"/>
              </a:rPr>
              <a:t>edit</a:t>
            </a:r>
            <a:r>
              <a:rPr lang="en-US" sz="1500" dirty="0">
                <a:solidFill>
                  <a:srgbClr val="E5E9EF"/>
                </a:solidFill>
                <a:latin typeface="Arial" pitchFamily="34" charset="0"/>
                <a:ea typeface="Arial" pitchFamily="34" charset="-122"/>
                <a:cs typeface="Arial" pitchFamily="34" charset="-120"/>
              </a:rPr>
              <a:t> to groups that have never existed, found on the reference cluster.</a:t>
            </a:r>
            <a:endParaRPr lang="en-US" sz="1500" dirty="0"/>
          </a:p>
        </p:txBody>
      </p:sp>
      <p:sp>
        <p:nvSpPr>
          <p:cNvPr id="8" name="Text 6"/>
          <p:cNvSpPr/>
          <p:nvPr/>
        </p:nvSpPr>
        <p:spPr>
          <a:xfrm>
            <a:off x="1117600" y="4121745"/>
            <a:ext cx="355803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oc get rolebinding reports every one of them as healthy.</a:t>
            </a:r>
            <a:endParaRPr lang="en-US" sz="1300" dirty="0"/>
          </a:p>
        </p:txBody>
      </p:sp>
      <p:sp>
        <p:nvSpPr>
          <p:cNvPr id="9" name="Shape 7"/>
          <p:cNvSpPr/>
          <p:nvPr/>
        </p:nvSpPr>
        <p:spPr>
          <a:xfrm>
            <a:off x="5232400" y="1953220"/>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5232400" y="1953220"/>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1" name="Text 9"/>
          <p:cNvSpPr/>
          <p:nvPr/>
        </p:nvSpPr>
        <p:spPr>
          <a:xfrm>
            <a:off x="5435600" y="2232620"/>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group that does not exist</a:t>
            </a:r>
            <a:endParaRPr lang="en-US" sz="1600" dirty="0"/>
          </a:p>
        </p:txBody>
      </p:sp>
      <p:sp>
        <p:nvSpPr>
          <p:cNvPr id="12" name="Text 10"/>
          <p:cNvSpPr/>
          <p:nvPr/>
        </p:nvSpPr>
        <p:spPr>
          <a:xfrm>
            <a:off x="5435600" y="2552601"/>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looks healthy and grants nobody.</a:t>
            </a:r>
            <a:endParaRPr lang="en-US" sz="1300" dirty="0"/>
          </a:p>
        </p:txBody>
      </p:sp>
      <p:sp>
        <p:nvSpPr>
          <p:cNvPr id="13" name="Shape 11"/>
          <p:cNvSpPr/>
          <p:nvPr/>
        </p:nvSpPr>
        <p:spPr>
          <a:xfrm>
            <a:off x="5232400" y="3105646"/>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4" name="Shape 12"/>
          <p:cNvSpPr/>
          <p:nvPr/>
        </p:nvSpPr>
        <p:spPr>
          <a:xfrm>
            <a:off x="5232400" y="3105646"/>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5" name="Text 13"/>
          <p:cNvSpPr/>
          <p:nvPr/>
        </p:nvSpPr>
        <p:spPr>
          <a:xfrm>
            <a:off x="5435600" y="3385046"/>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person, not a group</a:t>
            </a:r>
            <a:endParaRPr lang="en-US" sz="1600" dirty="0"/>
          </a:p>
        </p:txBody>
      </p:sp>
      <p:sp>
        <p:nvSpPr>
          <p:cNvPr id="16" name="Text 14"/>
          <p:cNvSpPr/>
          <p:nvPr/>
        </p:nvSpPr>
        <p:spPr>
          <a:xfrm>
            <a:off x="5435600" y="3705027"/>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Removing them from the directory revokes nothing: it survives offboarding.</a:t>
            </a:r>
            <a:endParaRPr lang="en-US" sz="1300" dirty="0"/>
          </a:p>
        </p:txBody>
      </p:sp>
      <p:sp>
        <p:nvSpPr>
          <p:cNvPr id="17" name="Shape 15"/>
          <p:cNvSpPr/>
          <p:nvPr/>
        </p:nvSpPr>
        <p:spPr>
          <a:xfrm>
            <a:off x="5232400" y="4258072"/>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8" name="Shape 16"/>
          <p:cNvSpPr/>
          <p:nvPr/>
        </p:nvSpPr>
        <p:spPr>
          <a:xfrm>
            <a:off x="5232400" y="4258072"/>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9" name="Text 17"/>
          <p:cNvSpPr/>
          <p:nvPr/>
        </p:nvSpPr>
        <p:spPr>
          <a:xfrm>
            <a:off x="5435600" y="4537472"/>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group silently stopped being refreshed</a:t>
            </a:r>
            <a:endParaRPr lang="en-US" sz="1600" dirty="0"/>
          </a:p>
        </p:txBody>
      </p:sp>
      <p:sp>
        <p:nvSpPr>
          <p:cNvPr id="20" name="Text 18"/>
          <p:cNvSpPr/>
          <p:nvPr/>
        </p:nvSpPr>
        <p:spPr>
          <a:xfrm>
            <a:off x="5435600" y="4857452"/>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sync still reports success.</a:t>
            </a:r>
            <a:endParaRPr lang="en-US" sz="1300" dirty="0"/>
          </a:p>
        </p:txBody>
      </p:sp>
      <p:sp>
        <p:nvSpPr>
          <p:cNvPr id="21" name="Text 19"/>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the dashboard's README, the failures it surfaces and the reference cluster's finding</a:t>
            </a:r>
            <a:endParaRPr lang="en-US" sz="1200" dirty="0"/>
          </a:p>
        </p:txBody>
      </p:sp>
      <p:sp>
        <p:nvSpPr>
          <p:cNvPr id="22" name="Text 20"/>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2 / 19</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WHY NOW</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Two needs, one source of truth</a:t>
            </a:r>
            <a:endParaRPr lang="en-US" sz="3000" dirty="0"/>
          </a:p>
        </p:txBody>
      </p:sp>
      <p:sp>
        <p:nvSpPr>
          <p:cNvPr id="4" name="Shape 2"/>
          <p:cNvSpPr/>
          <p:nvPr/>
        </p:nvSpPr>
        <p:spPr>
          <a:xfrm>
            <a:off x="8128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6" name="Text 4"/>
          <p:cNvSpPr/>
          <p:nvPr/>
        </p:nvSpPr>
        <p:spPr>
          <a:xfrm>
            <a:off x="10160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Self-service</a:t>
            </a:r>
            <a:endParaRPr lang="en-US" sz="1600" dirty="0"/>
          </a:p>
        </p:txBody>
      </p:sp>
      <p:sp>
        <p:nvSpPr>
          <p:cNvPr id="7" name="Text 5"/>
          <p:cNvSpPr/>
          <p:nvPr/>
        </p:nvSpPr>
        <p:spPr>
          <a:xfrm>
            <a:off x="1016000" y="2552601"/>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Everyone can answer “what access do I have, and how did I get it” without a ticket, an oc login with rights they do not have, or a platform engineer.</a:t>
            </a:r>
            <a:endParaRPr lang="en-US" sz="1300" dirty="0"/>
          </a:p>
        </p:txBody>
      </p:sp>
      <p:sp>
        <p:nvSpPr>
          <p:cNvPr id="8" name="Shape 6"/>
          <p:cNvSpPr/>
          <p:nvPr/>
        </p:nvSpPr>
        <p:spPr>
          <a:xfrm>
            <a:off x="62230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2230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10" name="Text 8"/>
          <p:cNvSpPr/>
          <p:nvPr/>
        </p:nvSpPr>
        <p:spPr>
          <a:xfrm>
            <a:off x="64262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Quarterly access review</a:t>
            </a:r>
            <a:endParaRPr lang="en-US" sz="1600" dirty="0"/>
          </a:p>
        </p:txBody>
      </p:sp>
      <p:sp>
        <p:nvSpPr>
          <p:cNvPr id="11" name="Text 9"/>
          <p:cNvSpPr/>
          <p:nvPr/>
        </p:nvSpPr>
        <p:spPr>
          <a:xfrm>
            <a:off x="6426200" y="2552601"/>
            <a:ext cx="489229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Auditors need evidence that names the access, the reviewer, the time and the outcome, and shows what changed since the last review. SOC 2, ISO 27001 A.5.18 (which replaced A.9.2.5 of the 2013 edition) and SOX centre on dormant, orphaned and privileged access.</a:t>
            </a:r>
            <a:endParaRPr lang="en-US" sz="1300" dirty="0"/>
          </a:p>
        </p:txBody>
      </p:sp>
      <p:sp>
        <p:nvSpPr>
          <p:cNvPr id="12" name="Text 10"/>
          <p:cNvSpPr/>
          <p:nvPr/>
        </p:nvSpPr>
        <p:spPr>
          <a:xfrm>
            <a:off x="812800" y="4124027"/>
            <a:ext cx="1137920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The same observed data answers both: one view of access per person, and evidence for the review, drawn from it.</a:t>
            </a:r>
            <a:endParaRPr lang="en-US" sz="1500" dirty="0"/>
          </a:p>
        </p:txBody>
      </p:sp>
      <p:sp>
        <p:nvSpPr>
          <p:cNvPr id="13" name="Text 11"/>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(the self tier's purpose) · DESIGN_reporting_service.md (compliance guidance)</a:t>
            </a:r>
            <a:endParaRPr lang="en-US" sz="1200" dirty="0"/>
          </a:p>
        </p:txBody>
      </p:sp>
      <p:sp>
        <p:nvSpPr>
          <p:cNvPr id="14" name="Text 12"/>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3 / 19</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TOOL</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What it is</a:t>
            </a:r>
            <a:endParaRPr lang="en-US" sz="3000" dirty="0"/>
          </a:p>
        </p:txBody>
      </p:sp>
      <p:sp>
        <p:nvSpPr>
          <p:cNvPr id="4" name="Shape 2"/>
          <p:cNvSpPr/>
          <p:nvPr/>
        </p:nvSpPr>
        <p:spPr>
          <a:xfrm>
            <a:off x="8128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6" name="Text 4"/>
          <p:cNvSpPr/>
          <p:nvPr/>
        </p:nvSpPr>
        <p:spPr>
          <a:xfrm>
            <a:off x="10160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Read-only</a:t>
            </a:r>
            <a:endParaRPr lang="en-US" sz="1600" dirty="0"/>
          </a:p>
        </p:txBody>
      </p:sp>
      <p:sp>
        <p:nvSpPr>
          <p:cNvPr id="7" name="Text 5"/>
          <p:cNvSpPr/>
          <p:nvPr/>
        </p:nvSpPr>
        <p:spPr>
          <a:xfrm>
            <a:off x="10160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observes; it never creates or edits a GroupSync CR, a binding or a group.</a:t>
            </a:r>
            <a:endParaRPr lang="en-US" sz="1300" dirty="0"/>
          </a:p>
        </p:txBody>
      </p:sp>
      <p:sp>
        <p:nvSpPr>
          <p:cNvPr id="8" name="Shape 6"/>
          <p:cNvSpPr/>
          <p:nvPr/>
        </p:nvSpPr>
        <p:spPr>
          <a:xfrm>
            <a:off x="61976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1976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0" name="Text 8"/>
          <p:cNvSpPr/>
          <p:nvPr/>
        </p:nvSpPr>
        <p:spPr>
          <a:xfrm>
            <a:off x="64008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Every cluster, one view</a:t>
            </a:r>
            <a:endParaRPr lang="en-US" sz="1600" dirty="0"/>
          </a:p>
        </p:txBody>
      </p:sp>
      <p:sp>
        <p:nvSpPr>
          <p:cNvPr id="11" name="Text 9"/>
          <p:cNvSpPr/>
          <p:nvPr/>
        </p:nvSpPr>
        <p:spPr>
          <a:xfrm>
            <a:off x="64008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dashboard on the host cluster reads every joined cluster, each with that cluster's own token.</a:t>
            </a:r>
            <a:endParaRPr lang="en-US" sz="1300" dirty="0"/>
          </a:p>
        </p:txBody>
      </p:sp>
      <p:sp>
        <p:nvSpPr>
          <p:cNvPr id="12" name="Shape 10"/>
          <p:cNvSpPr/>
          <p:nvPr/>
        </p:nvSpPr>
        <p:spPr>
          <a:xfrm>
            <a:off x="8128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3" name="Shape 11"/>
          <p:cNvSpPr/>
          <p:nvPr/>
        </p:nvSpPr>
        <p:spPr>
          <a:xfrm>
            <a:off x="8128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4" name="Text 12"/>
          <p:cNvSpPr/>
          <p:nvPr/>
        </p:nvSpPr>
        <p:spPr>
          <a:xfrm>
            <a:off x="10160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Signed in with OpenShift</a:t>
            </a:r>
            <a:endParaRPr lang="en-US" sz="1600" dirty="0"/>
          </a:p>
        </p:txBody>
      </p:sp>
      <p:sp>
        <p:nvSpPr>
          <p:cNvPr id="15" name="Text 13"/>
          <p:cNvSpPr/>
          <p:nvPr/>
        </p:nvSpPr>
        <p:spPr>
          <a:xfrm>
            <a:off x="10160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People log in the way they already do; the cluster decides what each person may see.</a:t>
            </a:r>
            <a:endParaRPr lang="en-US" sz="1300" dirty="0"/>
          </a:p>
        </p:txBody>
      </p:sp>
      <p:sp>
        <p:nvSpPr>
          <p:cNvPr id="16" name="Shape 14"/>
          <p:cNvSpPr/>
          <p:nvPr/>
        </p:nvSpPr>
        <p:spPr>
          <a:xfrm>
            <a:off x="61976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7" name="Shape 15"/>
          <p:cNvSpPr/>
          <p:nvPr/>
        </p:nvSpPr>
        <p:spPr>
          <a:xfrm>
            <a:off x="61976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A55A0B"/>
          </a:solidFill>
          <a:ln/>
        </p:spPr>
      </p:sp>
      <p:sp>
        <p:nvSpPr>
          <p:cNvPr id="18" name="Text 16"/>
          <p:cNvSpPr/>
          <p:nvPr/>
        </p:nvSpPr>
        <p:spPr>
          <a:xfrm>
            <a:off x="64008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Evidence on demand and on schedule</a:t>
            </a:r>
            <a:endParaRPr lang="en-US" sz="1600" dirty="0"/>
          </a:p>
        </p:txBody>
      </p:sp>
      <p:sp>
        <p:nvSpPr>
          <p:cNvPr id="19" name="Text 17"/>
          <p:cNvSpPr/>
          <p:nvPr/>
        </p:nvSpPr>
        <p:spPr>
          <a:xfrm>
            <a:off x="64008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Eleven reports as PDF/A, HTML, CSV and JSON, generated by hand or by a schedule.</a:t>
            </a:r>
            <a:endParaRPr lang="en-US" sz="1300" dirty="0"/>
          </a:p>
        </p:txBody>
      </p:sp>
      <p:sp>
        <p:nvSpPr>
          <p:cNvPr id="20" name="Text 18"/>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README · the chart's templates · the reports catalogue</a:t>
            </a:r>
            <a:endParaRPr lang="en-US" sz="1200" dirty="0"/>
          </a:p>
        </p:txBody>
      </p:sp>
      <p:sp>
        <p:nvSpPr>
          <p:cNvPr id="21" name="Text 19"/>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4 / 19</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FOR EVERYONE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Self-service: everyone sees their own access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Home</a:t>
            </a:r>
            <a:r>
              <a:rPr lang="en-US" sz="1300" dirty="0">
                <a:solidFill>
                  <a:srgbClr val="3E4A57"/>
                </a:solidFill>
                <a:latin typeface="Arial" pitchFamily="34" charset="0"/>
                <a:ea typeface="Arial" pitchFamily="34" charset="-122"/>
                <a:cs typeface="Arial" pitchFamily="34" charset="-120"/>
              </a:rPr>
              <a:t> is always the reader's own access, administrators included.</a:t>
            </a:r>
            <a:endParaRPr lang="en-US" sz="1300" dirty="0"/>
          </a:p>
        </p:txBody>
      </p:sp>
      <p:sp>
        <p:nvSpPr>
          <p:cNvPr id="6" name="Shape 4"/>
          <p:cNvSpPr/>
          <p:nvPr/>
        </p:nvSpPr>
        <p:spPr>
          <a:xfrm>
            <a:off x="850900" y="2544961"/>
            <a:ext cx="0" cy="668536"/>
          </a:xfrm>
          <a:prstGeom prst="line">
            <a:avLst/>
          </a:prstGeom>
          <a:noFill/>
          <a:ln w="76200">
            <a:solidFill>
              <a:srgbClr val="0E6F68"/>
            </a:solidFill>
            <a:prstDash val="solid"/>
          </a:ln>
        </p:spPr>
      </p:sp>
      <p:sp>
        <p:nvSpPr>
          <p:cNvPr id="7" name="Text 5"/>
          <p:cNvSpPr/>
          <p:nvPr/>
        </p:nvSpPr>
        <p:spPr>
          <a:xfrm>
            <a:off x="1041400" y="2544961"/>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shows the cluster-wide roles, the namespaces they reach and how: through a group, or a grant naming them directly.</a:t>
            </a:r>
            <a:endParaRPr lang="en-US" sz="1300" dirty="0"/>
          </a:p>
        </p:txBody>
      </p:sp>
      <p:sp>
        <p:nvSpPr>
          <p:cNvPr id="8" name="Shape 6"/>
          <p:cNvSpPr/>
          <p:nvPr/>
        </p:nvSpPr>
        <p:spPr>
          <a:xfrm>
            <a:off x="850900" y="3391297"/>
            <a:ext cx="0" cy="668536"/>
          </a:xfrm>
          <a:prstGeom prst="line">
            <a:avLst/>
          </a:prstGeom>
          <a:noFill/>
          <a:ln w="76200">
            <a:solidFill>
              <a:srgbClr val="0E6F68"/>
            </a:solidFill>
            <a:prstDash val="solid"/>
          </a:ln>
        </p:spPr>
      </p:sp>
      <p:sp>
        <p:nvSpPr>
          <p:cNvPr id="9" name="Text 7"/>
          <p:cNvSpPr/>
          <p:nvPr/>
        </p:nvSpPr>
        <p:spPr>
          <a:xfrm>
            <a:off x="1041400" y="3391297"/>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view someone may not open shows a named refusal, never a blank page: an empty audit tab would read as a healthy cluster.</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Home tab in the light theme: the signed-in person's access on the cluster, its cluster-wide role, the namespaces they reach and their direct grant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Home, light theme, the lab at 5.8.0 · ACCESS_CONTROL.md and the README for the refusal rule</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5 / 19</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NAMESPACE AUDIT</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For owners and auditors: what a group review cannot see</a:t>
            </a:r>
            <a:endParaRPr lang="en-US" sz="2878" dirty="0"/>
          </a:p>
        </p:txBody>
      </p:sp>
      <p:sp>
        <p:nvSpPr>
          <p:cNvPr id="4" name="Shape 2"/>
          <p:cNvSpPr/>
          <p:nvPr/>
        </p:nvSpPr>
        <p:spPr>
          <a:xfrm>
            <a:off x="850900" y="1921470"/>
            <a:ext cx="0" cy="668536"/>
          </a:xfrm>
          <a:prstGeom prst="line">
            <a:avLst/>
          </a:prstGeom>
          <a:noFill/>
          <a:ln w="76200">
            <a:solidFill>
              <a:srgbClr val="B3261E"/>
            </a:solidFill>
            <a:prstDash val="solid"/>
          </a:ln>
        </p:spPr>
      </p:sp>
      <p:sp>
        <p:nvSpPr>
          <p:cNvPr id="5" name="Text 3"/>
          <p:cNvSpPr/>
          <p:nvPr/>
        </p:nvSpPr>
        <p:spPr>
          <a:xfrm>
            <a:off x="1041400" y="1921470"/>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Grants that name a </a:t>
            </a:r>
            <a:r>
              <a:rPr lang="en-US" sz="1300" b="1" dirty="0">
                <a:solidFill>
                  <a:srgbClr val="3E4A57"/>
                </a:solidFill>
                <a:latin typeface="Arial" pitchFamily="34" charset="0"/>
                <a:ea typeface="Arial" pitchFamily="34" charset="-122"/>
                <a:cs typeface="Arial" pitchFamily="34" charset="-120"/>
              </a:rPr>
              <a:t>person</a:t>
            </a:r>
            <a:r>
              <a:rPr lang="en-US" sz="1300" dirty="0">
                <a:solidFill>
                  <a:srgbClr val="3E4A57"/>
                </a:solidFill>
                <a:latin typeface="Arial" pitchFamily="34" charset="0"/>
                <a:ea typeface="Arial" pitchFamily="34" charset="-122"/>
                <a:cs typeface="Arial" pitchFamily="34" charset="-120"/>
              </a:rPr>
              <a:t> rather than a group survive offboarding, and every group-based review misses them.</a:t>
            </a:r>
            <a:endParaRPr lang="en-US" sz="1300" dirty="0"/>
          </a:p>
        </p:txBody>
      </p:sp>
      <p:sp>
        <p:nvSpPr>
          <p:cNvPr id="6" name="Shape 4"/>
          <p:cNvSpPr/>
          <p:nvPr/>
        </p:nvSpPr>
        <p:spPr>
          <a:xfrm>
            <a:off x="850900" y="2767806"/>
            <a:ext cx="0" cy="445691"/>
          </a:xfrm>
          <a:prstGeom prst="line">
            <a:avLst/>
          </a:prstGeom>
          <a:noFill/>
          <a:ln w="76200">
            <a:solidFill>
              <a:srgbClr val="A55A0B"/>
            </a:solidFill>
            <a:prstDash val="solid"/>
          </a:ln>
        </p:spPr>
      </p:sp>
      <p:sp>
        <p:nvSpPr>
          <p:cNvPr id="7" name="Text 5"/>
          <p:cNvSpPr/>
          <p:nvPr/>
        </p:nvSpPr>
        <p:spPr>
          <a:xfrm>
            <a:off x="1041400" y="2767806"/>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page ranks namespaces by the worst privilege granted and names who is exposed.</a:t>
            </a:r>
            <a:endParaRPr lang="en-US" sz="1300" dirty="0"/>
          </a:p>
        </p:txBody>
      </p:sp>
      <p:sp>
        <p:nvSpPr>
          <p:cNvPr id="8" name="Shape 6"/>
          <p:cNvSpPr/>
          <p:nvPr/>
        </p:nvSpPr>
        <p:spPr>
          <a:xfrm>
            <a:off x="850900" y="3391297"/>
            <a:ext cx="0" cy="891381"/>
          </a:xfrm>
          <a:prstGeom prst="line">
            <a:avLst/>
          </a:prstGeom>
          <a:noFill/>
          <a:ln w="76200">
            <a:solidFill>
              <a:srgbClr val="0E6F68"/>
            </a:solidFill>
            <a:prstDash val="solid"/>
          </a:ln>
        </p:spPr>
      </p:sp>
      <p:sp>
        <p:nvSpPr>
          <p:cNvPr id="9" name="Text 7"/>
          <p:cNvSpPr/>
          <p:nvPr/>
        </p:nvSpPr>
        <p:spPr>
          <a:xfrm>
            <a:off x="1041400" y="3391297"/>
            <a:ext cx="3427222" cy="91678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Operational goal: zero rows.</a:t>
            </a:r>
            <a:r>
              <a:rPr lang="en-US" sz="1300" dirty="0">
                <a:solidFill>
                  <a:srgbClr val="3E4A57"/>
                </a:solidFill>
                <a:latin typeface="Arial" pitchFamily="34" charset="0"/>
                <a:ea typeface="Arial" pitchFamily="34" charset="-122"/>
                <a:cs typeface="Arial" pitchFamily="34" charset="-120"/>
              </a:rPr>
              <a:t> At zero, one directory change offboards a person from the entire cluster, and an access review that reads clean is clean.</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Namespace audit tab in the light theme: high exposure, 5 namespaces at risk, 7 people exposed, 12 grants to migrate, and why each is a risk.">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Namespace audit, light theme, the lab at 5.8.0 · the page's own text</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6 / 19</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EVIDENCE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Eleven reports, one per review question</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can reach each namespace; the access matrix; privileged access; binding findings.</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Groups and their changes; users; login activity; dormant access; sync health.</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one-page compliance snapshot, and an access certification pack for sign-off.</a:t>
            </a:r>
            <a:endParaRPr lang="en-US" sz="1300" dirty="0"/>
          </a:p>
        </p:txBody>
      </p:sp>
      <p:sp>
        <p:nvSpPr>
          <p:cNvPr id="10" name="Shape 8"/>
          <p:cNvSpPr/>
          <p:nvPr/>
        </p:nvSpPr>
        <p:spPr>
          <a:xfrm>
            <a:off x="850900" y="3791942"/>
            <a:ext cx="0" cy="668536"/>
          </a:xfrm>
          <a:prstGeom prst="line">
            <a:avLst/>
          </a:prstGeom>
          <a:noFill/>
          <a:ln w="76200">
            <a:solidFill>
              <a:srgbClr val="A55A0B"/>
            </a:solidFill>
            <a:prstDash val="solid"/>
          </a:ln>
        </p:spPr>
      </p:sp>
      <p:sp>
        <p:nvSpPr>
          <p:cNvPr id="11" name="Text 9"/>
          <p:cNvSpPr/>
          <p:nvPr/>
        </p:nvSpPr>
        <p:spPr>
          <a:xfrm>
            <a:off x="1041400" y="379194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document carries the sha256 of its data, the snapshot it was built from, and who generated it.</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Reports catalogue in the light theme: 11 reports, each with what it show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Reports, light theme, the lab at 5.8.0 · docs/reports/README.md</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7 / 19</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QUARTERLY REVIEW</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The certification pack: approve or revoke, line by line</a:t>
            </a:r>
            <a:endParaRPr lang="en-US" sz="2878" dirty="0"/>
          </a:p>
        </p:txBody>
      </p:sp>
      <p:sp>
        <p:nvSpPr>
          <p:cNvPr id="4" name="Shape 2"/>
          <p:cNvSpPr/>
          <p:nvPr/>
        </p:nvSpPr>
        <p:spPr>
          <a:xfrm>
            <a:off x="850900" y="1921470"/>
            <a:ext cx="0" cy="222845"/>
          </a:xfrm>
          <a:prstGeom prst="line">
            <a:avLst/>
          </a:prstGeom>
          <a:noFill/>
          <a:ln w="76200">
            <a:solidFill>
              <a:srgbClr val="A55A0B"/>
            </a:solidFill>
            <a:prstDash val="solid"/>
          </a:ln>
        </p:spPr>
      </p:sp>
      <p:sp>
        <p:nvSpPr>
          <p:cNvPr id="5" name="Text 3"/>
          <p:cNvSpPr/>
          <p:nvPr/>
        </p:nvSpPr>
        <p:spPr>
          <a:xfrm>
            <a:off x="1041400" y="1921470"/>
            <a:ext cx="525856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campaign with a due date and a named reviewer.</a:t>
            </a:r>
            <a:endParaRPr lang="en-US" sz="1300" dirty="0"/>
          </a:p>
        </p:txBody>
      </p:sp>
      <p:sp>
        <p:nvSpPr>
          <p:cNvPr id="6" name="Shape 4"/>
          <p:cNvSpPr/>
          <p:nvPr/>
        </p:nvSpPr>
        <p:spPr>
          <a:xfrm>
            <a:off x="850900" y="2322116"/>
            <a:ext cx="0" cy="668536"/>
          </a:xfrm>
          <a:prstGeom prst="line">
            <a:avLst/>
          </a:prstGeom>
          <a:noFill/>
          <a:ln w="76200">
            <a:solidFill>
              <a:srgbClr val="A55A0B"/>
            </a:solidFill>
            <a:prstDash val="solid"/>
          </a:ln>
        </p:spPr>
      </p:sp>
      <p:sp>
        <p:nvSpPr>
          <p:cNvPr id="7" name="Text 5"/>
          <p:cNvSpPr/>
          <p:nvPr/>
        </p:nvSpPr>
        <p:spPr>
          <a:xfrm>
            <a:off x="1041400" y="2322116"/>
            <a:ext cx="525856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group's bindings, and every grant naming a person directly, with empty </a:t>
            </a:r>
            <a:r>
              <a:rPr lang="en-US" sz="1300" b="1" dirty="0">
                <a:solidFill>
                  <a:srgbClr val="0E6F68"/>
                </a:solidFill>
                <a:latin typeface="Arial" pitchFamily="34" charset="0"/>
                <a:ea typeface="Arial" pitchFamily="34" charset="-122"/>
                <a:cs typeface="Arial" pitchFamily="34" charset="-120"/>
              </a:rPr>
              <a:t>Approve</a:t>
            </a:r>
            <a:r>
              <a:rPr lang="en-US" sz="1300" dirty="0">
                <a:solidFill>
                  <a:srgbClr val="3E4A57"/>
                </a:solidFill>
                <a:latin typeface="Arial" pitchFamily="34" charset="0"/>
                <a:ea typeface="Arial" pitchFamily="34" charset="-122"/>
                <a:cs typeface="Arial" pitchFamily="34" charset="-120"/>
              </a:rPr>
              <a:t>, </a:t>
            </a:r>
            <a:r>
              <a:rPr lang="en-US" sz="1300" b="1" dirty="0">
                <a:solidFill>
                  <a:srgbClr val="B3261E"/>
                </a:solidFill>
                <a:latin typeface="Arial" pitchFamily="34" charset="0"/>
                <a:ea typeface="Arial" pitchFamily="34" charset="-122"/>
                <a:cs typeface="Arial" pitchFamily="34" charset="-120"/>
              </a:rPr>
              <a:t>Revoke</a:t>
            </a:r>
            <a:r>
              <a:rPr lang="en-US" sz="1300" dirty="0">
                <a:solidFill>
                  <a:srgbClr val="3E4A57"/>
                </a:solidFill>
                <a:latin typeface="Arial" pitchFamily="34" charset="0"/>
                <a:ea typeface="Arial" pitchFamily="34" charset="-122"/>
                <a:cs typeface="Arial" pitchFamily="34" charset="-120"/>
              </a:rPr>
              <a:t> and </a:t>
            </a:r>
            <a:r>
              <a:rPr lang="en-US" sz="1300" b="1" dirty="0">
                <a:solidFill>
                  <a:srgbClr val="3E4A57"/>
                </a:solidFill>
                <a:latin typeface="Arial" pitchFamily="34" charset="0"/>
                <a:ea typeface="Arial" pitchFamily="34" charset="-122"/>
                <a:cs typeface="Arial" pitchFamily="34" charset="-120"/>
              </a:rPr>
              <a:t>Comment</a:t>
            </a:r>
            <a:r>
              <a:rPr lang="en-US" sz="1300" dirty="0">
                <a:solidFill>
                  <a:srgbClr val="3E4A57"/>
                </a:solidFill>
                <a:latin typeface="Arial" pitchFamily="34" charset="0"/>
                <a:ea typeface="Arial" pitchFamily="34" charset="-122"/>
                <a:cs typeface="Arial" pitchFamily="34" charset="-120"/>
              </a:rPr>
              <a:t> columns, and the members behind each group.</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25856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“This pack records the state the dashboard observed; it does not change anything.” The reviewer signs the last page.</a:t>
            </a:r>
            <a:endParaRPr lang="en-US" sz="1300" dirty="0"/>
          </a:p>
        </p:txBody>
      </p:sp>
      <p:sp>
        <p:nvSpPr>
          <p:cNvPr id="10" name="Shape 8"/>
          <p:cNvSpPr/>
          <p:nvPr/>
        </p:nvSpPr>
        <p:spPr>
          <a:xfrm>
            <a:off x="6502400" y="1921470"/>
            <a:ext cx="4826000" cy="4127500"/>
          </a:xfrm>
          <a:prstGeom prst="roundRect">
            <a:avLst>
              <a:gd name="adj" fmla="val 1846"/>
            </a:avLst>
          </a:prstGeom>
          <a:solidFill>
            <a:srgbClr val="FFFFFF"/>
          </a:solidFill>
          <a:ln/>
        </p:spPr>
      </p:sp>
      <p:pic>
        <p:nvPicPr>
          <p:cNvPr id="11" name="Image 0" descr="The access certification pack: campaign E2E walk 2026-10-08, due 2026-11-07, reviewer kubeadmin; each group's bindings with Approve, Revoke and Comment columns, and its members.">    </p:cNvPr>
          <p:cNvPicPr>
            <a:picLocks noChangeAspect="1"/>
          </p:cNvPicPr>
          <p:nvPr/>
        </p:nvPicPr>
        <p:blipFill>
          <a:blip r:embed="rId1"/>
          <a:stretch>
            <a:fillRect/>
          </a:stretch>
        </p:blipFill>
        <p:spPr>
          <a:xfrm>
            <a:off x="6679096" y="1927820"/>
            <a:ext cx="4472609" cy="4114800"/>
          </a:xfrm>
          <a:prstGeom prst="rect">
            <a:avLst/>
          </a:prstGeom>
        </p:spPr>
      </p:pic>
      <p:sp>
        <p:nvSpPr>
          <p:cNvPr id="12" name="Shape 9"/>
          <p:cNvSpPr/>
          <p:nvPr/>
        </p:nvSpPr>
        <p:spPr>
          <a:xfrm>
            <a:off x="6505575" y="1924645"/>
            <a:ext cx="4819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access-certification report as HTML, generated on the lab at 5.8.0</a:t>
            </a:r>
            <a:endParaRPr lang="en-US" sz="1200" dirty="0"/>
          </a:p>
        </p:txBody>
      </p:sp>
      <p:sp>
        <p:nvSpPr>
          <p:cNvPr id="14"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8 / 19</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PROVENANCE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Evidence an auditor can trust</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sha256 of the report's data, the snapshot it was read from, and its schema.</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generated it (a person verified by the OpenShift login, or the schedule by name) and when.</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PDF/A-2b for archiving; a report diff answers “what changed since the last review”.</a:t>
            </a:r>
            <a:endParaRPr lang="en-US" sz="1300" dirty="0"/>
          </a:p>
        </p:txBody>
      </p:sp>
      <p:sp>
        <p:nvSpPr>
          <p:cNvPr id="10" name="Shape 8"/>
          <p:cNvSpPr/>
          <p:nvPr/>
        </p:nvSpPr>
        <p:spPr>
          <a:xfrm>
            <a:off x="850900" y="3791942"/>
            <a:ext cx="0" cy="445691"/>
          </a:xfrm>
          <a:prstGeom prst="line">
            <a:avLst/>
          </a:prstGeom>
          <a:noFill/>
          <a:ln w="76200">
            <a:solidFill>
              <a:srgbClr val="A55A0B"/>
            </a:solidFill>
            <a:prstDash val="solid"/>
          </a:ln>
        </p:spPr>
      </p:sp>
      <p:sp>
        <p:nvSpPr>
          <p:cNvPr id="11" name="Text 9"/>
          <p:cNvSpPr/>
          <p:nvPr/>
        </p:nvSpPr>
        <p:spPr>
          <a:xfrm>
            <a:off x="1041400" y="379194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Login attempts are kept 400 days, so a year-over-year review still sees the previous cycle.</a:t>
            </a:r>
            <a:endParaRPr lang="en-US" sz="1300" dirty="0"/>
          </a:p>
        </p:txBody>
      </p:sp>
      <p:sp>
        <p:nvSpPr>
          <p:cNvPr id="12" name="Shape 10"/>
          <p:cNvSpPr/>
          <p:nvPr/>
        </p:nvSpPr>
        <p:spPr>
          <a:xfrm>
            <a:off x="6883400" y="1921470"/>
            <a:ext cx="4445000" cy="4127500"/>
          </a:xfrm>
          <a:prstGeom prst="roundRect">
            <a:avLst>
              <a:gd name="adj" fmla="val 1846"/>
            </a:avLst>
          </a:prstGeom>
          <a:solidFill>
            <a:srgbClr val="FFFFFF"/>
          </a:solidFill>
          <a:ln/>
        </p:spPr>
      </p:sp>
      <p:pic>
        <p:nvPicPr>
          <p:cNvPr id="13" name="Image 0" descr="The provenance block of a report: handling marking, cluster, generated at, generated by, run id, report service 5.8.0, the data snapshot, the last poll and the coverage notes.">    </p:cNvPr>
          <p:cNvPicPr>
            <a:picLocks noChangeAspect="1"/>
          </p:cNvPicPr>
          <p:nvPr/>
        </p:nvPicPr>
        <p:blipFill>
          <a:blip r:embed="rId1"/>
          <a:stretch>
            <a:fillRect/>
          </a:stretch>
        </p:blipFill>
        <p:spPr>
          <a:xfrm>
            <a:off x="7290547" y="1927820"/>
            <a:ext cx="3630706" cy="4114800"/>
          </a:xfrm>
          <a:prstGeom prst="rect">
            <a:avLst/>
          </a:prstGeom>
        </p:spPr>
      </p:pic>
      <p:sp>
        <p:nvSpPr>
          <p:cNvPr id="14" name="Shape 11"/>
          <p:cNvSpPr/>
          <p:nvPr/>
        </p:nvSpPr>
        <p:spPr>
          <a:xfrm>
            <a:off x="6886575" y="1924645"/>
            <a:ext cx="4438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report's provenance, the lab at 5.8.0 · values.yaml (login retention) · SPEC_F3 (report diff)</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9 / 19</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049"/>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EVERY QUARTER</a:t>
            </a:r>
            <a:endParaRPr lang="en-US" sz="1196" dirty="0"/>
          </a:p>
        </p:txBody>
      </p:sp>
      <p:sp>
        <p:nvSpPr>
          <p:cNvPr id="3" name="Text 1"/>
          <p:cNvSpPr/>
          <p:nvPr/>
        </p:nvSpPr>
        <p:spPr>
          <a:xfrm>
            <a:off x="812800" y="1276449"/>
            <a:ext cx="10883392" cy="437158"/>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Scheduled, not remembered</a:t>
            </a:r>
            <a:endParaRPr lang="en-US" sz="2972" dirty="0"/>
          </a:p>
        </p:txBody>
      </p:sp>
      <p:sp>
        <p:nvSpPr>
          <p:cNvPr id="4" name="Shape 2"/>
          <p:cNvSpPr/>
          <p:nvPr/>
        </p:nvSpPr>
        <p:spPr>
          <a:xfrm>
            <a:off x="812800" y="1942207"/>
            <a:ext cx="3810000" cy="2034282"/>
          </a:xfrm>
          <a:prstGeom prst="roundRect">
            <a:avLst>
              <a:gd name="adj" fmla="val 4994"/>
            </a:avLst>
          </a:prstGeom>
          <a:solidFill>
            <a:srgbClr val="14202B"/>
          </a:solidFill>
          <a:ln/>
        </p:spPr>
      </p:sp>
      <p:sp>
        <p:nvSpPr>
          <p:cNvPr id="5" name="Text 3"/>
          <p:cNvSpPr/>
          <p:nvPr/>
        </p:nvSpPr>
        <p:spPr>
          <a:xfrm>
            <a:off x="1041400" y="2170807"/>
            <a:ext cx="34533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FCFC0"/>
                </a:solidFill>
                <a:latin typeface="Courier New" pitchFamily="49" charset="0"/>
                <a:ea typeface="Courier New" pitchFamily="49" charset="-122"/>
                <a:cs typeface="Courier New" pitchFamily="49" charset="-120"/>
              </a:rPr>
              <a:t>quarterly-compliance</a:t>
            </a:r>
            <a:endParaRPr lang="en-US" sz="1300" dirty="0"/>
          </a:p>
        </p:txBody>
      </p:sp>
      <p:sp>
        <p:nvSpPr>
          <p:cNvPr id="6" name="Text 4"/>
          <p:cNvSpPr/>
          <p:nvPr/>
        </p:nvSpPr>
        <p:spPr>
          <a:xfrm>
            <a:off x="1041400" y="2478088"/>
            <a:ext cx="3453384"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F5F6F8"/>
                </a:solidFill>
                <a:latin typeface="Courier New" pitchFamily="49" charset="0"/>
                <a:ea typeface="Courier New" pitchFamily="49" charset="-122"/>
                <a:cs typeface="Courier New" pitchFamily="49" charset="-120"/>
              </a:rPr>
              <a:t>0 5 1 1,4,7,10 *</a:t>
            </a:r>
            <a:endParaRPr lang="en-US" sz="1700" dirty="0"/>
          </a:p>
        </p:txBody>
      </p:sp>
      <p:sp>
        <p:nvSpPr>
          <p:cNvPr id="7" name="Text 5"/>
          <p:cNvSpPr/>
          <p:nvPr/>
        </p:nvSpPr>
        <p:spPr>
          <a:xfrm>
            <a:off x="1041400" y="2856508"/>
            <a:ext cx="3453384"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05:00 New York time on 1 January, April, July and October; every run kept 2,555 days, about seven years, and the newest 12 per cluster beyond that.</a:t>
            </a:r>
            <a:endParaRPr lang="en-US" sz="1300" dirty="0"/>
          </a:p>
        </p:txBody>
      </p:sp>
      <p:sp>
        <p:nvSpPr>
          <p:cNvPr id="8" name="Shape 6"/>
          <p:cNvSpPr/>
          <p:nvPr/>
        </p:nvSpPr>
        <p:spPr>
          <a:xfrm>
            <a:off x="850900" y="4128889"/>
            <a:ext cx="0" cy="445691"/>
          </a:xfrm>
          <a:prstGeom prst="line">
            <a:avLst/>
          </a:prstGeom>
          <a:noFill/>
          <a:ln w="76200">
            <a:solidFill>
              <a:srgbClr val="0E6F68"/>
            </a:solidFill>
            <a:prstDash val="solid"/>
          </a:ln>
        </p:spPr>
      </p:sp>
      <p:sp>
        <p:nvSpPr>
          <p:cNvPr id="9" name="Text 7"/>
          <p:cNvSpPr/>
          <p:nvPr/>
        </p:nvSpPr>
        <p:spPr>
          <a:xfrm>
            <a:off x="1041400" y="4128889"/>
            <a:ext cx="368884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scheduled run can send one CloudEvent to a webhook.</a:t>
            </a:r>
            <a:endParaRPr lang="en-US" sz="1300" dirty="0"/>
          </a:p>
        </p:txBody>
      </p:sp>
      <p:sp>
        <p:nvSpPr>
          <p:cNvPr id="10" name="Shape 8"/>
          <p:cNvSpPr/>
          <p:nvPr/>
        </p:nvSpPr>
        <p:spPr>
          <a:xfrm>
            <a:off x="850900" y="4726980"/>
            <a:ext cx="0" cy="222845"/>
          </a:xfrm>
          <a:prstGeom prst="line">
            <a:avLst/>
          </a:prstGeom>
          <a:noFill/>
          <a:ln w="76200">
            <a:solidFill>
              <a:srgbClr val="B3261E"/>
            </a:solidFill>
            <a:prstDash val="solid"/>
          </a:ln>
        </p:spPr>
      </p:sp>
      <p:sp>
        <p:nvSpPr>
          <p:cNvPr id="11" name="Text 9"/>
          <p:cNvSpPr/>
          <p:nvPr/>
        </p:nvSpPr>
        <p:spPr>
          <a:xfrm>
            <a:off x="1041400" y="4726980"/>
            <a:ext cx="368884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An alert fires when a schedule runs late.</a:t>
            </a:r>
            <a:endParaRPr lang="en-US" sz="1300" dirty="0"/>
          </a:p>
        </p:txBody>
      </p:sp>
      <p:sp>
        <p:nvSpPr>
          <p:cNvPr id="12" name="Shape 10"/>
          <p:cNvSpPr/>
          <p:nvPr/>
        </p:nvSpPr>
        <p:spPr>
          <a:xfrm>
            <a:off x="4978400" y="1942207"/>
            <a:ext cx="6350000" cy="3968750"/>
          </a:xfrm>
          <a:prstGeom prst="roundRect">
            <a:avLst>
              <a:gd name="adj" fmla="val 1920"/>
            </a:avLst>
          </a:prstGeom>
          <a:solidFill>
            <a:srgbClr val="FFFFFF"/>
          </a:solidFill>
          <a:ln/>
        </p:spPr>
      </p:sp>
      <p:pic>
        <p:nvPicPr>
          <p:cNvPr id="13" name="Image 0" descr="The Library tab in the light theme: 24 runs, 4 schedules, 2 paused; each schedule's runs by cluster, with their files and how long each is kept.">    </p:cNvPr>
          <p:cNvPicPr>
            <a:picLocks noChangeAspect="1"/>
          </p:cNvPicPr>
          <p:nvPr/>
        </p:nvPicPr>
        <p:blipFill>
          <a:blip r:embed="rId1"/>
          <a:srcRect l="-60" r="-60" t="0" b="0"/>
          <a:stretch/>
        </p:blipFill>
        <p:spPr>
          <a:xfrm>
            <a:off x="4984750" y="1948557"/>
            <a:ext cx="6337300" cy="3956050"/>
          </a:xfrm>
          <a:prstGeom prst="roundRect">
            <a:avLst>
              <a:gd name="adj" fmla="val 1766"/>
            </a:avLst>
          </a:prstGeom>
        </p:spPr>
      </p:pic>
      <p:sp>
        <p:nvSpPr>
          <p:cNvPr id="14" name="Shape 11"/>
          <p:cNvSpPr/>
          <p:nvPr/>
        </p:nvSpPr>
        <p:spPr>
          <a:xfrm>
            <a:off x="4981575" y="1945382"/>
            <a:ext cx="6343650" cy="3962400"/>
          </a:xfrm>
          <a:prstGeom prst="roundRect">
            <a:avLst>
              <a:gd name="adj" fmla="val 1843"/>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Library, light theme, the lab at 5.8.0 · environments/crc.yaml (the quarterly schedule)</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10 / 19</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250825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PART 2</a:t>
            </a:r>
            <a:endParaRPr lang="en-US" sz="1400" dirty="0"/>
          </a:p>
        </p:txBody>
      </p:sp>
      <p:sp>
        <p:nvSpPr>
          <p:cNvPr id="3" name="Text 1"/>
          <p:cNvSpPr/>
          <p:nvPr/>
        </p:nvSpPr>
        <p:spPr>
          <a:xfrm>
            <a:off x="812800" y="2960291"/>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5F6F8"/>
                </a:solidFill>
                <a:latin typeface="Arial" pitchFamily="34" charset="0"/>
                <a:ea typeface="Arial" pitchFamily="34" charset="-122"/>
                <a:cs typeface="Arial" pitchFamily="34" charset="-120"/>
              </a:rPr>
              <a:t>How it works</a:t>
            </a:r>
            <a:endParaRPr lang="en-US" sz="4800" dirty="0"/>
          </a:p>
        </p:txBody>
      </p:sp>
      <p:sp>
        <p:nvSpPr>
          <p:cNvPr id="4" name="Text 2"/>
          <p:cNvSpPr/>
          <p:nvPr/>
        </p:nvSpPr>
        <p:spPr>
          <a:xfrm>
            <a:off x="812800" y="3803551"/>
            <a:ext cx="10883392"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Read-only by design: it reads clusters, and it never changes anyone's access.</a:t>
            </a:r>
            <a:endParaRPr lang="en-US" sz="2000" dirty="0"/>
          </a:p>
        </p:txBody>
      </p:sp>
      <p:sp>
        <p:nvSpPr>
          <p:cNvPr id="5" name="Text 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E5E9EF"/>
                </a:solidFill>
                <a:latin typeface="Arial" pitchFamily="34" charset="0"/>
                <a:ea typeface="Arial" pitchFamily="34" charset="-122"/>
                <a:cs typeface="Arial" pitchFamily="34" charset="-120"/>
              </a:rPr>
              <a:t>11 / 19</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ACCESS TIERS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Who sees what: the cluster decides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65920"/>
          <a:ext cx="10553700" cy="2676327"/>
        </p:xfrm>
        <a:graphic>
          <a:graphicData uri="http://schemas.openxmlformats.org/drawingml/2006/table">
            <a:tbl>
              <a:tblPr/>
              <a:tblGrid>
                <a:gridCol w="2110740"/>
                <a:gridCol w="4010406"/>
                <a:gridCol w="4432554"/>
              </a:tblGrid>
              <a:tr h="385961">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Tier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Who has it</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What they see</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r>
              <a:tr h="385961">
                <a:tc>
                  <a:txBody>
                    <a:bodyPr/>
                    <a:lstStyle/>
                    <a:p>
                      <a:pPr indent="0" marL="0">
                        <a:lnSpc>
                          <a:spcPts val="1960"/>
                        </a:lnSpc>
                        <a:buNone/>
                      </a:pPr>
                      <a:r>
                        <a:rPr lang="en-US" sz="1400" dirty="0">
                          <a:solidFill>
                            <a:srgbClr val="0E6F68"/>
                          </a:solidFill>
                          <a:latin typeface="Arial" pitchFamily="34" charset="0"/>
                          <a:ea typeface="Arial" pitchFamily="34" charset="-122"/>
                          <a:cs typeface="Arial" pitchFamily="34" charset="-120"/>
                        </a:rPr>
                        <a:t>Self</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Everyone who can sign 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Their own access: Home, and their own rows</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A55A0B"/>
                          </a:solidFill>
                          <a:latin typeface="Arial" pitchFamily="34" charset="0"/>
                          <a:ea typeface="Arial" pitchFamily="34" charset="-122"/>
                          <a:cs typeface="Arial" pitchFamily="34" charset="-120"/>
                        </a:rPr>
                        <a:t>Auditor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list clusterrolebindings, for example through an auditor group</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 cluster-wide audit view, Reports and Library; Usage stays their own</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Usage</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Passes the usage question; by default the same one as 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 Usage tab: everyone's activity</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update clusterrolebindings</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KPIs and Cluster Configurations, plus all of the above</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bl>
          </a:graphicData>
        </a:graphic>
      </p:graphicFrame>
      <p:sp>
        <p:nvSpPr>
          <p:cNvPr id="5" name="Text 2"/>
          <p:cNvSpPr/>
          <p:nvPr/>
        </p:nvSpPr>
        <p:spPr>
          <a:xfrm>
            <a:off x="812800" y="4896247"/>
            <a:ext cx="10883392"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8212C"/>
                </a:solidFill>
                <a:latin typeface="Arial" pitchFamily="34" charset="0"/>
                <a:ea typeface="Arial" pitchFamily="34" charset="-122"/>
                <a:cs typeface="Arial" pitchFamily="34" charset="-120"/>
              </a:rPr>
              <a:t>A SubjectAccessReview on the cluster decides each tier; the answer is cached 60 s, and any failure falls back to Self.</a:t>
            </a:r>
            <a:endParaRPr lang="en-US" sz="1400" dirty="0"/>
          </a:p>
        </p:txBody>
      </p:sp>
      <p:sp>
        <p:nvSpPr>
          <p:cNvPr id="6" name="Text 3"/>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 values.yaml (adminSar, usageAdminSar, clusterAdminSar) · kube.py TierResolver</a:t>
            </a:r>
            <a:endParaRPr lang="en-US" sz="1200" dirty="0"/>
          </a:p>
        </p:txBody>
      </p:sp>
      <p:sp>
        <p:nvSpPr>
          <p:cNvPr id="7" name="Text 4"/>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12 / 19</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Architecture at a glance</a:t>
            </a:r>
            <a:endParaRPr lang="en-US" sz="2972" dirty="0"/>
          </a:p>
        </p:txBody>
      </p:sp>
      <p:sp>
        <p:nvSpPr>
          <p:cNvPr id="4" name="Shape 2"/>
          <p:cNvSpPr/>
          <p:nvPr/>
        </p:nvSpPr>
        <p:spPr>
          <a:xfrm>
            <a:off x="2603500" y="1841698"/>
            <a:ext cx="6985000" cy="4064000"/>
          </a:xfrm>
          <a:prstGeom prst="roundRect">
            <a:avLst>
              <a:gd name="adj" fmla="val 1875"/>
            </a:avLst>
          </a:prstGeom>
          <a:solidFill>
            <a:srgbClr val="FFFFFF"/>
          </a:solidFill>
          <a:ln/>
        </p:spPr>
      </p:sp>
      <p:pic>
        <p:nvPicPr>
          <p:cNvPr id="5" name="Image 0" descr="The whole system: the browser through the Route and the oauth-proxy to the dashboard; the report pod and the two volumes; CronJobs; the host API and remote clusters read; Prometheus; the webhook.">    </p:cNvPr>
          <p:cNvPicPr>
            <a:picLocks noChangeAspect="1"/>
          </p:cNvPicPr>
          <p:nvPr/>
        </p:nvPicPr>
        <p:blipFill>
          <a:blip r:embed="rId1"/>
          <a:stretch>
            <a:fillRect/>
          </a:stretch>
        </p:blipFill>
        <p:spPr>
          <a:xfrm>
            <a:off x="3293351" y="1848048"/>
            <a:ext cx="5605298" cy="4051300"/>
          </a:xfrm>
          <a:prstGeom prst="rect">
            <a:avLst/>
          </a:prstGeom>
        </p:spPr>
      </p:pic>
      <p:sp>
        <p:nvSpPr>
          <p:cNvPr id="6" name="Shape 3"/>
          <p:cNvSpPr/>
          <p:nvPr/>
        </p:nvSpPr>
        <p:spPr>
          <a:xfrm>
            <a:off x="2606675" y="1844873"/>
            <a:ext cx="6978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1 of docs/guides/architecture-overview.md, drawn from the code at 5.8.0</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13 / 19</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Inside one poll cycle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One poll cycle in the code's order: leadership and credential, poll_once every 60 s, login capture, upkeep, refresh_bindings every 3600 s, wait.">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3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14 / 19</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How a report is made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The reporting pipeline: a person's ticket or a schedule's token, a queue of 8, a read-only snapshot, JSON then HTML, CSV and PDF, the artefacts volume, the webhook.">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5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15 / 19</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SECURITY</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Credentials and trust boundaries</a:t>
            </a:r>
            <a:endParaRPr lang="en-US" sz="2972" dirty="0"/>
          </a:p>
        </p:txBody>
      </p:sp>
      <p:sp>
        <p:nvSpPr>
          <p:cNvPr id="4" name="Shape 2"/>
          <p:cNvSpPr/>
          <p:nvPr/>
        </p:nvSpPr>
        <p:spPr>
          <a:xfrm>
            <a:off x="1079500" y="1841698"/>
            <a:ext cx="10033000" cy="4064000"/>
          </a:xfrm>
          <a:prstGeom prst="roundRect">
            <a:avLst>
              <a:gd name="adj" fmla="val 1875"/>
            </a:avLst>
          </a:prstGeom>
          <a:solidFill>
            <a:srgbClr val="FFFFFF"/>
          </a:solidFill>
          <a:ln/>
        </p:spPr>
      </p:sp>
      <p:pic>
        <p:nvPicPr>
          <p:cNvPr id="5" name="Image 0" descr="Steady state, saTokenLookup and Rejoin: what starts each, what crosses to the remote cluster, and what stays on the host.">    </p:cNvPr>
          <p:cNvPicPr>
            <a:picLocks noChangeAspect="1"/>
          </p:cNvPicPr>
          <p:nvPr/>
        </p:nvPicPr>
        <p:blipFill>
          <a:blip r:embed="rId1"/>
          <a:stretch>
            <a:fillRect/>
          </a:stretch>
        </p:blipFill>
        <p:spPr>
          <a:xfrm>
            <a:off x="1319926" y="1848048"/>
            <a:ext cx="9552148" cy="4051300"/>
          </a:xfrm>
          <a:prstGeom prst="rect">
            <a:avLst/>
          </a:prstGeom>
        </p:spPr>
      </p:pic>
      <p:sp>
        <p:nvSpPr>
          <p:cNvPr id="6" name="Shape 3"/>
          <p:cNvSpPr/>
          <p:nvPr/>
        </p:nvSpPr>
        <p:spPr>
          <a:xfrm>
            <a:off x="1082675" y="1844873"/>
            <a:ext cx="1002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6 of docs/guides/architecture-overview.md</a:t>
            </a:r>
            <a:endParaRPr lang="en-US" sz="1200" dirty="0"/>
          </a:p>
        </p:txBody>
      </p:sp>
      <p:sp>
        <p:nvSpPr>
          <p:cNvPr id="8" name="Text 5"/>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16 / 19</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OPERATE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Operations: what the platform team runs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Helm chart, ready for Argo CD; one dashboard pod and one report pod.</a:t>
            </a:r>
            <a:endParaRPr lang="en-US" sz="1300" dirty="0"/>
          </a:p>
        </p:txBody>
      </p:sp>
      <p:sp>
        <p:nvSpPr>
          <p:cNvPr id="6" name="Shape 4"/>
          <p:cNvSpPr/>
          <p:nvPr/>
        </p:nvSpPr>
        <p:spPr>
          <a:xfrm>
            <a:off x="850900" y="2544961"/>
            <a:ext cx="0" cy="445691"/>
          </a:xfrm>
          <a:prstGeom prst="line">
            <a:avLst/>
          </a:prstGeom>
          <a:noFill/>
          <a:ln w="76200">
            <a:solidFill>
              <a:srgbClr val="0E6F68"/>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database backup every 6 h with 4 kept, and an offsite copy every 6 h.</a:t>
            </a:r>
            <a:endParaRPr lang="en-US" sz="1300" dirty="0"/>
          </a:p>
        </p:txBody>
      </p:sp>
      <p:sp>
        <p:nvSpPr>
          <p:cNvPr id="8" name="Shape 6"/>
          <p:cNvSpPr/>
          <p:nvPr/>
        </p:nvSpPr>
        <p:spPr>
          <a:xfrm>
            <a:off x="850900" y="3168452"/>
            <a:ext cx="0" cy="668536"/>
          </a:xfrm>
          <a:prstGeom prst="line">
            <a:avLst/>
          </a:prstGeom>
          <a:noFill/>
          <a:ln w="76200">
            <a:solidFill>
              <a:srgbClr val="B3261E"/>
            </a:solidFill>
            <a:prstDash val="solid"/>
          </a:ln>
        </p:spPr>
      </p:sp>
      <p:sp>
        <p:nvSpPr>
          <p:cNvPr id="9" name="Text 7"/>
          <p:cNvSpPr/>
          <p:nvPr/>
        </p:nvSpPr>
        <p:spPr>
          <a:xfrm>
            <a:off x="1041400" y="316845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Twenty Prometheus alerts, from a cluster that stops answering to a backup or a schedule running late.</a:t>
            </a:r>
            <a:endParaRPr lang="en-US" sz="1300" dirty="0"/>
          </a:p>
        </p:txBody>
      </p:sp>
      <p:sp>
        <p:nvSpPr>
          <p:cNvPr id="10" name="Shape 8"/>
          <p:cNvSpPr/>
          <p:nvPr/>
        </p:nvSpPr>
        <p:spPr>
          <a:xfrm>
            <a:off x="850900" y="4014788"/>
            <a:ext cx="0" cy="668536"/>
          </a:xfrm>
          <a:prstGeom prst="line">
            <a:avLst/>
          </a:prstGeom>
          <a:noFill/>
          <a:ln w="76200">
            <a:solidFill>
              <a:srgbClr val="0E6F68"/>
            </a:solidFill>
            <a:prstDash val="solid"/>
          </a:ln>
        </p:spPr>
      </p:sp>
      <p:sp>
        <p:nvSpPr>
          <p:cNvPr id="11" name="Text 9"/>
          <p:cNvSpPr/>
          <p:nvPr/>
        </p:nvSpPr>
        <p:spPr>
          <a:xfrm>
            <a:off x="1041400" y="4014788"/>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KPIs page shows the system's own health: memory, CPU, throttling, disk, backups.</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KPIs tab in the light theme: system status of the dashboard and report pods, and the backups card: last copy, 4 of 4 kept, 0 failure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KPIs, light theme, the lab at 5.8.0 · the chart's PrometheusRule and backup settings</a:t>
            </a:r>
            <a:endParaRPr lang="en-US" sz="1200" dirty="0"/>
          </a:p>
        </p:txBody>
      </p:sp>
      <p:sp>
        <p:nvSpPr>
          <p:cNvPr id="16" name="Text 13"/>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17 / 19</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NEXT STEPS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Rolling it out</a:t>
            </a:r>
            <a:endParaRPr lang="en-US" sz="3000" dirty="0"/>
          </a:p>
        </p:txBody>
      </p:sp>
      <p:sp>
        <p:nvSpPr>
          <p:cNvPr id="4" name="Shape 2"/>
          <p:cNvSpPr/>
          <p:nvPr/>
        </p:nvSpPr>
        <p:spPr>
          <a:xfrm>
            <a:off x="8128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6" name="Text 4"/>
          <p:cNvSpPr/>
          <p:nvPr/>
        </p:nvSpPr>
        <p:spPr>
          <a:xfrm>
            <a:off x="10160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1</a:t>
            </a:r>
            <a:endParaRPr lang="en-US" sz="3200" dirty="0"/>
          </a:p>
        </p:txBody>
      </p:sp>
      <p:sp>
        <p:nvSpPr>
          <p:cNvPr id="7" name="Text 5"/>
          <p:cNvSpPr/>
          <p:nvPr/>
        </p:nvSpPr>
        <p:spPr>
          <a:xfrm>
            <a:off x="10160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Install</a:t>
            </a:r>
            <a:endParaRPr lang="en-US" sz="1600" dirty="0"/>
          </a:p>
        </p:txBody>
      </p:sp>
      <p:sp>
        <p:nvSpPr>
          <p:cNvPr id="8" name="Text 6"/>
          <p:cNvSpPr/>
          <p:nvPr/>
        </p:nvSpPr>
        <p:spPr>
          <a:xfrm>
            <a:off x="10160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chart on the host cluster, with Helm or Argo CD.</a:t>
            </a:r>
            <a:endParaRPr lang="en-US" sz="1300" dirty="0"/>
          </a:p>
        </p:txBody>
      </p:sp>
      <p:sp>
        <p:nvSpPr>
          <p:cNvPr id="9" name="Shape 7"/>
          <p:cNvSpPr/>
          <p:nvPr/>
        </p:nvSpPr>
        <p:spPr>
          <a:xfrm>
            <a:off x="34988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34988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1" name="Text 9"/>
          <p:cNvSpPr/>
          <p:nvPr/>
        </p:nvSpPr>
        <p:spPr>
          <a:xfrm>
            <a:off x="37020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2</a:t>
            </a:r>
            <a:endParaRPr lang="en-US" sz="3200" dirty="0"/>
          </a:p>
        </p:txBody>
      </p:sp>
      <p:sp>
        <p:nvSpPr>
          <p:cNvPr id="12" name="Text 10"/>
          <p:cNvSpPr/>
          <p:nvPr/>
        </p:nvSpPr>
        <p:spPr>
          <a:xfrm>
            <a:off x="370205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Join clusters</a:t>
            </a:r>
            <a:endParaRPr lang="en-US" sz="1600" dirty="0"/>
          </a:p>
        </p:txBody>
      </p:sp>
      <p:sp>
        <p:nvSpPr>
          <p:cNvPr id="13" name="Text 11"/>
          <p:cNvSpPr/>
          <p:nvPr/>
        </p:nvSpPr>
        <p:spPr>
          <a:xfrm>
            <a:off x="3702050" y="303520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with its own token: a Secret, saTokenLookup or Rejoin.</a:t>
            </a:r>
            <a:endParaRPr lang="en-US" sz="1300" dirty="0"/>
          </a:p>
        </p:txBody>
      </p:sp>
      <p:sp>
        <p:nvSpPr>
          <p:cNvPr id="14" name="Shape 12"/>
          <p:cNvSpPr/>
          <p:nvPr/>
        </p:nvSpPr>
        <p:spPr>
          <a:xfrm>
            <a:off x="61849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5" name="Shape 13"/>
          <p:cNvSpPr/>
          <p:nvPr/>
        </p:nvSpPr>
        <p:spPr>
          <a:xfrm>
            <a:off x="61849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6" name="Text 14"/>
          <p:cNvSpPr/>
          <p:nvPr/>
        </p:nvSpPr>
        <p:spPr>
          <a:xfrm>
            <a:off x="63881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3</a:t>
            </a:r>
            <a:endParaRPr lang="en-US" sz="3200" dirty="0"/>
          </a:p>
        </p:txBody>
      </p:sp>
      <p:sp>
        <p:nvSpPr>
          <p:cNvPr id="17" name="Text 15"/>
          <p:cNvSpPr/>
          <p:nvPr/>
        </p:nvSpPr>
        <p:spPr>
          <a:xfrm>
            <a:off x="63881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Name the auditors</a:t>
            </a:r>
            <a:endParaRPr lang="en-US" sz="1600" dirty="0"/>
          </a:p>
        </p:txBody>
      </p:sp>
      <p:sp>
        <p:nvSpPr>
          <p:cNvPr id="18" name="Text 16"/>
          <p:cNvSpPr/>
          <p:nvPr/>
        </p:nvSpPr>
        <p:spPr>
          <a:xfrm>
            <a:off x="63881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groups that review access everywhere.</a:t>
            </a:r>
            <a:endParaRPr lang="en-US" sz="1300" dirty="0"/>
          </a:p>
        </p:txBody>
      </p:sp>
      <p:sp>
        <p:nvSpPr>
          <p:cNvPr id="19" name="Shape 17"/>
          <p:cNvSpPr/>
          <p:nvPr/>
        </p:nvSpPr>
        <p:spPr>
          <a:xfrm>
            <a:off x="88709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20" name="Shape 18"/>
          <p:cNvSpPr/>
          <p:nvPr/>
        </p:nvSpPr>
        <p:spPr>
          <a:xfrm>
            <a:off x="88709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21" name="Text 19"/>
          <p:cNvSpPr/>
          <p:nvPr/>
        </p:nvSpPr>
        <p:spPr>
          <a:xfrm>
            <a:off x="90741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4</a:t>
            </a:r>
            <a:endParaRPr lang="en-US" sz="3200" dirty="0"/>
          </a:p>
        </p:txBody>
      </p:sp>
      <p:sp>
        <p:nvSpPr>
          <p:cNvPr id="22" name="Text 20"/>
          <p:cNvSpPr/>
          <p:nvPr/>
        </p:nvSpPr>
        <p:spPr>
          <a:xfrm>
            <a:off x="9074150" y="2715220"/>
            <a:ext cx="2164906"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Schedule the evidence</a:t>
            </a:r>
            <a:endParaRPr lang="en-US" sz="1600" dirty="0"/>
          </a:p>
        </p:txBody>
      </p:sp>
      <p:sp>
        <p:nvSpPr>
          <p:cNvPr id="23" name="Text 21"/>
          <p:cNvSpPr/>
          <p:nvPr/>
        </p:nvSpPr>
        <p:spPr>
          <a:xfrm>
            <a:off x="9074150" y="327898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quarterly compliance schedule, and a webhook for delivery.</a:t>
            </a:r>
            <a:endParaRPr lang="en-US" sz="1300" dirty="0"/>
          </a:p>
        </p:txBody>
      </p:sp>
      <p:sp>
        <p:nvSpPr>
          <p:cNvPr id="24" name="Shape 22"/>
          <p:cNvSpPr/>
          <p:nvPr/>
        </p:nvSpPr>
        <p:spPr>
          <a:xfrm>
            <a:off x="812800" y="4404717"/>
            <a:ext cx="10566400" cy="1083866"/>
          </a:xfrm>
          <a:prstGeom prst="roundRect">
            <a:avLst>
              <a:gd name="adj" fmla="val 7030"/>
            </a:avLst>
          </a:prstGeom>
          <a:solidFill>
            <a:srgbClr val="E3F1EF"/>
          </a:solidFill>
          <a:ln/>
        </p:spPr>
      </p:sp>
      <p:sp>
        <p:nvSpPr>
          <p:cNvPr id="25" name="Shape 23"/>
          <p:cNvSpPr/>
          <p:nvPr/>
        </p:nvSpPr>
        <p:spPr>
          <a:xfrm>
            <a:off x="812800" y="4404717"/>
            <a:ext cx="10566400" cy="1083866"/>
          </a:xfrm>
          <a:custGeom>
            <a:avLst/>
            <a:gdLst/>
            <a:ahLst/>
            <a:cxnLst/>
            <a:rect l="l" t="t" r="r" b="b"/>
            <a:pathLst>
              <a:path w="10566400" h="1083866">
                <a:moveTo>
                  <a:pt x="76200" y="1083866"/>
                </a:moveTo>
                <a:lnTo>
                  <a:pt x="76200" y="1083866"/>
                </a:lnTo>
                <a:arcTo hR="76200" wR="76200" stAng="5400000" swAng="5400000"/>
                <a:lnTo>
                  <a:pt x="0" y="76200"/>
                </a:lnTo>
                <a:arcTo hR="76200" wR="76200" stAng="10800000" swAng="5400000"/>
                <a:lnTo>
                  <a:pt x="76200" y="0"/>
                </a:lnTo>
                <a:lnTo>
                  <a:pt x="76200" y="1083866"/>
                </a:lnTo>
                <a:close/>
              </a:path>
            </a:pathLst>
          </a:custGeom>
          <a:solidFill>
            <a:srgbClr val="0E6F68"/>
          </a:solidFill>
          <a:ln/>
        </p:spPr>
      </p:sp>
      <p:sp>
        <p:nvSpPr>
          <p:cNvPr id="26" name="Text 24"/>
          <p:cNvSpPr/>
          <p:nvPr/>
        </p:nvSpPr>
        <p:spPr>
          <a:xfrm>
            <a:off x="1092200" y="4557117"/>
            <a:ext cx="10386314"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No access changes on any cluster: the dashboard reads, and the reports record what it read.</a:t>
            </a:r>
            <a:endParaRPr lang="en-US" sz="1500" dirty="0"/>
          </a:p>
        </p:txBody>
      </p:sp>
      <p:sp>
        <p:nvSpPr>
          <p:cNvPr id="27" name="Text 25"/>
          <p:cNvSpPr/>
          <p:nvPr/>
        </p:nvSpPr>
        <p:spPr>
          <a:xfrm>
            <a:off x="1092200" y="4890492"/>
            <a:ext cx="1038631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Its only writes are its own: a leader Lease on the host and, when a cluster joins by saTokenLookup or Rejoin, that cluster's token Secret on the host and a login on the remote that it revokes.</a:t>
            </a:r>
            <a:endParaRPr lang="en-US" sz="1300" dirty="0"/>
          </a:p>
        </p:txBody>
      </p:sp>
      <p:sp>
        <p:nvSpPr>
          <p:cNvPr id="28" name="Text 26"/>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the chart's values.yaml · CLUSTER_CREDENTIALS.md</a:t>
            </a:r>
            <a:endParaRPr lang="en-US" sz="1200" dirty="0"/>
          </a:p>
        </p:txBody>
      </p:sp>
      <p:sp>
        <p:nvSpPr>
          <p:cNvPr id="29" name="Text 27"/>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18 / 19</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THANK YOU</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Questions, and where to read more</a:t>
            </a:r>
            <a:endParaRPr lang="en-US" sz="3000" dirty="0"/>
          </a:p>
        </p:txBody>
      </p:sp>
      <p:sp>
        <p:nvSpPr>
          <p:cNvPr id="4" name="Text 2"/>
          <p:cNvSpPr/>
          <p:nvPr/>
        </p:nvSpPr>
        <p:spPr>
          <a:xfrm>
            <a:off x="812800" y="1959570"/>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architecture-overview.md</a:t>
            </a:r>
            <a:endParaRPr lang="en-US" sz="1400" dirty="0"/>
          </a:p>
        </p:txBody>
      </p:sp>
      <p:sp>
        <p:nvSpPr>
          <p:cNvPr id="5" name="Text 3"/>
          <p:cNvSpPr/>
          <p:nvPr/>
        </p:nvSpPr>
        <p:spPr>
          <a:xfrm>
            <a:off x="4902200" y="1953220"/>
            <a:ext cx="302430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architecture in seven figures</a:t>
            </a:r>
            <a:endParaRPr lang="en-US" sz="1400" dirty="0"/>
          </a:p>
        </p:txBody>
      </p:sp>
      <p:sp>
        <p:nvSpPr>
          <p:cNvPr id="6" name="Text 4"/>
          <p:cNvSpPr/>
          <p:nvPr/>
        </p:nvSpPr>
        <p:spPr>
          <a:xfrm>
            <a:off x="812800" y="2367161"/>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reference-architecture.md</a:t>
            </a:r>
            <a:endParaRPr lang="en-US" sz="1400" dirty="0"/>
          </a:p>
        </p:txBody>
      </p:sp>
      <p:sp>
        <p:nvSpPr>
          <p:cNvPr id="7" name="Text 5"/>
          <p:cNvSpPr/>
          <p:nvPr/>
        </p:nvSpPr>
        <p:spPr>
          <a:xfrm>
            <a:off x="4902200" y="2360811"/>
            <a:ext cx="3083243"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full reasoning, claim by claim</a:t>
            </a:r>
            <a:endParaRPr lang="en-US" sz="1400" dirty="0"/>
          </a:p>
        </p:txBody>
      </p:sp>
      <p:sp>
        <p:nvSpPr>
          <p:cNvPr id="8" name="Text 6"/>
          <p:cNvSpPr/>
          <p:nvPr/>
        </p:nvSpPr>
        <p:spPr>
          <a:xfrm>
            <a:off x="812800" y="277475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ACCESS_CONTROL.md</a:t>
            </a:r>
            <a:endParaRPr lang="en-US" sz="1400" dirty="0"/>
          </a:p>
        </p:txBody>
      </p:sp>
      <p:sp>
        <p:nvSpPr>
          <p:cNvPr id="9" name="Text 7"/>
          <p:cNvSpPr/>
          <p:nvPr/>
        </p:nvSpPr>
        <p:spPr>
          <a:xfrm>
            <a:off x="4902200" y="2768402"/>
            <a:ext cx="232457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who sees what, and why</a:t>
            </a:r>
            <a:endParaRPr lang="en-US" sz="1400" dirty="0"/>
          </a:p>
        </p:txBody>
      </p:sp>
      <p:sp>
        <p:nvSpPr>
          <p:cNvPr id="10" name="Text 8"/>
          <p:cNvSpPr/>
          <p:nvPr/>
        </p:nvSpPr>
        <p:spPr>
          <a:xfrm>
            <a:off x="812800" y="318234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docs/reports/README.md</a:t>
            </a:r>
            <a:endParaRPr lang="en-US" sz="1400" dirty="0"/>
          </a:p>
        </p:txBody>
      </p:sp>
      <p:sp>
        <p:nvSpPr>
          <p:cNvPr id="11" name="Text 9"/>
          <p:cNvSpPr/>
          <p:nvPr/>
        </p:nvSpPr>
        <p:spPr>
          <a:xfrm>
            <a:off x="4902200" y="3175992"/>
            <a:ext cx="361759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eleven reports and their schedules</a:t>
            </a:r>
            <a:endParaRPr lang="en-US" sz="1400" dirty="0"/>
          </a:p>
        </p:txBody>
      </p:sp>
      <p:sp>
        <p:nvSpPr>
          <p:cNvPr id="12" name="Text 10"/>
          <p:cNvSpPr/>
          <p:nvPr/>
        </p:nvSpPr>
        <p:spPr>
          <a:xfrm>
            <a:off x="812800" y="6238280"/>
            <a:ext cx="94183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All documents are in the group-sync-dashboard repository, under docs/</a:t>
            </a:r>
            <a:endParaRPr lang="en-US" sz="1200" dirty="0"/>
          </a:p>
        </p:txBody>
      </p:sp>
      <p:sp>
        <p:nvSpPr>
          <p:cNvPr id="13" name="Text 11"/>
          <p:cNvSpPr/>
          <p:nvPr/>
        </p:nvSpPr>
        <p:spPr>
          <a:xfrm>
            <a:off x="10058400" y="6210300"/>
            <a:ext cx="1320800" cy="292100"/>
          </a:xfrm>
          <a:prstGeom prst="rect">
            <a:avLst/>
          </a:prstGeom>
          <a:noFill/>
          <a:ln/>
        </p:spPr>
        <p:txBody>
          <a:bodyPr wrap="square" lIns="0" tIns="0" rIns="0" bIns="0" rtlCol="0" anchor="t">
            <a:normAutofit/>
          </a:bodyPr>
          <a:lstStyle/>
          <a:p>
            <a:pPr algn="r" indent="0" marL="0">
              <a:lnSpc>
                <a:spcPts val="2100"/>
              </a:lnSpc>
              <a:buNone/>
            </a:pPr>
            <a:r>
              <a:rPr lang="en-US" sz="1500" b="1" dirty="0">
                <a:solidFill>
                  <a:srgbClr val="3E4A57"/>
                </a:solidFill>
                <a:latin typeface="Arial" pitchFamily="34" charset="0"/>
                <a:ea typeface="Arial" pitchFamily="34" charset="-122"/>
                <a:cs typeface="Arial" pitchFamily="34" charset="-120"/>
              </a:rPr>
              <a:t>19 / 19</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Access Tracking &amp; Reporting</dc:title>
  <dc:subject/>
  <dc:creator/>
  <cp:lastModifiedBy/>
  <cp:revision>1</cp:revision>
  <dcterms:created xsi:type="dcterms:W3CDTF">2026-10-10T05:03:39Z</dcterms:created>
  <dcterms:modified xsi:type="dcterms:W3CDTF">2026-10-10T05:03:39Z</dcterms:modified>
</cp:coreProperties>
</file>