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tool by the question it answers: who can reach what. Part 1 is for leadership and audit (why); part 2 is for the platform team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is for leadership and audit, part 2 for the platform team. Stop after part 1 for a non-technical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none of these raise an event or a failed reconcile. Each is an absence, and absences are what a person reading oc get does not notice. The 9 comes from the README's reference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problem slide: each failure, as the dashboard reported it on the lab. None of these raised an event on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Self-service lowers the load on the platform team; quarterly review is a compliance requirement. The tool serves both from one read-only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to remember: read-only, every cluster, OpenShift login, evidence. Product name on screen: OCP Access Tracking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page an owner opens: is every cluster answering, and what needs attention. The quote is the page's own text for an empty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flow: sign in, open Home, read your own access. Direct grants are highlighted because they survive leaving 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type a team's mnemonic and show its groups and namespaces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 shows 5 namespaces at risk, 7 people, 12 grants to migrate. The quote is the page's own operational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Dormant and unusable access are what quarterly reviews ask about. The names in the screenshot are the lab's test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catalogue top to bottom; each report answers one question an access review asks. Formats: PDF/A-2b, HTML, CSV, 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artefact the quarterly review signs. Decisions are recorded on paper or in the PDF; the dashboard never changes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never revokes anything. Revocation happens in LDAP, by the mnemonic owner; GroupSync carries it to OpenShift; the dashboard shows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provenance table: who, when, from which snapshot, with which build. The 400 days is the chart's login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is the lab's own values. Delivery is a webhook CloudEvent per run; GroupSyncDashboardReportScheduleLate fires on a late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technical audience: tiers, architecture, one poll, reporting, credentials, operations,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never decides access itself; it asks the cluster. A failed check always narrows, never widens.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door (oauth-proxy), one writer (the dashboard), a report pod that reads a snapshot and never a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60 s each cluster is read and written in one transaction; bindings hourly; sync, membership and Kyverno history is pruned only after a successful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in, one pipeline. The report pod holds no cluster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Polling only reads. The browser never receives a cluster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get health from the dashboard itself and from Prometheus. Backups are local every 6 h plus an offsite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an auditor asks. Role rules are not expanded on purpose: an incomplete effective-permission list would show access as absent when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to production. They map to the chart's clusters (Rejoin is a button on Cluster Configurations), rbacAuditors.groups, reporting.schedules, and a schedule's deliver: webhook.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Everything in the deck is in these documents, each checked against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191273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3FCFC0"/>
                </a:solidFill>
                <a:latin typeface="Courier New" pitchFamily="49" charset="0"/>
                <a:ea typeface="Courier New" pitchFamily="49" charset="-122"/>
                <a:cs typeface="Courier New" pitchFamily="49" charset="-120"/>
              </a:rPr>
              <a:t>OCP ACCESS TRACKING DASHBOARD</a:t>
            </a:r>
            <a:endParaRPr lang="en-US" sz="1400" dirty="0"/>
          </a:p>
        </p:txBody>
      </p:sp>
      <p:sp>
        <p:nvSpPr>
          <p:cNvPr id="3" name="Text 1"/>
          <p:cNvSpPr/>
          <p:nvPr/>
        </p:nvSpPr>
        <p:spPr>
          <a:xfrm>
            <a:off x="812800" y="2415580"/>
            <a:ext cx="9810750" cy="1412081"/>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F5F6F8"/>
                </a:solidFill>
                <a:latin typeface="Arial" pitchFamily="34" charset="0"/>
                <a:ea typeface="Arial" pitchFamily="34" charset="-122"/>
                <a:cs typeface="Arial" pitchFamily="34" charset="-120"/>
              </a:rPr>
              <a:t>OpenShift Access Tracking &amp; Reporting</a:t>
            </a:r>
            <a:endParaRPr lang="en-US" sz="5200" dirty="0"/>
          </a:p>
        </p:txBody>
      </p:sp>
      <p:sp>
        <p:nvSpPr>
          <p:cNvPr id="4" name="Text 2"/>
          <p:cNvSpPr/>
          <p:nvPr/>
        </p:nvSpPr>
        <p:spPr>
          <a:xfrm>
            <a:off x="812800" y="4056261"/>
            <a:ext cx="91567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8D2"/>
                </a:solidFill>
                <a:latin typeface="Arial" pitchFamily="34" charset="0"/>
                <a:ea typeface="Arial" pitchFamily="34" charset="-122"/>
                <a:cs typeface="Arial" pitchFamily="34" charset="-120"/>
              </a:rPr>
              <a:t>Who can reach what, on every cluster: for the people who hold access, and for the quarterly review that must prove it.</a:t>
            </a:r>
            <a:endParaRPr lang="en-US" sz="20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5B3"/>
                </a:solidFill>
                <a:latin typeface="Arial" pitchFamily="34" charset="0"/>
                <a:ea typeface="Arial" pitchFamily="34" charset="-122"/>
                <a:cs typeface="Arial" pitchFamily="34" charset="-120"/>
              </a:rPr>
              <a:t>Application 5.8.0 · chart 0.70.12 · every screenshot is from the lab on 2026-10-08: the running dashboard, or a report it generated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AGENDA</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Two parts</a:t>
            </a:r>
            <a:endParaRPr lang="en-US" sz="3000" dirty="0"/>
          </a:p>
        </p:txBody>
      </p:sp>
      <p:sp>
        <p:nvSpPr>
          <p:cNvPr id="4" name="Shape 2"/>
          <p:cNvSpPr/>
          <p:nvPr/>
        </p:nvSpPr>
        <p:spPr>
          <a:xfrm>
            <a:off x="812800" y="1953220"/>
            <a:ext cx="5156200" cy="2107902"/>
          </a:xfrm>
          <a:prstGeom prst="roundRect">
            <a:avLst>
              <a:gd name="adj" fmla="val 3615"/>
            </a:avLst>
          </a:prstGeom>
          <a:solidFill>
            <a:srgbClr val="FCFCFA"/>
          </a:solidFill>
          <a:ln/>
          <a:effectLst>
            <a:outerShdw sx="100000" sy="100000" kx="0" ky="0" algn="bl" rotWithShape="0" blurRad="6350" dist="0" dir="60000">
              <a:srgbClr val="D7DCE3">
                <a:alpha val="100000"/>
              </a:srgbClr>
            </a:outerShdw>
          </a:effectLst>
        </p:spPr>
      </p:sp>
      <p:sp>
        <p:nvSpPr>
          <p:cNvPr id="5" name="Shape 3"/>
          <p:cNvSpPr/>
          <p:nvPr/>
        </p:nvSpPr>
        <p:spPr>
          <a:xfrm>
            <a:off x="812800" y="1953220"/>
            <a:ext cx="5156200" cy="2107902"/>
          </a:xfrm>
          <a:custGeom>
            <a:avLst/>
            <a:gdLst/>
            <a:ahLst/>
            <a:cxnLst/>
            <a:rect l="l" t="t" r="r" b="b"/>
            <a:pathLst>
              <a:path w="5156200" h="2107902">
                <a:moveTo>
                  <a:pt x="0" y="76200"/>
                </a:moveTo>
                <a:lnTo>
                  <a:pt x="0" y="76200"/>
                </a:lnTo>
                <a:arcTo hR="76200" wR="76200" stAng="10800000" swAng="5400000"/>
                <a:lnTo>
                  <a:pt x="5080000" y="0"/>
                </a:lnTo>
                <a:arcTo hR="76200" wR="76200" stAng="16200000" swAng="5400000"/>
                <a:lnTo>
                  <a:pt x="5156200" y="76200"/>
                </a:lnTo>
                <a:lnTo>
                  <a:pt x="0" y="76200"/>
                </a:lnTo>
                <a:close/>
              </a:path>
            </a:pathLst>
          </a:custGeom>
          <a:solidFill>
            <a:srgbClr val="0E6F68"/>
          </a:solidFill>
          <a:ln/>
        </p:spPr>
      </p:sp>
      <p:sp>
        <p:nvSpPr>
          <p:cNvPr id="6" name="Text 4"/>
          <p:cNvSpPr/>
          <p:nvPr/>
        </p:nvSpPr>
        <p:spPr>
          <a:xfrm>
            <a:off x="1016000" y="2232620"/>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Part 1 · Why: leadership and audit</a:t>
            </a:r>
            <a:endParaRPr lang="en-US" sz="1600" dirty="0"/>
          </a:p>
        </p:txBody>
      </p:sp>
      <p:sp>
        <p:nvSpPr>
          <p:cNvPr id="7" name="Text 5"/>
          <p:cNvSpPr/>
          <p:nvPr/>
        </p:nvSpPr>
        <p:spPr>
          <a:xfrm>
            <a:off x="1016000" y="2590701"/>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3–4</a:t>
            </a:r>
            <a:endParaRPr lang="en-US" sz="1300" dirty="0"/>
          </a:p>
        </p:txBody>
      </p:sp>
      <p:sp>
        <p:nvSpPr>
          <p:cNvPr id="8" name="Text 6"/>
          <p:cNvSpPr/>
          <p:nvPr/>
        </p:nvSpPr>
        <p:spPr>
          <a:xfrm>
            <a:off x="1866900" y="2578001"/>
            <a:ext cx="221789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The problem, and proof</a:t>
            </a:r>
            <a:endParaRPr lang="en-US" sz="1400" dirty="0"/>
          </a:p>
        </p:txBody>
      </p:sp>
      <p:sp>
        <p:nvSpPr>
          <p:cNvPr id="9" name="Text 7"/>
          <p:cNvSpPr/>
          <p:nvPr/>
        </p:nvSpPr>
        <p:spPr>
          <a:xfrm>
            <a:off x="1016000" y="2936081"/>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5–7</a:t>
            </a:r>
            <a:endParaRPr lang="en-US" sz="1300" dirty="0"/>
          </a:p>
        </p:txBody>
      </p:sp>
      <p:sp>
        <p:nvSpPr>
          <p:cNvPr id="10" name="Text 8"/>
          <p:cNvSpPr/>
          <p:nvPr/>
        </p:nvSpPr>
        <p:spPr>
          <a:xfrm>
            <a:off x="1866900" y="2923381"/>
            <a:ext cx="2265640"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Two needs, and the tool</a:t>
            </a:r>
            <a:endParaRPr lang="en-US" sz="1400" dirty="0"/>
          </a:p>
        </p:txBody>
      </p:sp>
      <p:sp>
        <p:nvSpPr>
          <p:cNvPr id="11" name="Text 9"/>
          <p:cNvSpPr/>
          <p:nvPr/>
        </p:nvSpPr>
        <p:spPr>
          <a:xfrm>
            <a:off x="1016000" y="3281462"/>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8–11</a:t>
            </a:r>
            <a:endParaRPr lang="en-US" sz="1300" dirty="0"/>
          </a:p>
        </p:txBody>
      </p:sp>
      <p:sp>
        <p:nvSpPr>
          <p:cNvPr id="12" name="Text 10"/>
          <p:cNvSpPr/>
          <p:nvPr/>
        </p:nvSpPr>
        <p:spPr>
          <a:xfrm>
            <a:off x="1866900" y="3268762"/>
            <a:ext cx="3000375"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Self-service and the audit views</a:t>
            </a:r>
            <a:endParaRPr lang="en-US" sz="1400" dirty="0"/>
          </a:p>
        </p:txBody>
      </p:sp>
      <p:sp>
        <p:nvSpPr>
          <p:cNvPr id="13" name="Text 11"/>
          <p:cNvSpPr/>
          <p:nvPr/>
        </p:nvSpPr>
        <p:spPr>
          <a:xfrm>
            <a:off x="1016000" y="3626842"/>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12–16</a:t>
            </a:r>
            <a:endParaRPr lang="en-US" sz="1300" dirty="0"/>
          </a:p>
        </p:txBody>
      </p:sp>
      <p:sp>
        <p:nvSpPr>
          <p:cNvPr id="14" name="Text 12"/>
          <p:cNvSpPr/>
          <p:nvPr/>
        </p:nvSpPr>
        <p:spPr>
          <a:xfrm>
            <a:off x="1866900" y="3614142"/>
            <a:ext cx="1790819"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Quarterly evidence</a:t>
            </a:r>
            <a:endParaRPr lang="en-US" sz="1400" dirty="0"/>
          </a:p>
        </p:txBody>
      </p:sp>
      <p:sp>
        <p:nvSpPr>
          <p:cNvPr id="15" name="Shape 13"/>
          <p:cNvSpPr/>
          <p:nvPr/>
        </p:nvSpPr>
        <p:spPr>
          <a:xfrm>
            <a:off x="6223000" y="1953220"/>
            <a:ext cx="5156200" cy="2107902"/>
          </a:xfrm>
          <a:prstGeom prst="roundRect">
            <a:avLst>
              <a:gd name="adj" fmla="val 3615"/>
            </a:avLst>
          </a:prstGeom>
          <a:solidFill>
            <a:srgbClr val="FCFCFA"/>
          </a:solidFill>
          <a:ln/>
          <a:effectLst>
            <a:outerShdw sx="100000" sy="100000" kx="0" ky="0" algn="bl" rotWithShape="0" blurRad="6350" dist="0" dir="60000">
              <a:srgbClr val="D7DCE3">
                <a:alpha val="100000"/>
              </a:srgbClr>
            </a:outerShdw>
          </a:effectLst>
        </p:spPr>
      </p:sp>
      <p:sp>
        <p:nvSpPr>
          <p:cNvPr id="16" name="Shape 14"/>
          <p:cNvSpPr/>
          <p:nvPr/>
        </p:nvSpPr>
        <p:spPr>
          <a:xfrm>
            <a:off x="6223000" y="1953220"/>
            <a:ext cx="5156200" cy="2107902"/>
          </a:xfrm>
          <a:custGeom>
            <a:avLst/>
            <a:gdLst/>
            <a:ahLst/>
            <a:cxnLst/>
            <a:rect l="l" t="t" r="r" b="b"/>
            <a:pathLst>
              <a:path w="5156200" h="2107902">
                <a:moveTo>
                  <a:pt x="0" y="76200"/>
                </a:moveTo>
                <a:lnTo>
                  <a:pt x="0" y="76200"/>
                </a:lnTo>
                <a:arcTo hR="76200" wR="76200" stAng="10800000" swAng="5400000"/>
                <a:lnTo>
                  <a:pt x="5080000" y="0"/>
                </a:lnTo>
                <a:arcTo hR="76200" wR="76200" stAng="16200000" swAng="5400000"/>
                <a:lnTo>
                  <a:pt x="5156200" y="76200"/>
                </a:lnTo>
                <a:lnTo>
                  <a:pt x="0" y="76200"/>
                </a:lnTo>
                <a:close/>
              </a:path>
            </a:pathLst>
          </a:custGeom>
          <a:solidFill>
            <a:srgbClr val="0E6F68"/>
          </a:solidFill>
          <a:ln/>
        </p:spPr>
      </p:sp>
      <p:sp>
        <p:nvSpPr>
          <p:cNvPr id="17" name="Text 15"/>
          <p:cNvSpPr/>
          <p:nvPr/>
        </p:nvSpPr>
        <p:spPr>
          <a:xfrm>
            <a:off x="6426200" y="2232620"/>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Part 2 · How: the platform team</a:t>
            </a:r>
            <a:endParaRPr lang="en-US" sz="1600" dirty="0"/>
          </a:p>
        </p:txBody>
      </p:sp>
      <p:sp>
        <p:nvSpPr>
          <p:cNvPr id="18" name="Text 16"/>
          <p:cNvSpPr/>
          <p:nvPr/>
        </p:nvSpPr>
        <p:spPr>
          <a:xfrm>
            <a:off x="6426200" y="2590701"/>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18</a:t>
            </a:r>
            <a:endParaRPr lang="en-US" sz="1300" dirty="0"/>
          </a:p>
        </p:txBody>
      </p:sp>
      <p:sp>
        <p:nvSpPr>
          <p:cNvPr id="19" name="Text 17"/>
          <p:cNvSpPr/>
          <p:nvPr/>
        </p:nvSpPr>
        <p:spPr>
          <a:xfrm>
            <a:off x="7277100" y="2578001"/>
            <a:ext cx="1458635"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Who sees what</a:t>
            </a:r>
            <a:endParaRPr lang="en-US" sz="1400" dirty="0"/>
          </a:p>
        </p:txBody>
      </p:sp>
      <p:sp>
        <p:nvSpPr>
          <p:cNvPr id="20" name="Text 18"/>
          <p:cNvSpPr/>
          <p:nvPr/>
        </p:nvSpPr>
        <p:spPr>
          <a:xfrm>
            <a:off x="6426200" y="2936081"/>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19–22</a:t>
            </a:r>
            <a:endParaRPr lang="en-US" sz="1300" dirty="0"/>
          </a:p>
        </p:txBody>
      </p:sp>
      <p:sp>
        <p:nvSpPr>
          <p:cNvPr id="21" name="Text 19"/>
          <p:cNvSpPr/>
          <p:nvPr/>
        </p:nvSpPr>
        <p:spPr>
          <a:xfrm>
            <a:off x="7277100" y="2923381"/>
            <a:ext cx="1138476"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Architecture</a:t>
            </a:r>
            <a:endParaRPr lang="en-US" sz="1400" dirty="0"/>
          </a:p>
        </p:txBody>
      </p:sp>
      <p:sp>
        <p:nvSpPr>
          <p:cNvPr id="22" name="Text 20"/>
          <p:cNvSpPr/>
          <p:nvPr/>
        </p:nvSpPr>
        <p:spPr>
          <a:xfrm>
            <a:off x="6426200" y="3281462"/>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23–24</a:t>
            </a:r>
            <a:endParaRPr lang="en-US" sz="1300" dirty="0"/>
          </a:p>
        </p:txBody>
      </p:sp>
      <p:sp>
        <p:nvSpPr>
          <p:cNvPr id="23" name="Text 21"/>
          <p:cNvSpPr/>
          <p:nvPr/>
        </p:nvSpPr>
        <p:spPr>
          <a:xfrm>
            <a:off x="7277100" y="3268762"/>
            <a:ext cx="2004179"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Operations and limits</a:t>
            </a:r>
            <a:endParaRPr lang="en-US" sz="1400" dirty="0"/>
          </a:p>
        </p:txBody>
      </p:sp>
      <p:sp>
        <p:nvSpPr>
          <p:cNvPr id="24" name="Text 22"/>
          <p:cNvSpPr/>
          <p:nvPr/>
        </p:nvSpPr>
        <p:spPr>
          <a:xfrm>
            <a:off x="6426200" y="3626842"/>
            <a:ext cx="74930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0E6F68"/>
                </a:solidFill>
                <a:latin typeface="Courier New" pitchFamily="49" charset="0"/>
                <a:ea typeface="Courier New" pitchFamily="49" charset="-122"/>
                <a:cs typeface="Courier New" pitchFamily="49" charset="-120"/>
              </a:rPr>
              <a:t>25–26</a:t>
            </a:r>
            <a:endParaRPr lang="en-US" sz="1300" dirty="0"/>
          </a:p>
        </p:txBody>
      </p:sp>
      <p:sp>
        <p:nvSpPr>
          <p:cNvPr id="25" name="Text 23"/>
          <p:cNvSpPr/>
          <p:nvPr/>
        </p:nvSpPr>
        <p:spPr>
          <a:xfrm>
            <a:off x="7277100" y="3614142"/>
            <a:ext cx="1174194" cy="2564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8212C"/>
                </a:solidFill>
                <a:latin typeface="Arial" pitchFamily="34" charset="0"/>
                <a:ea typeface="Arial" pitchFamily="34" charset="-122"/>
                <a:cs typeface="Arial" pitchFamily="34" charset="-120"/>
              </a:rPr>
              <a:t>Rolling it out</a:t>
            </a:r>
            <a:endParaRPr lang="en-US" sz="1400" dirty="0"/>
          </a:p>
        </p:txBody>
      </p:sp>
      <p:sp>
        <p:nvSpPr>
          <p:cNvPr id="26" name="Text 24"/>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OCP Access Tracking Dashboard · application 5.8.0</a:t>
            </a:r>
            <a:endParaRPr lang="en-US" sz="1200" dirty="0"/>
          </a:p>
        </p:txBody>
      </p:sp>
      <p:sp>
        <p:nvSpPr>
          <p:cNvPr id="27" name="Text 25"/>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 / 26</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THE PROBLEM</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Access on OpenShift fails silently</a:t>
            </a:r>
            <a:endParaRPr lang="en-US" sz="3000" dirty="0"/>
          </a:p>
        </p:txBody>
      </p:sp>
      <p:sp>
        <p:nvSpPr>
          <p:cNvPr id="4" name="Shape 2"/>
          <p:cNvSpPr/>
          <p:nvPr/>
        </p:nvSpPr>
        <p:spPr>
          <a:xfrm>
            <a:off x="812800" y="1953220"/>
            <a:ext cx="4064000" cy="2919016"/>
          </a:xfrm>
          <a:prstGeom prst="roundRect">
            <a:avLst>
              <a:gd name="adj" fmla="val 3481"/>
            </a:avLst>
          </a:prstGeom>
          <a:solidFill>
            <a:srgbClr val="14202B"/>
          </a:solidFill>
          <a:ln/>
        </p:spPr>
      </p:sp>
      <p:sp>
        <p:nvSpPr>
          <p:cNvPr id="5" name="Shape 3"/>
          <p:cNvSpPr/>
          <p:nvPr/>
        </p:nvSpPr>
        <p:spPr>
          <a:xfrm>
            <a:off x="812800" y="1953220"/>
            <a:ext cx="4064000" cy="2919016"/>
          </a:xfrm>
          <a:custGeom>
            <a:avLst/>
            <a:gdLst/>
            <a:ahLst/>
            <a:cxnLst/>
            <a:rect l="l" t="t" r="r" b="b"/>
            <a:pathLst>
              <a:path w="4064000" h="2919016">
                <a:moveTo>
                  <a:pt x="0" y="101600"/>
                </a:moveTo>
                <a:lnTo>
                  <a:pt x="0" y="101600"/>
                </a:lnTo>
                <a:arcTo hR="101600" wR="101600" stAng="10800000" swAng="5400000"/>
                <a:lnTo>
                  <a:pt x="3962400" y="0"/>
                </a:lnTo>
                <a:arcTo hR="101600" wR="101600" stAng="16200000" swAng="5400000"/>
                <a:lnTo>
                  <a:pt x="4064000" y="101600"/>
                </a:lnTo>
                <a:arcTo hR="25400" wR="101600" stAng="0" swAng="-5400000"/>
                <a:lnTo>
                  <a:pt x="101600" y="76200"/>
                </a:lnTo>
                <a:arcTo hR="25400" wR="101600" stAng="16200000" swAng="-5400000"/>
                <a:close/>
              </a:path>
            </a:pathLst>
          </a:custGeom>
          <a:solidFill>
            <a:srgbClr val="B3261E"/>
          </a:solidFill>
          <a:ln/>
        </p:spPr>
      </p:sp>
      <p:sp>
        <p:nvSpPr>
          <p:cNvPr id="6" name="Text 4"/>
          <p:cNvSpPr/>
          <p:nvPr/>
        </p:nvSpPr>
        <p:spPr>
          <a:xfrm>
            <a:off x="1117600" y="2334220"/>
            <a:ext cx="355803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3FCFC0"/>
                </a:solidFill>
                <a:latin typeface="Arial" pitchFamily="34" charset="0"/>
                <a:ea typeface="Arial" pitchFamily="34" charset="-122"/>
                <a:cs typeface="Arial" pitchFamily="34" charset="-120"/>
              </a:rPr>
              <a:t>9</a:t>
            </a:r>
            <a:endParaRPr lang="en-US" sz="6000" dirty="0"/>
          </a:p>
        </p:txBody>
      </p:sp>
      <p:sp>
        <p:nvSpPr>
          <p:cNvPr id="7" name="Text 5"/>
          <p:cNvSpPr/>
          <p:nvPr/>
        </p:nvSpPr>
        <p:spPr>
          <a:xfrm>
            <a:off x="1117600" y="3223220"/>
            <a:ext cx="3558032"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5E9EF"/>
                </a:solidFill>
                <a:latin typeface="Arial" pitchFamily="34" charset="0"/>
                <a:ea typeface="Arial" pitchFamily="34" charset="-122"/>
                <a:cs typeface="Arial" pitchFamily="34" charset="-120"/>
              </a:rPr>
              <a:t>RoleBindings granting </a:t>
            </a:r>
            <a:r>
              <a:rPr lang="en-US" sz="1500" b="1" dirty="0">
                <a:solidFill>
                  <a:srgbClr val="E5E9EF"/>
                </a:solidFill>
                <a:latin typeface="Arial" pitchFamily="34" charset="0"/>
                <a:ea typeface="Arial" pitchFamily="34" charset="-122"/>
                <a:cs typeface="Arial" pitchFamily="34" charset="-120"/>
              </a:rPr>
              <a:t>admin</a:t>
            </a:r>
            <a:r>
              <a:rPr lang="en-US" sz="1500" dirty="0">
                <a:solidFill>
                  <a:srgbClr val="E5E9EF"/>
                </a:solidFill>
                <a:latin typeface="Arial" pitchFamily="34" charset="0"/>
                <a:ea typeface="Arial" pitchFamily="34" charset="-122"/>
                <a:cs typeface="Arial" pitchFamily="34" charset="-120"/>
              </a:rPr>
              <a:t>, </a:t>
            </a:r>
            <a:r>
              <a:rPr lang="en-US" sz="1500" b="1" dirty="0">
                <a:solidFill>
                  <a:srgbClr val="E5E9EF"/>
                </a:solidFill>
                <a:latin typeface="Arial" pitchFamily="34" charset="0"/>
                <a:ea typeface="Arial" pitchFamily="34" charset="-122"/>
                <a:cs typeface="Arial" pitchFamily="34" charset="-120"/>
              </a:rPr>
              <a:t>view</a:t>
            </a:r>
            <a:r>
              <a:rPr lang="en-US" sz="1500" dirty="0">
                <a:solidFill>
                  <a:srgbClr val="E5E9EF"/>
                </a:solidFill>
                <a:latin typeface="Arial" pitchFamily="34" charset="0"/>
                <a:ea typeface="Arial" pitchFamily="34" charset="-122"/>
                <a:cs typeface="Arial" pitchFamily="34" charset="-120"/>
              </a:rPr>
              <a:t> and </a:t>
            </a:r>
            <a:r>
              <a:rPr lang="en-US" sz="1500" b="1" dirty="0">
                <a:solidFill>
                  <a:srgbClr val="E5E9EF"/>
                </a:solidFill>
                <a:latin typeface="Arial" pitchFamily="34" charset="0"/>
                <a:ea typeface="Arial" pitchFamily="34" charset="-122"/>
                <a:cs typeface="Arial" pitchFamily="34" charset="-120"/>
              </a:rPr>
              <a:t>edit</a:t>
            </a:r>
            <a:r>
              <a:rPr lang="en-US" sz="1500" dirty="0">
                <a:solidFill>
                  <a:srgbClr val="E5E9EF"/>
                </a:solidFill>
                <a:latin typeface="Arial" pitchFamily="34" charset="0"/>
                <a:ea typeface="Arial" pitchFamily="34" charset="-122"/>
                <a:cs typeface="Arial" pitchFamily="34" charset="-120"/>
              </a:rPr>
              <a:t> to groups that have never existed, found on the reference cluster.</a:t>
            </a:r>
            <a:endParaRPr lang="en-US" sz="1500" dirty="0"/>
          </a:p>
        </p:txBody>
      </p:sp>
      <p:sp>
        <p:nvSpPr>
          <p:cNvPr id="8" name="Text 6"/>
          <p:cNvSpPr/>
          <p:nvPr/>
        </p:nvSpPr>
        <p:spPr>
          <a:xfrm>
            <a:off x="1117600" y="4121745"/>
            <a:ext cx="355803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8D2"/>
                </a:solidFill>
                <a:latin typeface="Arial" pitchFamily="34" charset="0"/>
                <a:ea typeface="Arial" pitchFamily="34" charset="-122"/>
                <a:cs typeface="Arial" pitchFamily="34" charset="-120"/>
              </a:rPr>
              <a:t>oc get rolebinding reports every one of them as healthy.</a:t>
            </a:r>
            <a:endParaRPr lang="en-US" sz="1300" dirty="0"/>
          </a:p>
        </p:txBody>
      </p:sp>
      <p:sp>
        <p:nvSpPr>
          <p:cNvPr id="9" name="Shape 7"/>
          <p:cNvSpPr/>
          <p:nvPr/>
        </p:nvSpPr>
        <p:spPr>
          <a:xfrm>
            <a:off x="5232400" y="1953220"/>
            <a:ext cx="6146800" cy="1025426"/>
          </a:xfrm>
          <a:prstGeom prst="roundRect">
            <a:avLst>
              <a:gd name="adj" fmla="val 7431"/>
            </a:avLst>
          </a:prstGeom>
          <a:solidFill>
            <a:srgbClr val="FCFCFA"/>
          </a:solidFill>
          <a:ln/>
          <a:effectLst>
            <a:outerShdw sx="100000" sy="100000" kx="0" ky="0" algn="bl" rotWithShape="0" blurRad="6350" dist="0" dir="60000">
              <a:srgbClr val="D7DCE3">
                <a:alpha val="100000"/>
              </a:srgbClr>
            </a:outerShdw>
          </a:effectLst>
        </p:spPr>
      </p:sp>
      <p:sp>
        <p:nvSpPr>
          <p:cNvPr id="10" name="Shape 8"/>
          <p:cNvSpPr/>
          <p:nvPr/>
        </p:nvSpPr>
        <p:spPr>
          <a:xfrm>
            <a:off x="5232400" y="1953220"/>
            <a:ext cx="6146800" cy="1025426"/>
          </a:xfrm>
          <a:custGeom>
            <a:avLst/>
            <a:gdLst/>
            <a:ahLst/>
            <a:cxnLst/>
            <a:rect l="l" t="t" r="r" b="b"/>
            <a:pathLst>
              <a:path w="6146800" h="1025426">
                <a:moveTo>
                  <a:pt x="0" y="76200"/>
                </a:moveTo>
                <a:lnTo>
                  <a:pt x="0" y="76200"/>
                </a:lnTo>
                <a:arcTo hR="76200" wR="76200" stAng="10800000" swAng="5400000"/>
                <a:lnTo>
                  <a:pt x="6070600" y="0"/>
                </a:lnTo>
                <a:arcTo hR="76200" wR="76200" stAng="16200000" swAng="5400000"/>
                <a:lnTo>
                  <a:pt x="6146800" y="76200"/>
                </a:lnTo>
                <a:lnTo>
                  <a:pt x="0" y="76200"/>
                </a:lnTo>
                <a:close/>
              </a:path>
            </a:pathLst>
          </a:custGeom>
          <a:solidFill>
            <a:srgbClr val="B3261E"/>
          </a:solidFill>
          <a:ln/>
        </p:spPr>
      </p:sp>
      <p:sp>
        <p:nvSpPr>
          <p:cNvPr id="11" name="Text 9"/>
          <p:cNvSpPr/>
          <p:nvPr/>
        </p:nvSpPr>
        <p:spPr>
          <a:xfrm>
            <a:off x="5435600" y="2232620"/>
            <a:ext cx="59126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A binding names a group that does not exist</a:t>
            </a:r>
            <a:endParaRPr lang="en-US" sz="1600" dirty="0"/>
          </a:p>
        </p:txBody>
      </p:sp>
      <p:sp>
        <p:nvSpPr>
          <p:cNvPr id="12" name="Text 10"/>
          <p:cNvSpPr/>
          <p:nvPr/>
        </p:nvSpPr>
        <p:spPr>
          <a:xfrm>
            <a:off x="5435600" y="2552601"/>
            <a:ext cx="591261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It looks healthy and grants nobody.</a:t>
            </a:r>
            <a:endParaRPr lang="en-US" sz="1300" dirty="0"/>
          </a:p>
        </p:txBody>
      </p:sp>
      <p:sp>
        <p:nvSpPr>
          <p:cNvPr id="13" name="Shape 11"/>
          <p:cNvSpPr/>
          <p:nvPr/>
        </p:nvSpPr>
        <p:spPr>
          <a:xfrm>
            <a:off x="5232400" y="3105646"/>
            <a:ext cx="6146800" cy="1025426"/>
          </a:xfrm>
          <a:prstGeom prst="roundRect">
            <a:avLst>
              <a:gd name="adj" fmla="val 7431"/>
            </a:avLst>
          </a:prstGeom>
          <a:solidFill>
            <a:srgbClr val="FCFCFA"/>
          </a:solidFill>
          <a:ln/>
          <a:effectLst>
            <a:outerShdw sx="100000" sy="100000" kx="0" ky="0" algn="bl" rotWithShape="0" blurRad="6350" dist="0" dir="60000">
              <a:srgbClr val="D7DCE3">
                <a:alpha val="100000"/>
              </a:srgbClr>
            </a:outerShdw>
          </a:effectLst>
        </p:spPr>
      </p:sp>
      <p:sp>
        <p:nvSpPr>
          <p:cNvPr id="14" name="Shape 12"/>
          <p:cNvSpPr/>
          <p:nvPr/>
        </p:nvSpPr>
        <p:spPr>
          <a:xfrm>
            <a:off x="5232400" y="3105646"/>
            <a:ext cx="6146800" cy="1025426"/>
          </a:xfrm>
          <a:custGeom>
            <a:avLst/>
            <a:gdLst/>
            <a:ahLst/>
            <a:cxnLst/>
            <a:rect l="l" t="t" r="r" b="b"/>
            <a:pathLst>
              <a:path w="6146800" h="1025426">
                <a:moveTo>
                  <a:pt x="0" y="76200"/>
                </a:moveTo>
                <a:lnTo>
                  <a:pt x="0" y="76200"/>
                </a:lnTo>
                <a:arcTo hR="76200" wR="76200" stAng="10800000" swAng="5400000"/>
                <a:lnTo>
                  <a:pt x="6070600" y="0"/>
                </a:lnTo>
                <a:arcTo hR="76200" wR="76200" stAng="16200000" swAng="5400000"/>
                <a:lnTo>
                  <a:pt x="6146800" y="76200"/>
                </a:lnTo>
                <a:lnTo>
                  <a:pt x="0" y="76200"/>
                </a:lnTo>
                <a:close/>
              </a:path>
            </a:pathLst>
          </a:custGeom>
          <a:solidFill>
            <a:srgbClr val="B3261E"/>
          </a:solidFill>
          <a:ln/>
        </p:spPr>
      </p:sp>
      <p:sp>
        <p:nvSpPr>
          <p:cNvPr id="15" name="Text 13"/>
          <p:cNvSpPr/>
          <p:nvPr/>
        </p:nvSpPr>
        <p:spPr>
          <a:xfrm>
            <a:off x="5435600" y="3385046"/>
            <a:ext cx="59126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A binding names a person, not a group</a:t>
            </a:r>
            <a:endParaRPr lang="en-US" sz="1600" dirty="0"/>
          </a:p>
        </p:txBody>
      </p:sp>
      <p:sp>
        <p:nvSpPr>
          <p:cNvPr id="16" name="Text 14"/>
          <p:cNvSpPr/>
          <p:nvPr/>
        </p:nvSpPr>
        <p:spPr>
          <a:xfrm>
            <a:off x="5435600" y="3705027"/>
            <a:ext cx="591261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Removing them from the directory revokes nothing: it survives offboarding.</a:t>
            </a:r>
            <a:endParaRPr lang="en-US" sz="1300" dirty="0"/>
          </a:p>
        </p:txBody>
      </p:sp>
      <p:sp>
        <p:nvSpPr>
          <p:cNvPr id="17" name="Shape 15"/>
          <p:cNvSpPr/>
          <p:nvPr/>
        </p:nvSpPr>
        <p:spPr>
          <a:xfrm>
            <a:off x="5232400" y="4258072"/>
            <a:ext cx="6146800" cy="1025426"/>
          </a:xfrm>
          <a:prstGeom prst="roundRect">
            <a:avLst>
              <a:gd name="adj" fmla="val 7431"/>
            </a:avLst>
          </a:prstGeom>
          <a:solidFill>
            <a:srgbClr val="FCFCFA"/>
          </a:solidFill>
          <a:ln/>
          <a:effectLst>
            <a:outerShdw sx="100000" sy="100000" kx="0" ky="0" algn="bl" rotWithShape="0" blurRad="6350" dist="0" dir="60000">
              <a:srgbClr val="D7DCE3">
                <a:alpha val="100000"/>
              </a:srgbClr>
            </a:outerShdw>
          </a:effectLst>
        </p:spPr>
      </p:sp>
      <p:sp>
        <p:nvSpPr>
          <p:cNvPr id="18" name="Shape 16"/>
          <p:cNvSpPr/>
          <p:nvPr/>
        </p:nvSpPr>
        <p:spPr>
          <a:xfrm>
            <a:off x="5232400" y="4258072"/>
            <a:ext cx="6146800" cy="1025426"/>
          </a:xfrm>
          <a:custGeom>
            <a:avLst/>
            <a:gdLst/>
            <a:ahLst/>
            <a:cxnLst/>
            <a:rect l="l" t="t" r="r" b="b"/>
            <a:pathLst>
              <a:path w="6146800" h="1025426">
                <a:moveTo>
                  <a:pt x="0" y="76200"/>
                </a:moveTo>
                <a:lnTo>
                  <a:pt x="0" y="76200"/>
                </a:lnTo>
                <a:arcTo hR="76200" wR="76200" stAng="10800000" swAng="5400000"/>
                <a:lnTo>
                  <a:pt x="6070600" y="0"/>
                </a:lnTo>
                <a:arcTo hR="76200" wR="76200" stAng="16200000" swAng="5400000"/>
                <a:lnTo>
                  <a:pt x="6146800" y="76200"/>
                </a:lnTo>
                <a:lnTo>
                  <a:pt x="0" y="76200"/>
                </a:lnTo>
                <a:close/>
              </a:path>
            </a:pathLst>
          </a:custGeom>
          <a:solidFill>
            <a:srgbClr val="B3261E"/>
          </a:solidFill>
          <a:ln/>
        </p:spPr>
      </p:sp>
      <p:sp>
        <p:nvSpPr>
          <p:cNvPr id="19" name="Text 17"/>
          <p:cNvSpPr/>
          <p:nvPr/>
        </p:nvSpPr>
        <p:spPr>
          <a:xfrm>
            <a:off x="5435600" y="4537472"/>
            <a:ext cx="591261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A group silently stopped being refreshed</a:t>
            </a:r>
            <a:endParaRPr lang="en-US" sz="1600" dirty="0"/>
          </a:p>
        </p:txBody>
      </p:sp>
      <p:sp>
        <p:nvSpPr>
          <p:cNvPr id="20" name="Text 18"/>
          <p:cNvSpPr/>
          <p:nvPr/>
        </p:nvSpPr>
        <p:spPr>
          <a:xfrm>
            <a:off x="5435600" y="4857452"/>
            <a:ext cx="591261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sync still reports success.</a:t>
            </a:r>
            <a:endParaRPr lang="en-US" sz="1300" dirty="0"/>
          </a:p>
        </p:txBody>
      </p:sp>
      <p:sp>
        <p:nvSpPr>
          <p:cNvPr id="21" name="Text 19"/>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 the dashboard's README, the failures it surfaces and the reference cluster's finding</a:t>
            </a:r>
            <a:endParaRPr lang="en-US" sz="1200" dirty="0"/>
          </a:p>
        </p:txBody>
      </p:sp>
      <p:sp>
        <p:nvSpPr>
          <p:cNvPr id="22" name="Text 20"/>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3 / 26</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ON THE LAB</a:t>
            </a:r>
            <a:endParaRPr lang="en-US" sz="1200" dirty="0"/>
          </a:p>
        </p:txBody>
      </p:sp>
      <p:sp>
        <p:nvSpPr>
          <p:cNvPr id="3" name="Text 1"/>
          <p:cNvSpPr/>
          <p:nvPr/>
        </p:nvSpPr>
        <p:spPr>
          <a:xfrm>
            <a:off x="812800" y="1254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The three silent failures, caught</a:t>
            </a:r>
            <a:endParaRPr lang="en-US" sz="3000" dirty="0"/>
          </a:p>
        </p:txBody>
      </p:sp>
      <p:sp>
        <p:nvSpPr>
          <p:cNvPr id="4" name="Shape 2"/>
          <p:cNvSpPr/>
          <p:nvPr/>
        </p:nvSpPr>
        <p:spPr>
          <a:xfrm>
            <a:off x="850900" y="1902420"/>
            <a:ext cx="0" cy="919361"/>
          </a:xfrm>
          <a:prstGeom prst="line">
            <a:avLst/>
          </a:prstGeom>
          <a:noFill/>
          <a:ln w="76200">
            <a:solidFill>
              <a:srgbClr val="B3261E"/>
            </a:solidFill>
            <a:prstDash val="solid"/>
          </a:ln>
        </p:spPr>
      </p:sp>
      <p:sp>
        <p:nvSpPr>
          <p:cNvPr id="5" name="Text 3"/>
          <p:cNvSpPr/>
          <p:nvPr/>
        </p:nvSpPr>
        <p:spPr>
          <a:xfrm>
            <a:off x="1041400" y="1902420"/>
            <a:ext cx="316560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A binding names a group that does not exist</a:t>
            </a:r>
            <a:endParaRPr lang="en-US" sz="1500" dirty="0"/>
          </a:p>
        </p:txBody>
      </p:sp>
      <p:sp>
        <p:nvSpPr>
          <p:cNvPr id="6" name="Text 4"/>
          <p:cNvSpPr/>
          <p:nvPr/>
        </p:nvSpPr>
        <p:spPr>
          <a:xfrm>
            <a:off x="1041400" y="2410420"/>
            <a:ext cx="316560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7"/>
                </a:solidFill>
                <a:latin typeface="Arial" pitchFamily="34" charset="0"/>
                <a:ea typeface="Arial" pitchFamily="34" charset="-122"/>
                <a:cs typeface="Arial" pitchFamily="34" charset="-120"/>
              </a:rPr>
              <a:t>6 bindings that grant nobody, on the host cluster.</a:t>
            </a:r>
            <a:endParaRPr lang="en-US" sz="1200" dirty="0"/>
          </a:p>
        </p:txBody>
      </p:sp>
      <p:sp>
        <p:nvSpPr>
          <p:cNvPr id="7" name="Shape 5"/>
          <p:cNvSpPr/>
          <p:nvPr/>
        </p:nvSpPr>
        <p:spPr>
          <a:xfrm>
            <a:off x="4368800" y="1981101"/>
            <a:ext cx="7010400" cy="762000"/>
          </a:xfrm>
          <a:prstGeom prst="roundRect">
            <a:avLst>
              <a:gd name="adj" fmla="val 10000"/>
            </a:avLst>
          </a:prstGeom>
          <a:solidFill>
            <a:srgbClr val="FFFFFF"/>
          </a:solidFill>
          <a:ln/>
        </p:spPr>
      </p:sp>
      <p:pic>
        <p:nvPicPr>
          <p:cNvPr id="8" name="Image 0" descr="Access granted: 6 bindings that grant nobody, each naming a Group that does not exist.">    </p:cNvPr>
          <p:cNvPicPr>
            <a:picLocks noChangeAspect="1"/>
          </p:cNvPicPr>
          <p:nvPr/>
        </p:nvPicPr>
        <p:blipFill>
          <a:blip r:embed="rId1"/>
          <a:stretch>
            <a:fillRect/>
          </a:stretch>
        </p:blipFill>
        <p:spPr>
          <a:xfrm>
            <a:off x="4429637" y="1987451"/>
            <a:ext cx="6888726" cy="749300"/>
          </a:xfrm>
          <a:custGeom>
            <a:avLst/>
            <a:gdLst/>
            <a:ahLst/>
            <a:cxnLst/>
            <a:rect l="l" t="t" r="r" b="b"/>
            <a:pathLst>
              <a:path w="6888726" h="749300">
                <a:moveTo>
                  <a:pt x="0" y="1710"/>
                </a:moveTo>
                <a:arcTo wR="69850" hR="69850" stAng="15437665" swAng="762335"/>
                <a:lnTo>
                  <a:pt x="6873363" y="0"/>
                </a:lnTo>
                <a:arcTo wR="69850" hR="69850" stAng="16200000" swAng="762335"/>
                <a:lnTo>
                  <a:pt x="6888726" y="747590"/>
                </a:lnTo>
                <a:arcTo wR="69850" hR="69850" stAng="4637665" swAng="762335"/>
                <a:lnTo>
                  <a:pt x="15363" y="749300"/>
                </a:lnTo>
                <a:arcTo wR="69850" hR="69850" stAng="5400000" swAng="762335"/>
                <a:close/>
              </a:path>
            </a:pathLst>
          </a:custGeom>
        </p:spPr>
      </p:pic>
      <p:sp>
        <p:nvSpPr>
          <p:cNvPr id="9" name="Shape 6"/>
          <p:cNvSpPr/>
          <p:nvPr/>
        </p:nvSpPr>
        <p:spPr>
          <a:xfrm>
            <a:off x="4371975" y="1984276"/>
            <a:ext cx="7004050" cy="755650"/>
          </a:xfrm>
          <a:prstGeom prst="roundRect">
            <a:avLst>
              <a:gd name="adj" fmla="val 9664"/>
            </a:avLst>
          </a:prstGeom>
          <a:noFill/>
          <a:ln w="6350">
            <a:solidFill>
              <a:srgbClr val="D7DCE3"/>
            </a:solidFill>
            <a:prstDash val="solid"/>
          </a:ln>
        </p:spPr>
      </p:sp>
      <p:sp>
        <p:nvSpPr>
          <p:cNvPr id="10" name="Shape 7"/>
          <p:cNvSpPr/>
          <p:nvPr/>
        </p:nvSpPr>
        <p:spPr>
          <a:xfrm>
            <a:off x="850900" y="2999581"/>
            <a:ext cx="0" cy="919361"/>
          </a:xfrm>
          <a:prstGeom prst="line">
            <a:avLst/>
          </a:prstGeom>
          <a:noFill/>
          <a:ln w="76200">
            <a:solidFill>
              <a:srgbClr val="B3261E"/>
            </a:solidFill>
            <a:prstDash val="solid"/>
          </a:ln>
        </p:spPr>
      </p:sp>
      <p:sp>
        <p:nvSpPr>
          <p:cNvPr id="11" name="Text 8"/>
          <p:cNvSpPr/>
          <p:nvPr/>
        </p:nvSpPr>
        <p:spPr>
          <a:xfrm>
            <a:off x="1041400" y="2999581"/>
            <a:ext cx="316560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A binding names a person, not a group</a:t>
            </a:r>
            <a:endParaRPr lang="en-US" sz="1500" dirty="0"/>
          </a:p>
        </p:txBody>
      </p:sp>
      <p:sp>
        <p:nvSpPr>
          <p:cNvPr id="12" name="Text 9"/>
          <p:cNvSpPr/>
          <p:nvPr/>
        </p:nvSpPr>
        <p:spPr>
          <a:xfrm>
            <a:off x="1041400" y="3507581"/>
            <a:ext cx="316560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7"/>
                </a:solidFill>
                <a:latin typeface="Arial" pitchFamily="34" charset="0"/>
                <a:ea typeface="Arial" pitchFamily="34" charset="-122"/>
                <a:cs typeface="Arial" pitchFamily="34" charset="-120"/>
              </a:rPr>
              <a:t>12 direct user grants across 5 namespaces, 3 of them admin or cluster-admin.</a:t>
            </a:r>
            <a:endParaRPr lang="en-US" sz="1200" dirty="0"/>
          </a:p>
        </p:txBody>
      </p:sp>
      <p:sp>
        <p:nvSpPr>
          <p:cNvPr id="13" name="Shape 10"/>
          <p:cNvSpPr/>
          <p:nvPr/>
        </p:nvSpPr>
        <p:spPr>
          <a:xfrm>
            <a:off x="4368800" y="3195737"/>
            <a:ext cx="7010400" cy="527050"/>
          </a:xfrm>
          <a:prstGeom prst="roundRect">
            <a:avLst>
              <a:gd name="adj" fmla="val 14458"/>
            </a:avLst>
          </a:prstGeom>
          <a:solidFill>
            <a:srgbClr val="FFFFFF"/>
          </a:solidFill>
          <a:ln/>
        </p:spPr>
      </p:sp>
      <p:pic>
        <p:nvPicPr>
          <p:cNvPr id="14" name="Image 1" descr="Overview alert: 12 direct user grants across 5 namespaces, 3 granting admin or cluster-admin; these survive offboarding.">    </p:cNvPr>
          <p:cNvPicPr>
            <a:picLocks noChangeAspect="1"/>
          </p:cNvPicPr>
          <p:nvPr/>
        </p:nvPicPr>
        <p:blipFill>
          <a:blip r:embed="rId2"/>
          <a:stretch>
            <a:fillRect/>
          </a:stretch>
        </p:blipFill>
        <p:spPr>
          <a:xfrm>
            <a:off x="4455085" y="3202087"/>
            <a:ext cx="6837829" cy="514350"/>
          </a:xfrm>
          <a:prstGeom prst="rect">
            <a:avLst/>
          </a:prstGeom>
        </p:spPr>
      </p:pic>
      <p:sp>
        <p:nvSpPr>
          <p:cNvPr id="15" name="Shape 11"/>
          <p:cNvSpPr/>
          <p:nvPr/>
        </p:nvSpPr>
        <p:spPr>
          <a:xfrm>
            <a:off x="4371975" y="3198912"/>
            <a:ext cx="7004050" cy="520700"/>
          </a:xfrm>
          <a:prstGeom prst="roundRect">
            <a:avLst>
              <a:gd name="adj" fmla="val 14024"/>
            </a:avLst>
          </a:prstGeom>
          <a:noFill/>
          <a:ln w="6350">
            <a:solidFill>
              <a:srgbClr val="D7DCE3"/>
            </a:solidFill>
            <a:prstDash val="solid"/>
          </a:ln>
        </p:spPr>
      </p:sp>
      <p:sp>
        <p:nvSpPr>
          <p:cNvPr id="16" name="Shape 12"/>
          <p:cNvSpPr/>
          <p:nvPr/>
        </p:nvSpPr>
        <p:spPr>
          <a:xfrm>
            <a:off x="850900" y="4097437"/>
            <a:ext cx="0" cy="919361"/>
          </a:xfrm>
          <a:prstGeom prst="line">
            <a:avLst/>
          </a:prstGeom>
          <a:noFill/>
          <a:ln w="76200">
            <a:solidFill>
              <a:srgbClr val="B3261E"/>
            </a:solidFill>
            <a:prstDash val="solid"/>
          </a:ln>
        </p:spPr>
      </p:sp>
      <p:sp>
        <p:nvSpPr>
          <p:cNvPr id="17" name="Text 13"/>
          <p:cNvSpPr/>
          <p:nvPr/>
        </p:nvSpPr>
        <p:spPr>
          <a:xfrm>
            <a:off x="1041400" y="4097437"/>
            <a:ext cx="3165602"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A group silently stopped being refreshed</a:t>
            </a:r>
            <a:endParaRPr lang="en-US" sz="1500" dirty="0"/>
          </a:p>
        </p:txBody>
      </p:sp>
      <p:sp>
        <p:nvSpPr>
          <p:cNvPr id="18" name="Text 14"/>
          <p:cNvSpPr/>
          <p:nvPr/>
        </p:nvSpPr>
        <p:spPr>
          <a:xfrm>
            <a:off x="1041400" y="4605437"/>
            <a:ext cx="316560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E4A57"/>
                </a:solidFill>
                <a:latin typeface="Arial" pitchFamily="34" charset="0"/>
                <a:ea typeface="Arial" pitchFamily="34" charset="-122"/>
                <a:cs typeface="Arial" pitchFamily="34" charset="-120"/>
              </a:rPr>
              <a:t>ldap-sync overdue on 3 clusters: last sync 24 days before, the schedule has stopped firing.</a:t>
            </a:r>
            <a:endParaRPr lang="en-US" sz="1200" dirty="0"/>
          </a:p>
        </p:txBody>
      </p:sp>
      <p:sp>
        <p:nvSpPr>
          <p:cNvPr id="19" name="Shape 15"/>
          <p:cNvSpPr/>
          <p:nvPr/>
        </p:nvSpPr>
        <p:spPr>
          <a:xfrm>
            <a:off x="4368800" y="4096742"/>
            <a:ext cx="7010400" cy="920750"/>
          </a:xfrm>
          <a:prstGeom prst="roundRect">
            <a:avLst>
              <a:gd name="adj" fmla="val 8276"/>
            </a:avLst>
          </a:prstGeom>
          <a:solidFill>
            <a:srgbClr val="FFFFFF"/>
          </a:solidFill>
          <a:ln/>
        </p:spPr>
      </p:sp>
      <p:pic>
        <p:nvPicPr>
          <p:cNvPr id="20" name="Image 2" descr="Overview alerts: ldap-sync overdue on mock-privateca, mock-selfsigned and mock-trusted; last sync 2026-09-14, the schedule has stopped firing.">    </p:cNvPr>
          <p:cNvPicPr>
            <a:picLocks noChangeAspect="1"/>
          </p:cNvPicPr>
          <p:nvPr/>
        </p:nvPicPr>
        <p:blipFill>
          <a:blip r:embed="rId3"/>
          <a:srcRect l="-466" r="-466" t="0" b="0"/>
          <a:stretch/>
        </p:blipFill>
        <p:spPr>
          <a:xfrm>
            <a:off x="4375150" y="4103092"/>
            <a:ext cx="6997700" cy="908050"/>
          </a:xfrm>
          <a:prstGeom prst="roundRect">
            <a:avLst>
              <a:gd name="adj" fmla="val 7692"/>
            </a:avLst>
          </a:prstGeom>
        </p:spPr>
      </p:pic>
      <p:sp>
        <p:nvSpPr>
          <p:cNvPr id="21" name="Shape 16"/>
          <p:cNvSpPr/>
          <p:nvPr/>
        </p:nvSpPr>
        <p:spPr>
          <a:xfrm>
            <a:off x="4371975" y="4099917"/>
            <a:ext cx="7004050" cy="914400"/>
          </a:xfrm>
          <a:prstGeom prst="roundRect">
            <a:avLst>
              <a:gd name="adj" fmla="val 7986"/>
            </a:avLst>
          </a:prstGeom>
          <a:noFill/>
          <a:ln w="6350">
            <a:solidFill>
              <a:srgbClr val="D7DCE3"/>
            </a:solidFill>
            <a:prstDash val="solid"/>
          </a:ln>
        </p:spPr>
      </p:sp>
      <p:sp>
        <p:nvSpPr>
          <p:cNvPr id="22" name="Text 17"/>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Screenshots: Access granted and Overview, light theme, the lab at 5.8.0 on 2026-10-08</a:t>
            </a:r>
            <a:endParaRPr lang="en-US" sz="1200" dirty="0"/>
          </a:p>
        </p:txBody>
      </p:sp>
      <p:sp>
        <p:nvSpPr>
          <p:cNvPr id="23" name="Text 18"/>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4 / 26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WHY NOW</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Two needs, one source of truth</a:t>
            </a:r>
            <a:endParaRPr lang="en-US" sz="3000" dirty="0"/>
          </a:p>
        </p:txBody>
      </p:sp>
      <p:sp>
        <p:nvSpPr>
          <p:cNvPr id="4" name="Shape 2"/>
          <p:cNvSpPr/>
          <p:nvPr/>
        </p:nvSpPr>
        <p:spPr>
          <a:xfrm>
            <a:off x="812800" y="1953220"/>
            <a:ext cx="5156200" cy="1916807"/>
          </a:xfrm>
          <a:prstGeom prst="roundRect">
            <a:avLst>
              <a:gd name="adj" fmla="val 3975"/>
            </a:avLst>
          </a:prstGeom>
          <a:solidFill>
            <a:srgbClr val="FCFCFA"/>
          </a:solidFill>
          <a:ln/>
          <a:effectLst>
            <a:outerShdw sx="100000" sy="100000" kx="0" ky="0" algn="bl" rotWithShape="0" blurRad="6350" dist="0" dir="60000">
              <a:srgbClr val="D7DCE3">
                <a:alpha val="100000"/>
              </a:srgbClr>
            </a:outerShdw>
          </a:effectLst>
        </p:spPr>
      </p:sp>
      <p:sp>
        <p:nvSpPr>
          <p:cNvPr id="5" name="Shape 3"/>
          <p:cNvSpPr/>
          <p:nvPr/>
        </p:nvSpPr>
        <p:spPr>
          <a:xfrm>
            <a:off x="812800" y="1953220"/>
            <a:ext cx="5156200" cy="1916807"/>
          </a:xfrm>
          <a:custGeom>
            <a:avLst/>
            <a:gdLst/>
            <a:ahLst/>
            <a:cxnLst/>
            <a:rect l="l" t="t" r="r" b="b"/>
            <a:pathLst>
              <a:path w="5156200" h="1916807">
                <a:moveTo>
                  <a:pt x="0" y="76200"/>
                </a:moveTo>
                <a:lnTo>
                  <a:pt x="0" y="76200"/>
                </a:lnTo>
                <a:arcTo hR="76200" wR="76200" stAng="10800000" swAng="5400000"/>
                <a:lnTo>
                  <a:pt x="5080000" y="0"/>
                </a:lnTo>
                <a:arcTo hR="76200" wR="76200" stAng="16200000" swAng="5400000"/>
                <a:lnTo>
                  <a:pt x="5156200" y="76200"/>
                </a:lnTo>
                <a:lnTo>
                  <a:pt x="0" y="76200"/>
                </a:lnTo>
                <a:close/>
              </a:path>
            </a:pathLst>
          </a:custGeom>
          <a:solidFill>
            <a:srgbClr val="B3261E"/>
          </a:solidFill>
          <a:ln/>
        </p:spPr>
      </p:sp>
      <p:sp>
        <p:nvSpPr>
          <p:cNvPr id="6" name="Text 4"/>
          <p:cNvSpPr/>
          <p:nvPr/>
        </p:nvSpPr>
        <p:spPr>
          <a:xfrm>
            <a:off x="1016000" y="2232620"/>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Self-service</a:t>
            </a:r>
            <a:endParaRPr lang="en-US" sz="1600" dirty="0"/>
          </a:p>
        </p:txBody>
      </p:sp>
      <p:sp>
        <p:nvSpPr>
          <p:cNvPr id="7" name="Text 5"/>
          <p:cNvSpPr/>
          <p:nvPr/>
        </p:nvSpPr>
        <p:spPr>
          <a:xfrm>
            <a:off x="1016000" y="2552601"/>
            <a:ext cx="489229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Everyone can answer “what access do I have, and how did I get it” without a ticket, an oc login with rights they do not have, or a platform engineer.</a:t>
            </a:r>
            <a:endParaRPr lang="en-US" sz="1300" dirty="0"/>
          </a:p>
        </p:txBody>
      </p:sp>
      <p:sp>
        <p:nvSpPr>
          <p:cNvPr id="8" name="Shape 6"/>
          <p:cNvSpPr/>
          <p:nvPr/>
        </p:nvSpPr>
        <p:spPr>
          <a:xfrm>
            <a:off x="6223000" y="1953220"/>
            <a:ext cx="5156200" cy="1916807"/>
          </a:xfrm>
          <a:prstGeom prst="roundRect">
            <a:avLst>
              <a:gd name="adj" fmla="val 3975"/>
            </a:avLst>
          </a:prstGeom>
          <a:solidFill>
            <a:srgbClr val="FCFCFA"/>
          </a:solidFill>
          <a:ln/>
          <a:effectLst>
            <a:outerShdw sx="100000" sy="100000" kx="0" ky="0" algn="bl" rotWithShape="0" blurRad="6350" dist="0" dir="60000">
              <a:srgbClr val="D7DCE3">
                <a:alpha val="100000"/>
              </a:srgbClr>
            </a:outerShdw>
          </a:effectLst>
        </p:spPr>
      </p:sp>
      <p:sp>
        <p:nvSpPr>
          <p:cNvPr id="9" name="Shape 7"/>
          <p:cNvSpPr/>
          <p:nvPr/>
        </p:nvSpPr>
        <p:spPr>
          <a:xfrm>
            <a:off x="6223000" y="1953220"/>
            <a:ext cx="5156200" cy="1916807"/>
          </a:xfrm>
          <a:custGeom>
            <a:avLst/>
            <a:gdLst/>
            <a:ahLst/>
            <a:cxnLst/>
            <a:rect l="l" t="t" r="r" b="b"/>
            <a:pathLst>
              <a:path w="5156200" h="1916807">
                <a:moveTo>
                  <a:pt x="0" y="76200"/>
                </a:moveTo>
                <a:lnTo>
                  <a:pt x="0" y="76200"/>
                </a:lnTo>
                <a:arcTo hR="76200" wR="76200" stAng="10800000" swAng="5400000"/>
                <a:lnTo>
                  <a:pt x="5080000" y="0"/>
                </a:lnTo>
                <a:arcTo hR="76200" wR="76200" stAng="16200000" swAng="5400000"/>
                <a:lnTo>
                  <a:pt x="5156200" y="76200"/>
                </a:lnTo>
                <a:lnTo>
                  <a:pt x="0" y="76200"/>
                </a:lnTo>
                <a:close/>
              </a:path>
            </a:pathLst>
          </a:custGeom>
          <a:solidFill>
            <a:srgbClr val="B3261E"/>
          </a:solidFill>
          <a:ln/>
        </p:spPr>
      </p:sp>
      <p:sp>
        <p:nvSpPr>
          <p:cNvPr id="10" name="Text 8"/>
          <p:cNvSpPr/>
          <p:nvPr/>
        </p:nvSpPr>
        <p:spPr>
          <a:xfrm>
            <a:off x="6426200" y="2232620"/>
            <a:ext cx="489229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Quarterly access review</a:t>
            </a:r>
            <a:endParaRPr lang="en-US" sz="1600" dirty="0"/>
          </a:p>
        </p:txBody>
      </p:sp>
      <p:sp>
        <p:nvSpPr>
          <p:cNvPr id="11" name="Text 9"/>
          <p:cNvSpPr/>
          <p:nvPr/>
        </p:nvSpPr>
        <p:spPr>
          <a:xfrm>
            <a:off x="6426200" y="2552601"/>
            <a:ext cx="4892294" cy="1139627"/>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Auditors need evidence that names the access, the reviewer, the time and the outcome, and shows what changed since the last review. SOC 2, ISO 27001 A.5.18 (which replaced A.9.2.5 of the 2013 edition) and SOX centre on dormant, orphaned and privileged access.</a:t>
            </a:r>
            <a:endParaRPr lang="en-US" sz="1300" dirty="0"/>
          </a:p>
        </p:txBody>
      </p:sp>
      <p:sp>
        <p:nvSpPr>
          <p:cNvPr id="12" name="Text 10"/>
          <p:cNvSpPr/>
          <p:nvPr/>
        </p:nvSpPr>
        <p:spPr>
          <a:xfrm>
            <a:off x="812800" y="4124027"/>
            <a:ext cx="1137920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8212C"/>
                </a:solidFill>
                <a:latin typeface="Arial" pitchFamily="34" charset="0"/>
                <a:ea typeface="Arial" pitchFamily="34" charset="-122"/>
                <a:cs typeface="Arial" pitchFamily="34" charset="-120"/>
              </a:rPr>
              <a:t>The same observed data answers both: one view of access per person, and evidence for the review, drawn from it.</a:t>
            </a:r>
            <a:endParaRPr lang="en-US" sz="1500" dirty="0"/>
          </a:p>
        </p:txBody>
      </p:sp>
      <p:sp>
        <p:nvSpPr>
          <p:cNvPr id="13" name="Text 11"/>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Sources: ACCESS_CONTROL.md (the self tier's purpose) · DESIGN_reporting_service.md (compliance guidance)</a:t>
            </a:r>
            <a:endParaRPr lang="en-US" sz="1200" dirty="0"/>
          </a:p>
        </p:txBody>
      </p:sp>
      <p:sp>
        <p:nvSpPr>
          <p:cNvPr id="14" name="Text 12"/>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5 / 26</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THE TOOL</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What it is</a:t>
            </a:r>
            <a:endParaRPr lang="en-US" sz="3000" dirty="0"/>
          </a:p>
        </p:txBody>
      </p:sp>
      <p:sp>
        <p:nvSpPr>
          <p:cNvPr id="4" name="Shape 2"/>
          <p:cNvSpPr/>
          <p:nvPr/>
        </p:nvSpPr>
        <p:spPr>
          <a:xfrm>
            <a:off x="812800" y="1953220"/>
            <a:ext cx="5181600" cy="1248271"/>
          </a:xfrm>
          <a:prstGeom prst="roundRect">
            <a:avLst>
              <a:gd name="adj" fmla="val 6104"/>
            </a:avLst>
          </a:prstGeom>
          <a:solidFill>
            <a:srgbClr val="FCFCFA"/>
          </a:solidFill>
          <a:ln/>
          <a:effectLst>
            <a:outerShdw sx="100000" sy="100000" kx="0" ky="0" algn="bl" rotWithShape="0" blurRad="6350" dist="0" dir="60000">
              <a:srgbClr val="D7DCE3">
                <a:alpha val="100000"/>
              </a:srgbClr>
            </a:outerShdw>
          </a:effectLst>
        </p:spPr>
      </p:sp>
      <p:sp>
        <p:nvSpPr>
          <p:cNvPr id="5" name="Shape 3"/>
          <p:cNvSpPr/>
          <p:nvPr/>
        </p:nvSpPr>
        <p:spPr>
          <a:xfrm>
            <a:off x="812800" y="1953220"/>
            <a:ext cx="5181600" cy="1248271"/>
          </a:xfrm>
          <a:custGeom>
            <a:avLst/>
            <a:gdLst/>
            <a:ahLst/>
            <a:cxnLst/>
            <a:rect l="l" t="t" r="r" b="b"/>
            <a:pathLst>
              <a:path w="5181600" h="1248271">
                <a:moveTo>
                  <a:pt x="0" y="76200"/>
                </a:moveTo>
                <a:lnTo>
                  <a:pt x="0" y="76200"/>
                </a:lnTo>
                <a:arcTo hR="76200" wR="76200" stAng="10800000" swAng="5400000"/>
                <a:lnTo>
                  <a:pt x="5105400" y="0"/>
                </a:lnTo>
                <a:arcTo hR="76200" wR="76200" stAng="16200000" swAng="5400000"/>
                <a:lnTo>
                  <a:pt x="5181600" y="76200"/>
                </a:lnTo>
                <a:lnTo>
                  <a:pt x="0" y="76200"/>
                </a:lnTo>
                <a:close/>
              </a:path>
            </a:pathLst>
          </a:custGeom>
          <a:solidFill>
            <a:srgbClr val="0E6F68"/>
          </a:solidFill>
          <a:ln/>
        </p:spPr>
      </p:sp>
      <p:sp>
        <p:nvSpPr>
          <p:cNvPr id="6" name="Text 4"/>
          <p:cNvSpPr/>
          <p:nvPr/>
        </p:nvSpPr>
        <p:spPr>
          <a:xfrm>
            <a:off x="1016000" y="223262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Read-only</a:t>
            </a:r>
            <a:endParaRPr lang="en-US" sz="1600" dirty="0"/>
          </a:p>
        </p:txBody>
      </p:sp>
      <p:sp>
        <p:nvSpPr>
          <p:cNvPr id="7" name="Text 5"/>
          <p:cNvSpPr/>
          <p:nvPr/>
        </p:nvSpPr>
        <p:spPr>
          <a:xfrm>
            <a:off x="1016000" y="2552601"/>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It observes; it never creates or edits a GroupSync CR, a binding or a group.</a:t>
            </a:r>
            <a:endParaRPr lang="en-US" sz="1300" dirty="0"/>
          </a:p>
        </p:txBody>
      </p:sp>
      <p:sp>
        <p:nvSpPr>
          <p:cNvPr id="8" name="Shape 6"/>
          <p:cNvSpPr/>
          <p:nvPr/>
        </p:nvSpPr>
        <p:spPr>
          <a:xfrm>
            <a:off x="6197600" y="1953220"/>
            <a:ext cx="5181600" cy="1248271"/>
          </a:xfrm>
          <a:prstGeom prst="roundRect">
            <a:avLst>
              <a:gd name="adj" fmla="val 6104"/>
            </a:avLst>
          </a:prstGeom>
          <a:solidFill>
            <a:srgbClr val="FCFCFA"/>
          </a:solidFill>
          <a:ln/>
          <a:effectLst>
            <a:outerShdw sx="100000" sy="100000" kx="0" ky="0" algn="bl" rotWithShape="0" blurRad="6350" dist="0" dir="60000">
              <a:srgbClr val="D7DCE3">
                <a:alpha val="100000"/>
              </a:srgbClr>
            </a:outerShdw>
          </a:effectLst>
        </p:spPr>
      </p:sp>
      <p:sp>
        <p:nvSpPr>
          <p:cNvPr id="9" name="Shape 7"/>
          <p:cNvSpPr/>
          <p:nvPr/>
        </p:nvSpPr>
        <p:spPr>
          <a:xfrm>
            <a:off x="6197600" y="1953220"/>
            <a:ext cx="5181600" cy="1248271"/>
          </a:xfrm>
          <a:custGeom>
            <a:avLst/>
            <a:gdLst/>
            <a:ahLst/>
            <a:cxnLst/>
            <a:rect l="l" t="t" r="r" b="b"/>
            <a:pathLst>
              <a:path w="5181600" h="1248271">
                <a:moveTo>
                  <a:pt x="0" y="76200"/>
                </a:moveTo>
                <a:lnTo>
                  <a:pt x="0" y="76200"/>
                </a:lnTo>
                <a:arcTo hR="76200" wR="76200" stAng="10800000" swAng="5400000"/>
                <a:lnTo>
                  <a:pt x="5105400" y="0"/>
                </a:lnTo>
                <a:arcTo hR="76200" wR="76200" stAng="16200000" swAng="5400000"/>
                <a:lnTo>
                  <a:pt x="5181600" y="76200"/>
                </a:lnTo>
                <a:lnTo>
                  <a:pt x="0" y="76200"/>
                </a:lnTo>
                <a:close/>
              </a:path>
            </a:pathLst>
          </a:custGeom>
          <a:solidFill>
            <a:srgbClr val="0E6F68"/>
          </a:solidFill>
          <a:ln/>
        </p:spPr>
      </p:sp>
      <p:sp>
        <p:nvSpPr>
          <p:cNvPr id="10" name="Text 8"/>
          <p:cNvSpPr/>
          <p:nvPr/>
        </p:nvSpPr>
        <p:spPr>
          <a:xfrm>
            <a:off x="6400800" y="2232620"/>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Every cluster, one view</a:t>
            </a:r>
            <a:endParaRPr lang="en-US" sz="1600" dirty="0"/>
          </a:p>
        </p:txBody>
      </p:sp>
      <p:sp>
        <p:nvSpPr>
          <p:cNvPr id="11" name="Text 9"/>
          <p:cNvSpPr/>
          <p:nvPr/>
        </p:nvSpPr>
        <p:spPr>
          <a:xfrm>
            <a:off x="6400800" y="2552601"/>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One dashboard on the host cluster reads every joined cluster, each with that cluster's own token.</a:t>
            </a:r>
            <a:endParaRPr lang="en-US" sz="1300" dirty="0"/>
          </a:p>
        </p:txBody>
      </p:sp>
      <p:sp>
        <p:nvSpPr>
          <p:cNvPr id="12" name="Shape 10"/>
          <p:cNvSpPr/>
          <p:nvPr/>
        </p:nvSpPr>
        <p:spPr>
          <a:xfrm>
            <a:off x="812800" y="3404691"/>
            <a:ext cx="5181600" cy="1248271"/>
          </a:xfrm>
          <a:prstGeom prst="roundRect">
            <a:avLst>
              <a:gd name="adj" fmla="val 6104"/>
            </a:avLst>
          </a:prstGeom>
          <a:solidFill>
            <a:srgbClr val="FCFCFA"/>
          </a:solidFill>
          <a:ln/>
          <a:effectLst>
            <a:outerShdw sx="100000" sy="100000" kx="0" ky="0" algn="bl" rotWithShape="0" blurRad="6350" dist="0" dir="60000">
              <a:srgbClr val="D7DCE3">
                <a:alpha val="100000"/>
              </a:srgbClr>
            </a:outerShdw>
          </a:effectLst>
        </p:spPr>
      </p:sp>
      <p:sp>
        <p:nvSpPr>
          <p:cNvPr id="13" name="Shape 11"/>
          <p:cNvSpPr/>
          <p:nvPr/>
        </p:nvSpPr>
        <p:spPr>
          <a:xfrm>
            <a:off x="812800" y="3404691"/>
            <a:ext cx="5181600" cy="1248271"/>
          </a:xfrm>
          <a:custGeom>
            <a:avLst/>
            <a:gdLst/>
            <a:ahLst/>
            <a:cxnLst/>
            <a:rect l="l" t="t" r="r" b="b"/>
            <a:pathLst>
              <a:path w="5181600" h="1248271">
                <a:moveTo>
                  <a:pt x="0" y="76200"/>
                </a:moveTo>
                <a:lnTo>
                  <a:pt x="0" y="76200"/>
                </a:lnTo>
                <a:arcTo hR="76200" wR="76200" stAng="10800000" swAng="5400000"/>
                <a:lnTo>
                  <a:pt x="5105400" y="0"/>
                </a:lnTo>
                <a:arcTo hR="76200" wR="76200" stAng="16200000" swAng="5400000"/>
                <a:lnTo>
                  <a:pt x="5181600" y="76200"/>
                </a:lnTo>
                <a:lnTo>
                  <a:pt x="0" y="76200"/>
                </a:lnTo>
                <a:close/>
              </a:path>
            </a:pathLst>
          </a:custGeom>
          <a:solidFill>
            <a:srgbClr val="0E6F68"/>
          </a:solidFill>
          <a:ln/>
        </p:spPr>
      </p:sp>
      <p:sp>
        <p:nvSpPr>
          <p:cNvPr id="14" name="Text 12"/>
          <p:cNvSpPr/>
          <p:nvPr/>
        </p:nvSpPr>
        <p:spPr>
          <a:xfrm>
            <a:off x="1016000" y="3684091"/>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Signed in with OpenShift</a:t>
            </a:r>
            <a:endParaRPr lang="en-US" sz="1600" dirty="0"/>
          </a:p>
        </p:txBody>
      </p:sp>
      <p:sp>
        <p:nvSpPr>
          <p:cNvPr id="15" name="Text 13"/>
          <p:cNvSpPr/>
          <p:nvPr/>
        </p:nvSpPr>
        <p:spPr>
          <a:xfrm>
            <a:off x="1016000" y="4004072"/>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People log in the way they already do; the cluster decides what each person may see.</a:t>
            </a:r>
            <a:endParaRPr lang="en-US" sz="1300" dirty="0"/>
          </a:p>
        </p:txBody>
      </p:sp>
      <p:sp>
        <p:nvSpPr>
          <p:cNvPr id="16" name="Shape 14"/>
          <p:cNvSpPr/>
          <p:nvPr/>
        </p:nvSpPr>
        <p:spPr>
          <a:xfrm>
            <a:off x="6197600" y="3404691"/>
            <a:ext cx="5181600" cy="1248271"/>
          </a:xfrm>
          <a:prstGeom prst="roundRect">
            <a:avLst>
              <a:gd name="adj" fmla="val 6104"/>
            </a:avLst>
          </a:prstGeom>
          <a:solidFill>
            <a:srgbClr val="FCFCFA"/>
          </a:solidFill>
          <a:ln/>
          <a:effectLst>
            <a:outerShdw sx="100000" sy="100000" kx="0" ky="0" algn="bl" rotWithShape="0" blurRad="6350" dist="0" dir="60000">
              <a:srgbClr val="D7DCE3">
                <a:alpha val="100000"/>
              </a:srgbClr>
            </a:outerShdw>
          </a:effectLst>
        </p:spPr>
      </p:sp>
      <p:sp>
        <p:nvSpPr>
          <p:cNvPr id="17" name="Shape 15"/>
          <p:cNvSpPr/>
          <p:nvPr/>
        </p:nvSpPr>
        <p:spPr>
          <a:xfrm>
            <a:off x="6197600" y="3404691"/>
            <a:ext cx="5181600" cy="1248271"/>
          </a:xfrm>
          <a:custGeom>
            <a:avLst/>
            <a:gdLst/>
            <a:ahLst/>
            <a:cxnLst/>
            <a:rect l="l" t="t" r="r" b="b"/>
            <a:pathLst>
              <a:path w="5181600" h="1248271">
                <a:moveTo>
                  <a:pt x="0" y="76200"/>
                </a:moveTo>
                <a:lnTo>
                  <a:pt x="0" y="76200"/>
                </a:lnTo>
                <a:arcTo hR="76200" wR="76200" stAng="10800000" swAng="5400000"/>
                <a:lnTo>
                  <a:pt x="5105400" y="0"/>
                </a:lnTo>
                <a:arcTo hR="76200" wR="76200" stAng="16200000" swAng="5400000"/>
                <a:lnTo>
                  <a:pt x="5181600" y="76200"/>
                </a:lnTo>
                <a:lnTo>
                  <a:pt x="0" y="76200"/>
                </a:lnTo>
                <a:close/>
              </a:path>
            </a:pathLst>
          </a:custGeom>
          <a:solidFill>
            <a:srgbClr val="A55A0B"/>
          </a:solidFill>
          <a:ln/>
        </p:spPr>
      </p:sp>
      <p:sp>
        <p:nvSpPr>
          <p:cNvPr id="18" name="Text 16"/>
          <p:cNvSpPr/>
          <p:nvPr/>
        </p:nvSpPr>
        <p:spPr>
          <a:xfrm>
            <a:off x="6400800" y="3684091"/>
            <a:ext cx="491845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Evidence on demand and on schedule</a:t>
            </a:r>
            <a:endParaRPr lang="en-US" sz="1600" dirty="0"/>
          </a:p>
        </p:txBody>
      </p:sp>
      <p:sp>
        <p:nvSpPr>
          <p:cNvPr id="19" name="Text 17"/>
          <p:cNvSpPr/>
          <p:nvPr/>
        </p:nvSpPr>
        <p:spPr>
          <a:xfrm>
            <a:off x="6400800" y="4004072"/>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Eleven reports as PDF/A, HTML, CSV and JSON, generated by hand or by a schedule.</a:t>
            </a:r>
            <a:endParaRPr lang="en-US" sz="1300" dirty="0"/>
          </a:p>
        </p:txBody>
      </p:sp>
      <p:sp>
        <p:nvSpPr>
          <p:cNvPr id="20" name="Text 18"/>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 README · the chart's templates · the reports catalogue</a:t>
            </a:r>
            <a:endParaRPr lang="en-US" sz="1200" dirty="0"/>
          </a:p>
        </p:txBody>
      </p:sp>
      <p:sp>
        <p:nvSpPr>
          <p:cNvPr id="21" name="Text 19"/>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6 / 26</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OVERVIEW</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Every cluster on one page</a:t>
            </a:r>
            <a:endParaRPr lang="en-US" sz="3000" dirty="0"/>
          </a:p>
        </p:txBody>
      </p:sp>
      <p:sp>
        <p:nvSpPr>
          <p:cNvPr id="4" name="Shape 2"/>
          <p:cNvSpPr/>
          <p:nvPr/>
        </p:nvSpPr>
        <p:spPr>
          <a:xfrm>
            <a:off x="850900" y="1953220"/>
            <a:ext cx="0" cy="668536"/>
          </a:xfrm>
          <a:prstGeom prst="line">
            <a:avLst/>
          </a:prstGeom>
          <a:noFill/>
          <a:ln w="76200">
            <a:solidFill>
              <a:srgbClr val="0E6F68"/>
            </a:solidFill>
            <a:prstDash val="solid"/>
          </a:ln>
        </p:spPr>
      </p:sp>
      <p:sp>
        <p:nvSpPr>
          <p:cNvPr id="5" name="Text 3"/>
          <p:cNvSpPr/>
          <p:nvPr/>
        </p:nvSpPr>
        <p:spPr>
          <a:xfrm>
            <a:off x="1041400" y="1953220"/>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One card per joined cluster: reachable or not, its groups, the bindings to review and its oldest sync.</a:t>
            </a:r>
            <a:endParaRPr lang="en-US" sz="1300" dirty="0"/>
          </a:p>
        </p:txBody>
      </p:sp>
      <p:sp>
        <p:nvSpPr>
          <p:cNvPr id="6" name="Shape 4"/>
          <p:cNvSpPr/>
          <p:nvPr/>
        </p:nvSpPr>
        <p:spPr>
          <a:xfrm>
            <a:off x="850900" y="2799556"/>
            <a:ext cx="0" cy="668536"/>
          </a:xfrm>
          <a:prstGeom prst="line">
            <a:avLst/>
          </a:prstGeom>
          <a:noFill/>
          <a:ln w="76200">
            <a:solidFill>
              <a:srgbClr val="B3261E"/>
            </a:solidFill>
            <a:prstDash val="solid"/>
          </a:ln>
        </p:spPr>
      </p:sp>
      <p:sp>
        <p:nvSpPr>
          <p:cNvPr id="7" name="Text 5"/>
          <p:cNvSpPr/>
          <p:nvPr/>
        </p:nvSpPr>
        <p:spPr>
          <a:xfrm>
            <a:off x="1041400" y="2799556"/>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Alerts from every cluster in one list, worst first: 12 across 6 clusters, 3 critical, on the lab.</a:t>
            </a:r>
            <a:endParaRPr lang="en-US" sz="1300" dirty="0"/>
          </a:p>
        </p:txBody>
      </p:sp>
      <p:sp>
        <p:nvSpPr>
          <p:cNvPr id="8" name="Shape 6"/>
          <p:cNvSpPr/>
          <p:nvPr/>
        </p:nvSpPr>
        <p:spPr>
          <a:xfrm>
            <a:off x="850900" y="3645892"/>
            <a:ext cx="0" cy="668536"/>
          </a:xfrm>
          <a:prstGeom prst="line">
            <a:avLst/>
          </a:prstGeom>
          <a:noFill/>
          <a:ln w="76200">
            <a:solidFill>
              <a:srgbClr val="0E6F68"/>
            </a:solidFill>
            <a:prstDash val="solid"/>
          </a:ln>
        </p:spPr>
      </p:sp>
      <p:sp>
        <p:nvSpPr>
          <p:cNvPr id="9" name="Text 7"/>
          <p:cNvSpPr/>
          <p:nvPr/>
        </p:nvSpPr>
        <p:spPr>
          <a:xfrm>
            <a:off x="1041400" y="3645892"/>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Each alert says what to check, for example “synced with zero members — check the LDAP-side member DNs resolve”.</a:t>
            </a:r>
            <a:endParaRPr lang="en-US" sz="1300" dirty="0"/>
          </a:p>
        </p:txBody>
      </p:sp>
      <p:sp>
        <p:nvSpPr>
          <p:cNvPr id="10" name="Shape 8"/>
          <p:cNvSpPr/>
          <p:nvPr/>
        </p:nvSpPr>
        <p:spPr>
          <a:xfrm>
            <a:off x="4724400" y="1953220"/>
            <a:ext cx="6604000" cy="2654300"/>
          </a:xfrm>
          <a:prstGeom prst="roundRect">
            <a:avLst>
              <a:gd name="adj" fmla="val 2871"/>
            </a:avLst>
          </a:prstGeom>
          <a:solidFill>
            <a:srgbClr val="FFFFFF"/>
          </a:solidFill>
          <a:ln/>
        </p:spPr>
      </p:sp>
      <p:pic>
        <p:nvPicPr>
          <p:cNvPr id="11" name="Image 0" descr="Overview: six cluster cards, each reachable with its groups, bindings to review and oldest last sync; 12 alerts across 6 clusters, 3 critical.">    </p:cNvPr>
          <p:cNvPicPr>
            <a:picLocks noChangeAspect="1"/>
          </p:cNvPicPr>
          <p:nvPr/>
        </p:nvPicPr>
        <p:blipFill>
          <a:blip r:embed="rId1"/>
          <a:srcRect l="-123" r="-123" t="0" b="0"/>
          <a:stretch/>
        </p:blipFill>
        <p:spPr>
          <a:xfrm>
            <a:off x="4730750" y="1959570"/>
            <a:ext cx="6591300" cy="2641600"/>
          </a:xfrm>
          <a:prstGeom prst="roundRect">
            <a:avLst>
              <a:gd name="adj" fmla="val 2644"/>
            </a:avLst>
          </a:prstGeom>
        </p:spPr>
      </p:pic>
      <p:sp>
        <p:nvSpPr>
          <p:cNvPr id="12" name="Shape 9"/>
          <p:cNvSpPr/>
          <p:nvPr/>
        </p:nvSpPr>
        <p:spPr>
          <a:xfrm>
            <a:off x="4727575" y="1956395"/>
            <a:ext cx="6597650" cy="2647950"/>
          </a:xfrm>
          <a:prstGeom prst="roundRect">
            <a:avLst>
              <a:gd name="adj" fmla="val 2758"/>
            </a:avLst>
          </a:prstGeom>
          <a:noFill/>
          <a:ln w="6350">
            <a:solidFill>
              <a:srgbClr val="D7DCE3"/>
            </a:solidFill>
            <a:prstDash val="solid"/>
          </a:ln>
        </p:spPr>
      </p:sp>
      <p:sp>
        <p:nvSpPr>
          <p:cNvPr id="13"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Overview, light theme, the lab at 5.8.0</a:t>
            </a:r>
            <a:endParaRPr lang="en-US" sz="1200" dirty="0"/>
          </a:p>
        </p:txBody>
      </p:sp>
      <p:sp>
        <p:nvSpPr>
          <p:cNvPr id="14"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7 / 26</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0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FOR EVERYONE</a:t>
            </a:r>
            <a:endParaRPr lang="en-US" sz="1159" dirty="0"/>
          </a:p>
        </p:txBody>
      </p:sp>
      <p:sp>
        <p:nvSpPr>
          <p:cNvPr id="3" name="Text 1"/>
          <p:cNvSpPr/>
          <p:nvPr/>
        </p:nvSpPr>
        <p:spPr>
          <a:xfrm>
            <a:off x="812800" y="1269405"/>
            <a:ext cx="10883392" cy="423466"/>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Self-service: everyone sees their own access</a:t>
            </a:r>
            <a:endParaRPr lang="en-US" sz="2878" dirty="0"/>
          </a:p>
        </p:txBody>
      </p:sp>
      <p:sp>
        <p:nvSpPr>
          <p:cNvPr id="4" name="Shape 2"/>
          <p:cNvSpPr/>
          <p:nvPr/>
        </p:nvSpPr>
        <p:spPr>
          <a:xfrm>
            <a:off x="850900" y="1921470"/>
            <a:ext cx="0" cy="445691"/>
          </a:xfrm>
          <a:prstGeom prst="line">
            <a:avLst/>
          </a:prstGeom>
          <a:noFill/>
          <a:ln w="76200">
            <a:solidFill>
              <a:srgbClr val="0E6F68"/>
            </a:solidFill>
            <a:prstDash val="solid"/>
          </a:ln>
        </p:spPr>
      </p:sp>
      <p:sp>
        <p:nvSpPr>
          <p:cNvPr id="5" name="Text 3"/>
          <p:cNvSpPr/>
          <p:nvPr/>
        </p:nvSpPr>
        <p:spPr>
          <a:xfrm>
            <a:off x="1041400" y="1921470"/>
            <a:ext cx="342722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E4A57"/>
                </a:solidFill>
                <a:latin typeface="Arial" pitchFamily="34" charset="0"/>
                <a:ea typeface="Arial" pitchFamily="34" charset="-122"/>
                <a:cs typeface="Arial" pitchFamily="34" charset="-120"/>
              </a:rPr>
              <a:t>Home</a:t>
            </a:r>
            <a:r>
              <a:rPr lang="en-US" sz="1300" dirty="0">
                <a:solidFill>
                  <a:srgbClr val="3E4A57"/>
                </a:solidFill>
                <a:latin typeface="Arial" pitchFamily="34" charset="0"/>
                <a:ea typeface="Arial" pitchFamily="34" charset="-122"/>
                <a:cs typeface="Arial" pitchFamily="34" charset="-120"/>
              </a:rPr>
              <a:t> is always the reader's own access, administrators included.</a:t>
            </a:r>
            <a:endParaRPr lang="en-US" sz="1300" dirty="0"/>
          </a:p>
        </p:txBody>
      </p:sp>
      <p:sp>
        <p:nvSpPr>
          <p:cNvPr id="6" name="Shape 4"/>
          <p:cNvSpPr/>
          <p:nvPr/>
        </p:nvSpPr>
        <p:spPr>
          <a:xfrm>
            <a:off x="850900" y="2544961"/>
            <a:ext cx="0" cy="668536"/>
          </a:xfrm>
          <a:prstGeom prst="line">
            <a:avLst/>
          </a:prstGeom>
          <a:noFill/>
          <a:ln w="76200">
            <a:solidFill>
              <a:srgbClr val="0E6F68"/>
            </a:solidFill>
            <a:prstDash val="solid"/>
          </a:ln>
        </p:spPr>
      </p:sp>
      <p:sp>
        <p:nvSpPr>
          <p:cNvPr id="7" name="Text 5"/>
          <p:cNvSpPr/>
          <p:nvPr/>
        </p:nvSpPr>
        <p:spPr>
          <a:xfrm>
            <a:off x="1041400" y="2544961"/>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It shows the cluster-wide roles, the namespaces they reach and how: through a group, or a grant naming them directly.</a:t>
            </a:r>
            <a:endParaRPr lang="en-US" sz="1300" dirty="0"/>
          </a:p>
        </p:txBody>
      </p:sp>
      <p:sp>
        <p:nvSpPr>
          <p:cNvPr id="8" name="Shape 6"/>
          <p:cNvSpPr/>
          <p:nvPr/>
        </p:nvSpPr>
        <p:spPr>
          <a:xfrm>
            <a:off x="850900" y="3391297"/>
            <a:ext cx="0" cy="668536"/>
          </a:xfrm>
          <a:prstGeom prst="line">
            <a:avLst/>
          </a:prstGeom>
          <a:noFill/>
          <a:ln w="76200">
            <a:solidFill>
              <a:srgbClr val="0E6F68"/>
            </a:solidFill>
            <a:prstDash val="solid"/>
          </a:ln>
        </p:spPr>
      </p:sp>
      <p:sp>
        <p:nvSpPr>
          <p:cNvPr id="9" name="Text 7"/>
          <p:cNvSpPr/>
          <p:nvPr/>
        </p:nvSpPr>
        <p:spPr>
          <a:xfrm>
            <a:off x="1041400" y="3391297"/>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 view someone may not open shows a named refusal, never a blank page: an empty audit tab would read as a healthy cluster.</a:t>
            </a:r>
            <a:endParaRPr lang="en-US" sz="1300" dirty="0"/>
          </a:p>
        </p:txBody>
      </p:sp>
      <p:sp>
        <p:nvSpPr>
          <p:cNvPr id="10" name="Shape 8"/>
          <p:cNvSpPr/>
          <p:nvPr/>
        </p:nvSpPr>
        <p:spPr>
          <a:xfrm>
            <a:off x="4724400" y="1921470"/>
            <a:ext cx="6604000" cy="4127500"/>
          </a:xfrm>
          <a:prstGeom prst="roundRect">
            <a:avLst>
              <a:gd name="adj" fmla="val 1846"/>
            </a:avLst>
          </a:prstGeom>
          <a:solidFill>
            <a:srgbClr val="FFFFFF"/>
          </a:solidFill>
          <a:ln/>
        </p:spPr>
      </p:sp>
      <p:pic>
        <p:nvPicPr>
          <p:cNvPr id="11" name="Image 0" descr="The Home tab in the light theme: the signed-in person's access on the cluster, its cluster-wide role, the namespaces they reach and their direct grants.">    </p:cNvPr>
          <p:cNvPicPr>
            <a:picLocks noChangeAspect="1"/>
          </p:cNvPicPr>
          <p:nvPr/>
        </p:nvPicPr>
        <p:blipFill>
          <a:blip r:embed="rId1"/>
          <a:srcRect l="-58" r="-58" t="0" b="0"/>
          <a:stretch/>
        </p:blipFill>
        <p:spPr>
          <a:xfrm>
            <a:off x="4730750" y="1927820"/>
            <a:ext cx="6591300" cy="4114800"/>
          </a:xfrm>
          <a:prstGeom prst="roundRect">
            <a:avLst>
              <a:gd name="adj" fmla="val 1698"/>
            </a:avLst>
          </a:prstGeom>
        </p:spPr>
      </p:pic>
      <p:sp>
        <p:nvSpPr>
          <p:cNvPr id="12" name="Shape 9"/>
          <p:cNvSpPr/>
          <p:nvPr/>
        </p:nvSpPr>
        <p:spPr>
          <a:xfrm>
            <a:off x="4727575" y="1924645"/>
            <a:ext cx="6597650" cy="4121150"/>
          </a:xfrm>
          <a:prstGeom prst="roundRect">
            <a:avLst>
              <a:gd name="adj" fmla="val 1772"/>
            </a:avLst>
          </a:prstGeom>
          <a:noFill/>
          <a:ln w="6350">
            <a:solidFill>
              <a:srgbClr val="D7DCE3"/>
            </a:solidFill>
            <a:prstDash val="solid"/>
          </a:ln>
        </p:spPr>
      </p:sp>
      <p:sp>
        <p:nvSpPr>
          <p:cNvPr id="13"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Home, light theme, the lab at 5.8.0 · ACCESS_CONTROL.md and the README for the refusal rule</a:t>
            </a:r>
            <a:endParaRPr lang="en-US" sz="1200" dirty="0"/>
          </a:p>
        </p:txBody>
      </p:sp>
      <p:sp>
        <p:nvSpPr>
          <p:cNvPr id="14"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8 / 26</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7707"/>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SEARCH</a:t>
            </a:r>
            <a:endParaRPr lang="en-US" sz="1159" dirty="0"/>
          </a:p>
        </p:txBody>
      </p:sp>
      <p:sp>
        <p:nvSpPr>
          <p:cNvPr id="3" name="Text 1"/>
          <p:cNvSpPr/>
          <p:nvPr/>
        </p:nvSpPr>
        <p:spPr>
          <a:xfrm>
            <a:off x="812800" y="1269107"/>
            <a:ext cx="10883392" cy="422970"/>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Find anything from one box</a:t>
            </a:r>
            <a:endParaRPr lang="en-US" sz="2878" dirty="0"/>
          </a:p>
        </p:txBody>
      </p:sp>
      <p:sp>
        <p:nvSpPr>
          <p:cNvPr id="4" name="Shape 2"/>
          <p:cNvSpPr/>
          <p:nvPr/>
        </p:nvSpPr>
        <p:spPr>
          <a:xfrm>
            <a:off x="850900" y="1920677"/>
            <a:ext cx="0" cy="668536"/>
          </a:xfrm>
          <a:prstGeom prst="line">
            <a:avLst/>
          </a:prstGeom>
          <a:noFill/>
          <a:ln w="76200">
            <a:solidFill>
              <a:srgbClr val="0E6F68"/>
            </a:solidFill>
            <a:prstDash val="solid"/>
          </a:ln>
        </p:spPr>
      </p:sp>
      <p:sp>
        <p:nvSpPr>
          <p:cNvPr id="5" name="Text 3"/>
          <p:cNvSpPr/>
          <p:nvPr/>
        </p:nvSpPr>
        <p:spPr>
          <a:xfrm>
            <a:off x="1041400" y="1920677"/>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One Find box searches groups, users and namespaces together; every word must appear.</a:t>
            </a:r>
            <a:endParaRPr lang="en-US" sz="1300" dirty="0"/>
          </a:p>
        </p:txBody>
      </p:sp>
      <p:sp>
        <p:nvSpPr>
          <p:cNvPr id="6" name="Shape 4"/>
          <p:cNvSpPr/>
          <p:nvPr/>
        </p:nvSpPr>
        <p:spPr>
          <a:xfrm>
            <a:off x="850900" y="2767013"/>
            <a:ext cx="0" cy="445691"/>
          </a:xfrm>
          <a:prstGeom prst="line">
            <a:avLst/>
          </a:prstGeom>
          <a:noFill/>
          <a:ln w="76200">
            <a:solidFill>
              <a:srgbClr val="0E6F68"/>
            </a:solidFill>
            <a:prstDash val="solid"/>
          </a:ln>
        </p:spPr>
      </p:sp>
      <p:sp>
        <p:nvSpPr>
          <p:cNvPr id="7" name="Text 5"/>
          <p:cNvSpPr/>
          <p:nvPr/>
        </p:nvSpPr>
        <p:spPr>
          <a:xfrm>
            <a:off x="1041400" y="2767013"/>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“demo” finds 14 matches: 6 groups and 8 namespaces, each a link to its page.</a:t>
            </a:r>
            <a:endParaRPr lang="en-US" sz="1300" dirty="0"/>
          </a:p>
        </p:txBody>
      </p:sp>
      <p:sp>
        <p:nvSpPr>
          <p:cNvPr id="8" name="Shape 6"/>
          <p:cNvSpPr/>
          <p:nvPr/>
        </p:nvSpPr>
        <p:spPr>
          <a:xfrm>
            <a:off x="850900" y="3390503"/>
            <a:ext cx="0" cy="445691"/>
          </a:xfrm>
          <a:prstGeom prst="line">
            <a:avLst/>
          </a:prstGeom>
          <a:noFill/>
          <a:ln w="76200">
            <a:solidFill>
              <a:srgbClr val="0E6F68"/>
            </a:solidFill>
            <a:prstDash val="solid"/>
          </a:ln>
        </p:spPr>
      </p:sp>
      <p:sp>
        <p:nvSpPr>
          <p:cNvPr id="9" name="Text 7"/>
          <p:cNvSpPr/>
          <p:nvPr/>
        </p:nvSpPr>
        <p:spPr>
          <a:xfrm>
            <a:off x="1041400" y="3390503"/>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Under the results, the cluster's totals: 66 groups, 61 users, 128 namespaces.</a:t>
            </a:r>
            <a:endParaRPr lang="en-US" sz="1300" dirty="0"/>
          </a:p>
        </p:txBody>
      </p:sp>
      <p:sp>
        <p:nvSpPr>
          <p:cNvPr id="10" name="Shape 8"/>
          <p:cNvSpPr/>
          <p:nvPr/>
        </p:nvSpPr>
        <p:spPr>
          <a:xfrm>
            <a:off x="4724400" y="1920677"/>
            <a:ext cx="5207000" cy="4133850"/>
          </a:xfrm>
          <a:prstGeom prst="roundRect">
            <a:avLst>
              <a:gd name="adj" fmla="val 1843"/>
            </a:avLst>
          </a:prstGeom>
          <a:solidFill>
            <a:srgbClr val="FFFFFF"/>
          </a:solidFill>
          <a:ln/>
        </p:spPr>
      </p:sp>
      <p:pic>
        <p:nvPicPr>
          <p:cNvPr id="11" name="Image 0" descr="Find: 'demo' matches 6 of 66 groups and 8 of 128 namespaces; totals 66 groups, 61 users, 128 namespaces.">    </p:cNvPr>
          <p:cNvPicPr>
            <a:picLocks noChangeAspect="1"/>
          </p:cNvPicPr>
          <p:nvPr/>
        </p:nvPicPr>
        <p:blipFill>
          <a:blip r:embed="rId1"/>
          <a:srcRect l="-29" r="-29" t="0" b="0"/>
          <a:stretch/>
        </p:blipFill>
        <p:spPr>
          <a:xfrm>
            <a:off x="4730750" y="1927027"/>
            <a:ext cx="5194300" cy="4121150"/>
          </a:xfrm>
          <a:prstGeom prst="roundRect">
            <a:avLst>
              <a:gd name="adj" fmla="val 1695"/>
            </a:avLst>
          </a:prstGeom>
        </p:spPr>
      </p:pic>
      <p:sp>
        <p:nvSpPr>
          <p:cNvPr id="12" name="Shape 9"/>
          <p:cNvSpPr/>
          <p:nvPr/>
        </p:nvSpPr>
        <p:spPr>
          <a:xfrm>
            <a:off x="4727575" y="1923852"/>
            <a:ext cx="5200650" cy="4127500"/>
          </a:xfrm>
          <a:prstGeom prst="roundRect">
            <a:avLst>
              <a:gd name="adj" fmla="val 1769"/>
            </a:avLst>
          </a:prstGeom>
          <a:noFill/>
          <a:ln w="6350">
            <a:solidFill>
              <a:srgbClr val="D7DCE3"/>
            </a:solidFill>
            <a:prstDash val="solid"/>
          </a:ln>
        </p:spPr>
      </p:sp>
      <p:sp>
        <p:nvSpPr>
          <p:cNvPr id="13"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the Find box, light theme, the lab at 5.8.0</a:t>
            </a:r>
            <a:endParaRPr lang="en-US" sz="1200" dirty="0"/>
          </a:p>
        </p:txBody>
      </p:sp>
      <p:sp>
        <p:nvSpPr>
          <p:cNvPr id="14"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9 / 26</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0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NAMESPACE AUDIT</a:t>
            </a:r>
            <a:endParaRPr lang="en-US" sz="1159" dirty="0"/>
          </a:p>
        </p:txBody>
      </p:sp>
      <p:sp>
        <p:nvSpPr>
          <p:cNvPr id="3" name="Text 1"/>
          <p:cNvSpPr/>
          <p:nvPr/>
        </p:nvSpPr>
        <p:spPr>
          <a:xfrm>
            <a:off x="812800" y="1269405"/>
            <a:ext cx="10883392" cy="423466"/>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For owners and auditors: what a group review cannot see</a:t>
            </a:r>
            <a:endParaRPr lang="en-US" sz="2878" dirty="0"/>
          </a:p>
        </p:txBody>
      </p:sp>
      <p:sp>
        <p:nvSpPr>
          <p:cNvPr id="4" name="Shape 2"/>
          <p:cNvSpPr/>
          <p:nvPr/>
        </p:nvSpPr>
        <p:spPr>
          <a:xfrm>
            <a:off x="850900" y="1921470"/>
            <a:ext cx="0" cy="668536"/>
          </a:xfrm>
          <a:prstGeom prst="line">
            <a:avLst/>
          </a:prstGeom>
          <a:noFill/>
          <a:ln w="76200">
            <a:solidFill>
              <a:srgbClr val="B3261E"/>
            </a:solidFill>
            <a:prstDash val="solid"/>
          </a:ln>
        </p:spPr>
      </p:sp>
      <p:sp>
        <p:nvSpPr>
          <p:cNvPr id="5" name="Text 3"/>
          <p:cNvSpPr/>
          <p:nvPr/>
        </p:nvSpPr>
        <p:spPr>
          <a:xfrm>
            <a:off x="1041400" y="1921470"/>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Grants that name a </a:t>
            </a:r>
            <a:r>
              <a:rPr lang="en-US" sz="1300" b="1" dirty="0">
                <a:solidFill>
                  <a:srgbClr val="3E4A57"/>
                </a:solidFill>
                <a:latin typeface="Arial" pitchFamily="34" charset="0"/>
                <a:ea typeface="Arial" pitchFamily="34" charset="-122"/>
                <a:cs typeface="Arial" pitchFamily="34" charset="-120"/>
              </a:rPr>
              <a:t>person</a:t>
            </a:r>
            <a:r>
              <a:rPr lang="en-US" sz="1300" dirty="0">
                <a:solidFill>
                  <a:srgbClr val="3E4A57"/>
                </a:solidFill>
                <a:latin typeface="Arial" pitchFamily="34" charset="0"/>
                <a:ea typeface="Arial" pitchFamily="34" charset="-122"/>
                <a:cs typeface="Arial" pitchFamily="34" charset="-120"/>
              </a:rPr>
              <a:t> rather than a group survive offboarding, and every group-based review misses them.</a:t>
            </a:r>
            <a:endParaRPr lang="en-US" sz="1300" dirty="0"/>
          </a:p>
        </p:txBody>
      </p:sp>
      <p:sp>
        <p:nvSpPr>
          <p:cNvPr id="6" name="Shape 4"/>
          <p:cNvSpPr/>
          <p:nvPr/>
        </p:nvSpPr>
        <p:spPr>
          <a:xfrm>
            <a:off x="850900" y="2767806"/>
            <a:ext cx="0" cy="445691"/>
          </a:xfrm>
          <a:prstGeom prst="line">
            <a:avLst/>
          </a:prstGeom>
          <a:noFill/>
          <a:ln w="76200">
            <a:solidFill>
              <a:srgbClr val="A55A0B"/>
            </a:solidFill>
            <a:prstDash val="solid"/>
          </a:ln>
        </p:spPr>
      </p:sp>
      <p:sp>
        <p:nvSpPr>
          <p:cNvPr id="7" name="Text 5"/>
          <p:cNvSpPr/>
          <p:nvPr/>
        </p:nvSpPr>
        <p:spPr>
          <a:xfrm>
            <a:off x="1041400" y="2767806"/>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page ranks namespaces by the worst privilege granted and names who is exposed.</a:t>
            </a:r>
            <a:endParaRPr lang="en-US" sz="1300" dirty="0"/>
          </a:p>
        </p:txBody>
      </p:sp>
      <p:sp>
        <p:nvSpPr>
          <p:cNvPr id="8" name="Shape 6"/>
          <p:cNvSpPr/>
          <p:nvPr/>
        </p:nvSpPr>
        <p:spPr>
          <a:xfrm>
            <a:off x="850900" y="3391297"/>
            <a:ext cx="0" cy="891381"/>
          </a:xfrm>
          <a:prstGeom prst="line">
            <a:avLst/>
          </a:prstGeom>
          <a:noFill/>
          <a:ln w="76200">
            <a:solidFill>
              <a:srgbClr val="0E6F68"/>
            </a:solidFill>
            <a:prstDash val="solid"/>
          </a:ln>
        </p:spPr>
      </p:sp>
      <p:sp>
        <p:nvSpPr>
          <p:cNvPr id="9" name="Text 7"/>
          <p:cNvSpPr/>
          <p:nvPr/>
        </p:nvSpPr>
        <p:spPr>
          <a:xfrm>
            <a:off x="1041400" y="3391297"/>
            <a:ext cx="3427222" cy="91678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3E4A57"/>
                </a:solidFill>
                <a:latin typeface="Arial" pitchFamily="34" charset="0"/>
                <a:ea typeface="Arial" pitchFamily="34" charset="-122"/>
                <a:cs typeface="Arial" pitchFamily="34" charset="-120"/>
              </a:rPr>
              <a:t>Operational goal: zero rows.</a:t>
            </a:r>
            <a:r>
              <a:rPr lang="en-US" sz="1300" dirty="0">
                <a:solidFill>
                  <a:srgbClr val="3E4A57"/>
                </a:solidFill>
                <a:latin typeface="Arial" pitchFamily="34" charset="0"/>
                <a:ea typeface="Arial" pitchFamily="34" charset="-122"/>
                <a:cs typeface="Arial" pitchFamily="34" charset="-120"/>
              </a:rPr>
              <a:t> At zero, one directory change offboards a person from the entire cluster, and an access review that reads clean is clean.</a:t>
            </a:r>
            <a:endParaRPr lang="en-US" sz="1300" dirty="0"/>
          </a:p>
        </p:txBody>
      </p:sp>
      <p:sp>
        <p:nvSpPr>
          <p:cNvPr id="10" name="Shape 8"/>
          <p:cNvSpPr/>
          <p:nvPr/>
        </p:nvSpPr>
        <p:spPr>
          <a:xfrm>
            <a:off x="4724400" y="1921470"/>
            <a:ext cx="6604000" cy="4127500"/>
          </a:xfrm>
          <a:prstGeom prst="roundRect">
            <a:avLst>
              <a:gd name="adj" fmla="val 1846"/>
            </a:avLst>
          </a:prstGeom>
          <a:solidFill>
            <a:srgbClr val="FFFFFF"/>
          </a:solidFill>
          <a:ln/>
        </p:spPr>
      </p:sp>
      <p:pic>
        <p:nvPicPr>
          <p:cNvPr id="11" name="Image 0" descr="The Namespace audit tab in the light theme: high exposure, 5 namespaces at risk, 7 people exposed, 12 grants to migrate, and why each is a risk.">    </p:cNvPr>
          <p:cNvPicPr>
            <a:picLocks noChangeAspect="1"/>
          </p:cNvPicPr>
          <p:nvPr/>
        </p:nvPicPr>
        <p:blipFill>
          <a:blip r:embed="rId1"/>
          <a:srcRect l="-58" r="-58" t="0" b="0"/>
          <a:stretch/>
        </p:blipFill>
        <p:spPr>
          <a:xfrm>
            <a:off x="4730750" y="1927820"/>
            <a:ext cx="6591300" cy="4114800"/>
          </a:xfrm>
          <a:prstGeom prst="roundRect">
            <a:avLst>
              <a:gd name="adj" fmla="val 1698"/>
            </a:avLst>
          </a:prstGeom>
        </p:spPr>
      </p:pic>
      <p:sp>
        <p:nvSpPr>
          <p:cNvPr id="12" name="Shape 9"/>
          <p:cNvSpPr/>
          <p:nvPr/>
        </p:nvSpPr>
        <p:spPr>
          <a:xfrm>
            <a:off x="4727575" y="1924645"/>
            <a:ext cx="6597650" cy="4121150"/>
          </a:xfrm>
          <a:prstGeom prst="roundRect">
            <a:avLst>
              <a:gd name="adj" fmla="val 1772"/>
            </a:avLst>
          </a:prstGeom>
          <a:noFill/>
          <a:ln w="6350">
            <a:solidFill>
              <a:srgbClr val="D7DCE3"/>
            </a:solidFill>
            <a:prstDash val="solid"/>
          </a:ln>
        </p:spPr>
      </p:sp>
      <p:sp>
        <p:nvSpPr>
          <p:cNvPr id="13"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Namespace audit, light theme, the lab at 5.8.0 · the page's own text</a:t>
            </a:r>
            <a:endParaRPr lang="en-US" sz="1200" dirty="0"/>
          </a:p>
        </p:txBody>
      </p:sp>
      <p:sp>
        <p:nvSpPr>
          <p:cNvPr id="14"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10 / 26</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5049"/>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E6F68"/>
                </a:solidFill>
                <a:latin typeface="Courier New" pitchFamily="49" charset="0"/>
                <a:ea typeface="Courier New" pitchFamily="49" charset="-122"/>
                <a:cs typeface="Courier New" pitchFamily="49" charset="-120"/>
              </a:rPr>
              <a:t>LOGINS</a:t>
            </a:r>
            <a:endParaRPr lang="en-US" sz="1196" dirty="0"/>
          </a:p>
        </p:txBody>
      </p:sp>
      <p:sp>
        <p:nvSpPr>
          <p:cNvPr id="3" name="Text 1"/>
          <p:cNvSpPr/>
          <p:nvPr/>
        </p:nvSpPr>
        <p:spPr>
          <a:xfrm>
            <a:off x="812800" y="1276449"/>
            <a:ext cx="10883392" cy="437158"/>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8212C"/>
                </a:solidFill>
                <a:latin typeface="Arial" pitchFamily="34" charset="0"/>
                <a:ea typeface="Arial" pitchFamily="34" charset="-122"/>
                <a:cs typeface="Arial" pitchFamily="34" charset="-120"/>
              </a:rPr>
              <a:t>Who signs in, and access nobody can use</a:t>
            </a:r>
            <a:endParaRPr lang="en-US" sz="2972" dirty="0"/>
          </a:p>
        </p:txBody>
      </p:sp>
      <p:sp>
        <p:nvSpPr>
          <p:cNvPr id="4" name="Shape 2"/>
          <p:cNvSpPr/>
          <p:nvPr/>
        </p:nvSpPr>
        <p:spPr>
          <a:xfrm>
            <a:off x="850900" y="1942207"/>
            <a:ext cx="0" cy="668536"/>
          </a:xfrm>
          <a:prstGeom prst="line">
            <a:avLst/>
          </a:prstGeom>
          <a:noFill/>
          <a:ln w="76200">
            <a:solidFill>
              <a:srgbClr val="A55A0B"/>
            </a:solidFill>
            <a:prstDash val="solid"/>
          </a:ln>
        </p:spPr>
      </p:sp>
      <p:sp>
        <p:nvSpPr>
          <p:cNvPr id="5" name="Text 3"/>
          <p:cNvSpPr/>
          <p:nvPr/>
        </p:nvSpPr>
        <p:spPr>
          <a:xfrm>
            <a:off x="1041400" y="1942207"/>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Every login attempt, read from the cluster's audit log: 779 attempts by 13 distinct users, 18 of them failed.</a:t>
            </a:r>
            <a:endParaRPr lang="en-US" sz="1300" dirty="0"/>
          </a:p>
        </p:txBody>
      </p:sp>
      <p:sp>
        <p:nvSpPr>
          <p:cNvPr id="6" name="Shape 4"/>
          <p:cNvSpPr/>
          <p:nvPr/>
        </p:nvSpPr>
        <p:spPr>
          <a:xfrm>
            <a:off x="850900" y="2788543"/>
            <a:ext cx="0" cy="891381"/>
          </a:xfrm>
          <a:prstGeom prst="line">
            <a:avLst/>
          </a:prstGeom>
          <a:noFill/>
          <a:ln w="76200">
            <a:solidFill>
              <a:srgbClr val="B3261E"/>
            </a:solidFill>
            <a:prstDash val="solid"/>
          </a:ln>
        </p:spPr>
      </p:sp>
      <p:sp>
        <p:nvSpPr>
          <p:cNvPr id="7" name="Text 5"/>
          <p:cNvSpPr/>
          <p:nvPr/>
        </p:nvSpPr>
        <p:spPr>
          <a:xfrm>
            <a:off x="1041400" y="2788543"/>
            <a:ext cx="3427222"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2 people hold access through synced groups but are outside the gate group that allows a login, so they cannot use it: a decision for the review.</a:t>
            </a:r>
            <a:endParaRPr lang="en-US" sz="1300" dirty="0"/>
          </a:p>
        </p:txBody>
      </p:sp>
      <p:sp>
        <p:nvSpPr>
          <p:cNvPr id="8" name="Shape 6"/>
          <p:cNvSpPr/>
          <p:nvPr/>
        </p:nvSpPr>
        <p:spPr>
          <a:xfrm>
            <a:off x="850900" y="3857724"/>
            <a:ext cx="0" cy="668536"/>
          </a:xfrm>
          <a:prstGeom prst="line">
            <a:avLst/>
          </a:prstGeom>
          <a:noFill/>
          <a:ln w="76200">
            <a:solidFill>
              <a:srgbClr val="A55A0B"/>
            </a:solidFill>
            <a:prstDash val="solid"/>
          </a:ln>
        </p:spPr>
      </p:sp>
      <p:sp>
        <p:nvSpPr>
          <p:cNvPr id="9" name="Text 7"/>
          <p:cNvSpPr/>
          <p:nvPr/>
        </p:nvSpPr>
        <p:spPr>
          <a:xfrm>
            <a:off x="1041400" y="3857724"/>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Attempts are kept 400 days. Nothing older than the oldest audit file still on the cluster is read, and the page says so.</a:t>
            </a:r>
            <a:endParaRPr lang="en-US" sz="1300" dirty="0"/>
          </a:p>
        </p:txBody>
      </p:sp>
      <p:sp>
        <p:nvSpPr>
          <p:cNvPr id="10" name="Shape 8"/>
          <p:cNvSpPr/>
          <p:nvPr/>
        </p:nvSpPr>
        <p:spPr>
          <a:xfrm>
            <a:off x="4724400" y="1942207"/>
            <a:ext cx="6604000" cy="3968750"/>
          </a:xfrm>
          <a:prstGeom prst="roundRect">
            <a:avLst>
              <a:gd name="adj" fmla="val 1920"/>
            </a:avLst>
          </a:prstGeom>
          <a:solidFill>
            <a:srgbClr val="FFFFFF"/>
          </a:solidFill>
          <a:ln/>
        </p:spPr>
      </p:sp>
      <p:pic>
        <p:nvPicPr>
          <p:cNvPr id="11" name="Image 0" descr="Logins: 779 attempts, 13 distinct users, 761 signed in, 18 failed; 2 people hold access they cannot use, with the groups that grant it.">    </p:cNvPr>
          <p:cNvPicPr>
            <a:picLocks noChangeAspect="1"/>
          </p:cNvPicPr>
          <p:nvPr/>
        </p:nvPicPr>
        <p:blipFill>
          <a:blip r:embed="rId1"/>
          <a:srcRect l="-57" r="-57" t="0" b="0"/>
          <a:stretch/>
        </p:blipFill>
        <p:spPr>
          <a:xfrm>
            <a:off x="4730750" y="1948557"/>
            <a:ext cx="6591300" cy="3956050"/>
          </a:xfrm>
          <a:prstGeom prst="roundRect">
            <a:avLst>
              <a:gd name="adj" fmla="val 1766"/>
            </a:avLst>
          </a:prstGeom>
        </p:spPr>
      </p:pic>
      <p:sp>
        <p:nvSpPr>
          <p:cNvPr id="12" name="Shape 9"/>
          <p:cNvSpPr/>
          <p:nvPr/>
        </p:nvSpPr>
        <p:spPr>
          <a:xfrm>
            <a:off x="4727575" y="1945382"/>
            <a:ext cx="6597650" cy="3962400"/>
          </a:xfrm>
          <a:prstGeom prst="roundRect">
            <a:avLst>
              <a:gd name="adj" fmla="val 1843"/>
            </a:avLst>
          </a:prstGeom>
          <a:noFill/>
          <a:ln w="6350">
            <a:solidFill>
              <a:srgbClr val="D7DCE3"/>
            </a:solidFill>
            <a:prstDash val="solid"/>
          </a:ln>
        </p:spPr>
      </p:sp>
      <p:sp>
        <p:nvSpPr>
          <p:cNvPr id="13"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Logins, light theme, the lab at 5.8.0 · values.yaml (login retention)</a:t>
            </a:r>
            <a:endParaRPr lang="en-US" sz="1200" dirty="0"/>
          </a:p>
        </p:txBody>
      </p:sp>
      <p:sp>
        <p:nvSpPr>
          <p:cNvPr id="14"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11 / 26</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0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EVIDENCE</a:t>
            </a:r>
            <a:endParaRPr lang="en-US" sz="1159" dirty="0"/>
          </a:p>
        </p:txBody>
      </p:sp>
      <p:sp>
        <p:nvSpPr>
          <p:cNvPr id="3" name="Text 1"/>
          <p:cNvSpPr/>
          <p:nvPr/>
        </p:nvSpPr>
        <p:spPr>
          <a:xfrm>
            <a:off x="812800" y="1269405"/>
            <a:ext cx="10883392" cy="423466"/>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Eleven reports, one per review question</a:t>
            </a:r>
            <a:endParaRPr lang="en-US" sz="2878" dirty="0"/>
          </a:p>
        </p:txBody>
      </p:sp>
      <p:sp>
        <p:nvSpPr>
          <p:cNvPr id="4" name="Shape 2"/>
          <p:cNvSpPr/>
          <p:nvPr/>
        </p:nvSpPr>
        <p:spPr>
          <a:xfrm>
            <a:off x="850900" y="1921470"/>
            <a:ext cx="0" cy="445691"/>
          </a:xfrm>
          <a:prstGeom prst="line">
            <a:avLst/>
          </a:prstGeom>
          <a:noFill/>
          <a:ln w="76200">
            <a:solidFill>
              <a:srgbClr val="A55A0B"/>
            </a:solidFill>
            <a:prstDash val="solid"/>
          </a:ln>
        </p:spPr>
      </p:sp>
      <p:sp>
        <p:nvSpPr>
          <p:cNvPr id="5" name="Text 3"/>
          <p:cNvSpPr/>
          <p:nvPr/>
        </p:nvSpPr>
        <p:spPr>
          <a:xfrm>
            <a:off x="1041400" y="1921470"/>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Who can reach each namespace; the access matrix; privileged access; binding findings.</a:t>
            </a:r>
            <a:endParaRPr lang="en-US" sz="1300" dirty="0"/>
          </a:p>
        </p:txBody>
      </p:sp>
      <p:sp>
        <p:nvSpPr>
          <p:cNvPr id="6" name="Shape 4"/>
          <p:cNvSpPr/>
          <p:nvPr/>
        </p:nvSpPr>
        <p:spPr>
          <a:xfrm>
            <a:off x="850900" y="2544961"/>
            <a:ext cx="0" cy="445691"/>
          </a:xfrm>
          <a:prstGeom prst="line">
            <a:avLst/>
          </a:prstGeom>
          <a:noFill/>
          <a:ln w="76200">
            <a:solidFill>
              <a:srgbClr val="A55A0B"/>
            </a:solidFill>
            <a:prstDash val="solid"/>
          </a:ln>
        </p:spPr>
      </p:sp>
      <p:sp>
        <p:nvSpPr>
          <p:cNvPr id="7" name="Text 5"/>
          <p:cNvSpPr/>
          <p:nvPr/>
        </p:nvSpPr>
        <p:spPr>
          <a:xfrm>
            <a:off x="1041400" y="2544961"/>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Groups and their changes; users; login activity; dormant access; sync health.</a:t>
            </a:r>
            <a:endParaRPr lang="en-US" sz="1300" dirty="0"/>
          </a:p>
        </p:txBody>
      </p:sp>
      <p:sp>
        <p:nvSpPr>
          <p:cNvPr id="8" name="Shape 6"/>
          <p:cNvSpPr/>
          <p:nvPr/>
        </p:nvSpPr>
        <p:spPr>
          <a:xfrm>
            <a:off x="850900" y="3168452"/>
            <a:ext cx="0" cy="445691"/>
          </a:xfrm>
          <a:prstGeom prst="line">
            <a:avLst/>
          </a:prstGeom>
          <a:noFill/>
          <a:ln w="76200">
            <a:solidFill>
              <a:srgbClr val="A55A0B"/>
            </a:solidFill>
            <a:prstDash val="solid"/>
          </a:ln>
        </p:spPr>
      </p:sp>
      <p:sp>
        <p:nvSpPr>
          <p:cNvPr id="9" name="Text 7"/>
          <p:cNvSpPr/>
          <p:nvPr/>
        </p:nvSpPr>
        <p:spPr>
          <a:xfrm>
            <a:off x="1041400" y="3168452"/>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 one-page compliance snapshot, and an access certification pack for sign-off.</a:t>
            </a:r>
            <a:endParaRPr lang="en-US" sz="1300" dirty="0"/>
          </a:p>
        </p:txBody>
      </p:sp>
      <p:sp>
        <p:nvSpPr>
          <p:cNvPr id="10" name="Shape 8"/>
          <p:cNvSpPr/>
          <p:nvPr/>
        </p:nvSpPr>
        <p:spPr>
          <a:xfrm>
            <a:off x="850900" y="3791942"/>
            <a:ext cx="0" cy="668536"/>
          </a:xfrm>
          <a:prstGeom prst="line">
            <a:avLst/>
          </a:prstGeom>
          <a:noFill/>
          <a:ln w="76200">
            <a:solidFill>
              <a:srgbClr val="A55A0B"/>
            </a:solidFill>
            <a:prstDash val="solid"/>
          </a:ln>
        </p:spPr>
      </p:sp>
      <p:sp>
        <p:nvSpPr>
          <p:cNvPr id="11" name="Text 9"/>
          <p:cNvSpPr/>
          <p:nvPr/>
        </p:nvSpPr>
        <p:spPr>
          <a:xfrm>
            <a:off x="1041400" y="3791942"/>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Every document carries the sha256 of its data, the snapshot it was built from, and who generated it.</a:t>
            </a:r>
            <a:endParaRPr lang="en-US" sz="1300" dirty="0"/>
          </a:p>
        </p:txBody>
      </p:sp>
      <p:sp>
        <p:nvSpPr>
          <p:cNvPr id="12" name="Shape 10"/>
          <p:cNvSpPr/>
          <p:nvPr/>
        </p:nvSpPr>
        <p:spPr>
          <a:xfrm>
            <a:off x="4724400" y="1921470"/>
            <a:ext cx="6604000" cy="4127500"/>
          </a:xfrm>
          <a:prstGeom prst="roundRect">
            <a:avLst>
              <a:gd name="adj" fmla="val 1846"/>
            </a:avLst>
          </a:prstGeom>
          <a:solidFill>
            <a:srgbClr val="FFFFFF"/>
          </a:solidFill>
          <a:ln/>
        </p:spPr>
      </p:sp>
      <p:pic>
        <p:nvPicPr>
          <p:cNvPr id="13" name="Image 0" descr="The Reports catalogue in the light theme: 11 reports, each with what it shows.">    </p:cNvPr>
          <p:cNvPicPr>
            <a:picLocks noChangeAspect="1"/>
          </p:cNvPicPr>
          <p:nvPr/>
        </p:nvPicPr>
        <p:blipFill>
          <a:blip r:embed="rId1"/>
          <a:srcRect l="-58" r="-58" t="0" b="0"/>
          <a:stretch/>
        </p:blipFill>
        <p:spPr>
          <a:xfrm>
            <a:off x="4730750" y="1927820"/>
            <a:ext cx="6591300" cy="4114800"/>
          </a:xfrm>
          <a:prstGeom prst="roundRect">
            <a:avLst>
              <a:gd name="adj" fmla="val 1698"/>
            </a:avLst>
          </a:prstGeom>
        </p:spPr>
      </p:pic>
      <p:sp>
        <p:nvSpPr>
          <p:cNvPr id="14" name="Shape 11"/>
          <p:cNvSpPr/>
          <p:nvPr/>
        </p:nvSpPr>
        <p:spPr>
          <a:xfrm>
            <a:off x="4727575" y="1924645"/>
            <a:ext cx="6597650" cy="4121150"/>
          </a:xfrm>
          <a:prstGeom prst="roundRect">
            <a:avLst>
              <a:gd name="adj" fmla="val 1772"/>
            </a:avLst>
          </a:prstGeom>
          <a:noFill/>
          <a:ln w="6350">
            <a:solidFill>
              <a:srgbClr val="D7DCE3"/>
            </a:solidFill>
            <a:prstDash val="solid"/>
          </a:ln>
        </p:spPr>
      </p:sp>
      <p:sp>
        <p:nvSpPr>
          <p:cNvPr id="15" name="Text 12"/>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Reports, light theme, the lab at 5.8.0 · docs/reports/README.md</a:t>
            </a:r>
            <a:endParaRPr lang="en-US" sz="1200" dirty="0"/>
          </a:p>
        </p:txBody>
      </p:sp>
      <p:sp>
        <p:nvSpPr>
          <p:cNvPr id="16" name="Text 13"/>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12 / 26</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0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QUARTERLY REVIEW</a:t>
            </a:r>
            <a:endParaRPr lang="en-US" sz="1159" dirty="0"/>
          </a:p>
        </p:txBody>
      </p:sp>
      <p:sp>
        <p:nvSpPr>
          <p:cNvPr id="3" name="Text 1"/>
          <p:cNvSpPr/>
          <p:nvPr/>
        </p:nvSpPr>
        <p:spPr>
          <a:xfrm>
            <a:off x="812800" y="1269405"/>
            <a:ext cx="10883392" cy="423466"/>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The certification pack: approve or revoke, line by line</a:t>
            </a:r>
            <a:endParaRPr lang="en-US" sz="2878" dirty="0"/>
          </a:p>
        </p:txBody>
      </p:sp>
      <p:sp>
        <p:nvSpPr>
          <p:cNvPr id="4" name="Shape 2"/>
          <p:cNvSpPr/>
          <p:nvPr/>
        </p:nvSpPr>
        <p:spPr>
          <a:xfrm>
            <a:off x="850900" y="1921470"/>
            <a:ext cx="0" cy="222845"/>
          </a:xfrm>
          <a:prstGeom prst="line">
            <a:avLst/>
          </a:prstGeom>
          <a:noFill/>
          <a:ln w="76200">
            <a:solidFill>
              <a:srgbClr val="A55A0B"/>
            </a:solidFill>
            <a:prstDash val="solid"/>
          </a:ln>
        </p:spPr>
      </p:sp>
      <p:sp>
        <p:nvSpPr>
          <p:cNvPr id="5" name="Text 3"/>
          <p:cNvSpPr/>
          <p:nvPr/>
        </p:nvSpPr>
        <p:spPr>
          <a:xfrm>
            <a:off x="1041400" y="1921470"/>
            <a:ext cx="525856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 campaign with a due date and a named reviewer.</a:t>
            </a:r>
            <a:endParaRPr lang="en-US" sz="1300" dirty="0"/>
          </a:p>
        </p:txBody>
      </p:sp>
      <p:sp>
        <p:nvSpPr>
          <p:cNvPr id="6" name="Shape 4"/>
          <p:cNvSpPr/>
          <p:nvPr/>
        </p:nvSpPr>
        <p:spPr>
          <a:xfrm>
            <a:off x="850900" y="2322116"/>
            <a:ext cx="0" cy="668536"/>
          </a:xfrm>
          <a:prstGeom prst="line">
            <a:avLst/>
          </a:prstGeom>
          <a:noFill/>
          <a:ln w="76200">
            <a:solidFill>
              <a:srgbClr val="A55A0B"/>
            </a:solidFill>
            <a:prstDash val="solid"/>
          </a:ln>
        </p:spPr>
      </p:sp>
      <p:sp>
        <p:nvSpPr>
          <p:cNvPr id="7" name="Text 5"/>
          <p:cNvSpPr/>
          <p:nvPr/>
        </p:nvSpPr>
        <p:spPr>
          <a:xfrm>
            <a:off x="1041400" y="2322116"/>
            <a:ext cx="525856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Every group's bindings, and every grant naming a person directly, with empty </a:t>
            </a:r>
            <a:r>
              <a:rPr lang="en-US" sz="1300" b="1" dirty="0">
                <a:solidFill>
                  <a:srgbClr val="0E6F68"/>
                </a:solidFill>
                <a:latin typeface="Arial" pitchFamily="34" charset="0"/>
                <a:ea typeface="Arial" pitchFamily="34" charset="-122"/>
                <a:cs typeface="Arial" pitchFamily="34" charset="-120"/>
              </a:rPr>
              <a:t>Approve</a:t>
            </a:r>
            <a:r>
              <a:rPr lang="en-US" sz="1300" dirty="0">
                <a:solidFill>
                  <a:srgbClr val="3E4A57"/>
                </a:solidFill>
                <a:latin typeface="Arial" pitchFamily="34" charset="0"/>
                <a:ea typeface="Arial" pitchFamily="34" charset="-122"/>
                <a:cs typeface="Arial" pitchFamily="34" charset="-120"/>
              </a:rPr>
              <a:t>, </a:t>
            </a:r>
            <a:r>
              <a:rPr lang="en-US" sz="1300" b="1" dirty="0">
                <a:solidFill>
                  <a:srgbClr val="B3261E"/>
                </a:solidFill>
                <a:latin typeface="Arial" pitchFamily="34" charset="0"/>
                <a:ea typeface="Arial" pitchFamily="34" charset="-122"/>
                <a:cs typeface="Arial" pitchFamily="34" charset="-120"/>
              </a:rPr>
              <a:t>Revoke</a:t>
            </a:r>
            <a:r>
              <a:rPr lang="en-US" sz="1300" dirty="0">
                <a:solidFill>
                  <a:srgbClr val="3E4A57"/>
                </a:solidFill>
                <a:latin typeface="Arial" pitchFamily="34" charset="0"/>
                <a:ea typeface="Arial" pitchFamily="34" charset="-122"/>
                <a:cs typeface="Arial" pitchFamily="34" charset="-120"/>
              </a:rPr>
              <a:t> and </a:t>
            </a:r>
            <a:r>
              <a:rPr lang="en-US" sz="1300" b="1" dirty="0">
                <a:solidFill>
                  <a:srgbClr val="3E4A57"/>
                </a:solidFill>
                <a:latin typeface="Arial" pitchFamily="34" charset="0"/>
                <a:ea typeface="Arial" pitchFamily="34" charset="-122"/>
                <a:cs typeface="Arial" pitchFamily="34" charset="-120"/>
              </a:rPr>
              <a:t>Comment</a:t>
            </a:r>
            <a:r>
              <a:rPr lang="en-US" sz="1300" dirty="0">
                <a:solidFill>
                  <a:srgbClr val="3E4A57"/>
                </a:solidFill>
                <a:latin typeface="Arial" pitchFamily="34" charset="0"/>
                <a:ea typeface="Arial" pitchFamily="34" charset="-122"/>
                <a:cs typeface="Arial" pitchFamily="34" charset="-120"/>
              </a:rPr>
              <a:t> columns, and the members behind each group.</a:t>
            </a:r>
            <a:endParaRPr lang="en-US" sz="1300" dirty="0"/>
          </a:p>
        </p:txBody>
      </p:sp>
      <p:sp>
        <p:nvSpPr>
          <p:cNvPr id="8" name="Shape 6"/>
          <p:cNvSpPr/>
          <p:nvPr/>
        </p:nvSpPr>
        <p:spPr>
          <a:xfrm>
            <a:off x="850900" y="3168452"/>
            <a:ext cx="0" cy="445691"/>
          </a:xfrm>
          <a:prstGeom prst="line">
            <a:avLst/>
          </a:prstGeom>
          <a:noFill/>
          <a:ln w="76200">
            <a:solidFill>
              <a:srgbClr val="A55A0B"/>
            </a:solidFill>
            <a:prstDash val="solid"/>
          </a:ln>
        </p:spPr>
      </p:sp>
      <p:sp>
        <p:nvSpPr>
          <p:cNvPr id="9" name="Text 7"/>
          <p:cNvSpPr/>
          <p:nvPr/>
        </p:nvSpPr>
        <p:spPr>
          <a:xfrm>
            <a:off x="1041400" y="3168452"/>
            <a:ext cx="525856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“This pack records the state the dashboard observed; it does not change anything.” The reviewer signs the last page.</a:t>
            </a:r>
            <a:endParaRPr lang="en-US" sz="1300" dirty="0"/>
          </a:p>
        </p:txBody>
      </p:sp>
      <p:sp>
        <p:nvSpPr>
          <p:cNvPr id="10" name="Shape 8"/>
          <p:cNvSpPr/>
          <p:nvPr/>
        </p:nvSpPr>
        <p:spPr>
          <a:xfrm>
            <a:off x="6502400" y="1921470"/>
            <a:ext cx="4826000" cy="4127500"/>
          </a:xfrm>
          <a:prstGeom prst="roundRect">
            <a:avLst>
              <a:gd name="adj" fmla="val 1846"/>
            </a:avLst>
          </a:prstGeom>
          <a:solidFill>
            <a:srgbClr val="FFFFFF"/>
          </a:solidFill>
          <a:ln/>
        </p:spPr>
      </p:sp>
      <p:pic>
        <p:nvPicPr>
          <p:cNvPr id="11" name="Image 0" descr="The access certification pack: campaign E2E walk 2026-10-08, due 2026-11-07, reviewer kubeadmin; each group's bindings with Approve, Revoke and Comment columns, and its members.">    </p:cNvPr>
          <p:cNvPicPr>
            <a:picLocks noChangeAspect="1"/>
          </p:cNvPicPr>
          <p:nvPr/>
        </p:nvPicPr>
        <p:blipFill>
          <a:blip r:embed="rId1"/>
          <a:stretch>
            <a:fillRect/>
          </a:stretch>
        </p:blipFill>
        <p:spPr>
          <a:xfrm>
            <a:off x="6679096" y="1927820"/>
            <a:ext cx="4472609" cy="4114800"/>
          </a:xfrm>
          <a:prstGeom prst="rect">
            <a:avLst/>
          </a:prstGeom>
        </p:spPr>
      </p:pic>
      <p:sp>
        <p:nvSpPr>
          <p:cNvPr id="12" name="Shape 9"/>
          <p:cNvSpPr/>
          <p:nvPr/>
        </p:nvSpPr>
        <p:spPr>
          <a:xfrm>
            <a:off x="6505575" y="1924645"/>
            <a:ext cx="4819650" cy="4121150"/>
          </a:xfrm>
          <a:prstGeom prst="roundRect">
            <a:avLst>
              <a:gd name="adj" fmla="val 1772"/>
            </a:avLst>
          </a:prstGeom>
          <a:noFill/>
          <a:ln w="6350">
            <a:solidFill>
              <a:srgbClr val="D7DCE3"/>
            </a:solidFill>
            <a:prstDash val="solid"/>
          </a:ln>
        </p:spPr>
      </p:sp>
      <p:sp>
        <p:nvSpPr>
          <p:cNvPr id="13"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the access-certification report as HTML, generated on the lab at 5.8.0</a:t>
            </a:r>
            <a:endParaRPr lang="en-US" sz="1200" dirty="0"/>
          </a:p>
        </p:txBody>
      </p:sp>
      <p:sp>
        <p:nvSpPr>
          <p:cNvPr id="14"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13 / 26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QUARTERLY REVIEW</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A review, start to finish</a:t>
            </a:r>
            <a:endParaRPr lang="en-US" sz="3000" dirty="0"/>
          </a:p>
        </p:txBody>
      </p:sp>
      <p:sp>
        <p:nvSpPr>
          <p:cNvPr id="4" name="Shape 2"/>
          <p:cNvSpPr/>
          <p:nvPr/>
        </p:nvSpPr>
        <p:spPr>
          <a:xfrm>
            <a:off x="812800" y="1953220"/>
            <a:ext cx="1991320" cy="2288381"/>
          </a:xfrm>
          <a:prstGeom prst="roundRect">
            <a:avLst>
              <a:gd name="adj" fmla="val 3827"/>
            </a:avLst>
          </a:prstGeom>
          <a:solidFill>
            <a:srgbClr val="FCFCFA"/>
          </a:solidFill>
          <a:ln/>
          <a:effectLst>
            <a:outerShdw sx="100000" sy="100000" kx="0" ky="0" algn="bl" rotWithShape="0" blurRad="6350" dist="0" dir="60000">
              <a:srgbClr val="D7DCE3">
                <a:alpha val="100000"/>
              </a:srgbClr>
            </a:outerShdw>
          </a:effectLst>
        </p:spPr>
      </p:sp>
      <p:sp>
        <p:nvSpPr>
          <p:cNvPr id="5" name="Shape 3"/>
          <p:cNvSpPr/>
          <p:nvPr/>
        </p:nvSpPr>
        <p:spPr>
          <a:xfrm>
            <a:off x="812800" y="1953220"/>
            <a:ext cx="1991320" cy="2288381"/>
          </a:xfrm>
          <a:custGeom>
            <a:avLst/>
            <a:gdLst/>
            <a:ahLst/>
            <a:cxnLst/>
            <a:rect l="l" t="t" r="r" b="b"/>
            <a:pathLst>
              <a:path w="1991320" h="2288381">
                <a:moveTo>
                  <a:pt x="0" y="76200"/>
                </a:moveTo>
                <a:lnTo>
                  <a:pt x="0" y="76200"/>
                </a:lnTo>
                <a:arcTo hR="76200" wR="76200" stAng="10800000" swAng="5400000"/>
                <a:lnTo>
                  <a:pt x="1915120" y="0"/>
                </a:lnTo>
                <a:arcTo hR="76200" wR="76200" stAng="16200000" swAng="5400000"/>
                <a:lnTo>
                  <a:pt x="1991320" y="76200"/>
                </a:lnTo>
                <a:lnTo>
                  <a:pt x="0" y="76200"/>
                </a:lnTo>
                <a:close/>
              </a:path>
            </a:pathLst>
          </a:custGeom>
          <a:solidFill>
            <a:srgbClr val="A55A0B"/>
          </a:solidFill>
          <a:ln/>
        </p:spPr>
      </p:sp>
      <p:sp>
        <p:nvSpPr>
          <p:cNvPr id="6" name="Text 4"/>
          <p:cNvSpPr/>
          <p:nvPr/>
        </p:nvSpPr>
        <p:spPr>
          <a:xfrm>
            <a:off x="990600" y="2207220"/>
            <a:ext cx="16865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55A0B"/>
                </a:solidFill>
                <a:latin typeface="Arial" pitchFamily="34" charset="0"/>
                <a:ea typeface="Arial" pitchFamily="34" charset="-122"/>
                <a:cs typeface="Arial" pitchFamily="34" charset="-120"/>
              </a:rPr>
              <a:t>1</a:t>
            </a:r>
            <a:endParaRPr lang="en-US" sz="2800" dirty="0"/>
          </a:p>
        </p:txBody>
      </p:sp>
      <p:sp>
        <p:nvSpPr>
          <p:cNvPr id="7" name="Text 5"/>
          <p:cNvSpPr/>
          <p:nvPr/>
        </p:nvSpPr>
        <p:spPr>
          <a:xfrm>
            <a:off x="990600" y="2639020"/>
            <a:ext cx="168652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The schedule runs</a:t>
            </a:r>
            <a:endParaRPr lang="en-US" sz="1500" dirty="0"/>
          </a:p>
        </p:txBody>
      </p:sp>
      <p:sp>
        <p:nvSpPr>
          <p:cNvPr id="8" name="Text 6"/>
          <p:cNvSpPr/>
          <p:nvPr/>
        </p:nvSpPr>
        <p:spPr>
          <a:xfrm>
            <a:off x="990600" y="3172420"/>
            <a:ext cx="168652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and makes the certification pack on 1 January, April, July and October.</a:t>
            </a:r>
            <a:endParaRPr lang="en-US" sz="1300" dirty="0"/>
          </a:p>
        </p:txBody>
      </p:sp>
      <p:sp>
        <p:nvSpPr>
          <p:cNvPr id="9" name="Shape 7"/>
          <p:cNvSpPr/>
          <p:nvPr/>
        </p:nvSpPr>
        <p:spPr>
          <a:xfrm>
            <a:off x="2956520" y="1953220"/>
            <a:ext cx="1991420" cy="2288381"/>
          </a:xfrm>
          <a:prstGeom prst="roundRect">
            <a:avLst>
              <a:gd name="adj" fmla="val 3826"/>
            </a:avLst>
          </a:prstGeom>
          <a:solidFill>
            <a:srgbClr val="FCFCFA"/>
          </a:solidFill>
          <a:ln/>
          <a:effectLst>
            <a:outerShdw sx="100000" sy="100000" kx="0" ky="0" algn="bl" rotWithShape="0" blurRad="6350" dist="0" dir="60000">
              <a:srgbClr val="D7DCE3">
                <a:alpha val="100000"/>
              </a:srgbClr>
            </a:outerShdw>
          </a:effectLst>
        </p:spPr>
      </p:sp>
      <p:sp>
        <p:nvSpPr>
          <p:cNvPr id="10" name="Shape 8"/>
          <p:cNvSpPr/>
          <p:nvPr/>
        </p:nvSpPr>
        <p:spPr>
          <a:xfrm>
            <a:off x="2956520" y="1953220"/>
            <a:ext cx="1991420" cy="2288381"/>
          </a:xfrm>
          <a:custGeom>
            <a:avLst/>
            <a:gdLst/>
            <a:ahLst/>
            <a:cxnLst/>
            <a:rect l="l" t="t" r="r" b="b"/>
            <a:pathLst>
              <a:path w="1991420" h="2288381">
                <a:moveTo>
                  <a:pt x="0" y="76200"/>
                </a:moveTo>
                <a:lnTo>
                  <a:pt x="0" y="76200"/>
                </a:lnTo>
                <a:arcTo hR="76200" wR="76200" stAng="10800000" swAng="5400000"/>
                <a:lnTo>
                  <a:pt x="1915220" y="0"/>
                </a:lnTo>
                <a:arcTo hR="76200" wR="76200" stAng="16200000" swAng="5400000"/>
                <a:lnTo>
                  <a:pt x="1991420" y="76200"/>
                </a:lnTo>
                <a:lnTo>
                  <a:pt x="0" y="76200"/>
                </a:lnTo>
                <a:close/>
              </a:path>
            </a:pathLst>
          </a:custGeom>
          <a:solidFill>
            <a:srgbClr val="A55A0B"/>
          </a:solidFill>
          <a:ln/>
        </p:spPr>
      </p:sp>
      <p:sp>
        <p:nvSpPr>
          <p:cNvPr id="11" name="Text 9"/>
          <p:cNvSpPr/>
          <p:nvPr/>
        </p:nvSpPr>
        <p:spPr>
          <a:xfrm>
            <a:off x="3134320" y="2207220"/>
            <a:ext cx="16866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55A0B"/>
                </a:solidFill>
                <a:latin typeface="Arial" pitchFamily="34" charset="0"/>
                <a:ea typeface="Arial" pitchFamily="34" charset="-122"/>
                <a:cs typeface="Arial" pitchFamily="34" charset="-120"/>
              </a:rPr>
              <a:t>2</a:t>
            </a:r>
            <a:endParaRPr lang="en-US" sz="2800" dirty="0"/>
          </a:p>
        </p:txBody>
      </p:sp>
      <p:sp>
        <p:nvSpPr>
          <p:cNvPr id="12" name="Text 10"/>
          <p:cNvSpPr/>
          <p:nvPr/>
        </p:nvSpPr>
        <p:spPr>
          <a:xfrm>
            <a:off x="3134320" y="2639020"/>
            <a:ext cx="168662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The reviewer decides</a:t>
            </a:r>
            <a:endParaRPr lang="en-US" sz="1500" dirty="0"/>
          </a:p>
        </p:txBody>
      </p:sp>
      <p:sp>
        <p:nvSpPr>
          <p:cNvPr id="13" name="Text 11"/>
          <p:cNvSpPr/>
          <p:nvPr/>
        </p:nvSpPr>
        <p:spPr>
          <a:xfrm>
            <a:off x="3134320" y="3172420"/>
            <a:ext cx="168662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Approve or Revoke on each line, and signs the last page.</a:t>
            </a:r>
            <a:endParaRPr lang="en-US" sz="1300" dirty="0"/>
          </a:p>
        </p:txBody>
      </p:sp>
      <p:sp>
        <p:nvSpPr>
          <p:cNvPr id="14" name="Shape 12"/>
          <p:cNvSpPr/>
          <p:nvPr/>
        </p:nvSpPr>
        <p:spPr>
          <a:xfrm>
            <a:off x="5100340" y="1953220"/>
            <a:ext cx="1991320" cy="2288381"/>
          </a:xfrm>
          <a:prstGeom prst="roundRect">
            <a:avLst>
              <a:gd name="adj" fmla="val 3827"/>
            </a:avLst>
          </a:prstGeom>
          <a:solidFill>
            <a:srgbClr val="FCFCFA"/>
          </a:solidFill>
          <a:ln/>
          <a:effectLst>
            <a:outerShdw sx="100000" sy="100000" kx="0" ky="0" algn="bl" rotWithShape="0" blurRad="6350" dist="0" dir="60000">
              <a:srgbClr val="D7DCE3">
                <a:alpha val="100000"/>
              </a:srgbClr>
            </a:outerShdw>
          </a:effectLst>
        </p:spPr>
      </p:sp>
      <p:sp>
        <p:nvSpPr>
          <p:cNvPr id="15" name="Shape 13"/>
          <p:cNvSpPr/>
          <p:nvPr/>
        </p:nvSpPr>
        <p:spPr>
          <a:xfrm>
            <a:off x="5100340" y="1953220"/>
            <a:ext cx="1991320" cy="2288381"/>
          </a:xfrm>
          <a:custGeom>
            <a:avLst/>
            <a:gdLst/>
            <a:ahLst/>
            <a:cxnLst/>
            <a:rect l="l" t="t" r="r" b="b"/>
            <a:pathLst>
              <a:path w="1991320" h="2288381">
                <a:moveTo>
                  <a:pt x="0" y="76200"/>
                </a:moveTo>
                <a:lnTo>
                  <a:pt x="0" y="76200"/>
                </a:lnTo>
                <a:arcTo hR="76200" wR="76200" stAng="10800000" swAng="5400000"/>
                <a:lnTo>
                  <a:pt x="1915120" y="0"/>
                </a:lnTo>
                <a:arcTo hR="76200" wR="76200" stAng="16200000" swAng="5400000"/>
                <a:lnTo>
                  <a:pt x="1991320" y="76200"/>
                </a:lnTo>
                <a:lnTo>
                  <a:pt x="0" y="76200"/>
                </a:lnTo>
                <a:close/>
              </a:path>
            </a:pathLst>
          </a:custGeom>
          <a:solidFill>
            <a:srgbClr val="A55A0B"/>
          </a:solidFill>
          <a:ln/>
        </p:spPr>
      </p:sp>
      <p:sp>
        <p:nvSpPr>
          <p:cNvPr id="16" name="Text 14"/>
          <p:cNvSpPr/>
          <p:nvPr/>
        </p:nvSpPr>
        <p:spPr>
          <a:xfrm>
            <a:off x="5278140" y="2207220"/>
            <a:ext cx="16865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55A0B"/>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5278140" y="2639020"/>
            <a:ext cx="168652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The owner revokes</a:t>
            </a:r>
            <a:endParaRPr lang="en-US" sz="1500" dirty="0"/>
          </a:p>
        </p:txBody>
      </p:sp>
      <p:sp>
        <p:nvSpPr>
          <p:cNvPr id="18" name="Text 16"/>
          <p:cNvSpPr/>
          <p:nvPr/>
        </p:nvSpPr>
        <p:spPr>
          <a:xfrm>
            <a:off x="5278140" y="3172420"/>
            <a:ext cx="168652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mnemonic owner removes the person from the group in the central LDAP.</a:t>
            </a:r>
            <a:endParaRPr lang="en-US" sz="1300" dirty="0"/>
          </a:p>
        </p:txBody>
      </p:sp>
      <p:sp>
        <p:nvSpPr>
          <p:cNvPr id="19" name="Shape 17"/>
          <p:cNvSpPr/>
          <p:nvPr/>
        </p:nvSpPr>
        <p:spPr>
          <a:xfrm>
            <a:off x="7244060" y="1953220"/>
            <a:ext cx="1991420" cy="2288381"/>
          </a:xfrm>
          <a:prstGeom prst="roundRect">
            <a:avLst>
              <a:gd name="adj" fmla="val 3826"/>
            </a:avLst>
          </a:prstGeom>
          <a:solidFill>
            <a:srgbClr val="FCFCFA"/>
          </a:solidFill>
          <a:ln/>
          <a:effectLst>
            <a:outerShdw sx="100000" sy="100000" kx="0" ky="0" algn="bl" rotWithShape="0" blurRad="6350" dist="0" dir="60000">
              <a:srgbClr val="D7DCE3">
                <a:alpha val="100000"/>
              </a:srgbClr>
            </a:outerShdw>
          </a:effectLst>
        </p:spPr>
      </p:sp>
      <p:sp>
        <p:nvSpPr>
          <p:cNvPr id="20" name="Shape 18"/>
          <p:cNvSpPr/>
          <p:nvPr/>
        </p:nvSpPr>
        <p:spPr>
          <a:xfrm>
            <a:off x="7244060" y="1953220"/>
            <a:ext cx="1991420" cy="2288381"/>
          </a:xfrm>
          <a:custGeom>
            <a:avLst/>
            <a:gdLst/>
            <a:ahLst/>
            <a:cxnLst/>
            <a:rect l="l" t="t" r="r" b="b"/>
            <a:pathLst>
              <a:path w="1991420" h="2288381">
                <a:moveTo>
                  <a:pt x="0" y="76200"/>
                </a:moveTo>
                <a:lnTo>
                  <a:pt x="0" y="76200"/>
                </a:lnTo>
                <a:arcTo hR="76200" wR="76200" stAng="10800000" swAng="5400000"/>
                <a:lnTo>
                  <a:pt x="1915220" y="0"/>
                </a:lnTo>
                <a:arcTo hR="76200" wR="76200" stAng="16200000" swAng="5400000"/>
                <a:lnTo>
                  <a:pt x="1991420" y="76200"/>
                </a:lnTo>
                <a:lnTo>
                  <a:pt x="0" y="76200"/>
                </a:lnTo>
                <a:close/>
              </a:path>
            </a:pathLst>
          </a:custGeom>
          <a:solidFill>
            <a:srgbClr val="A55A0B"/>
          </a:solidFill>
          <a:ln/>
        </p:spPr>
      </p:sp>
      <p:sp>
        <p:nvSpPr>
          <p:cNvPr id="21" name="Text 19"/>
          <p:cNvSpPr/>
          <p:nvPr/>
        </p:nvSpPr>
        <p:spPr>
          <a:xfrm>
            <a:off x="7421860" y="2207220"/>
            <a:ext cx="16866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55A0B"/>
                </a:solidFill>
                <a:latin typeface="Arial" pitchFamily="34" charset="0"/>
                <a:ea typeface="Arial" pitchFamily="34" charset="-122"/>
                <a:cs typeface="Arial" pitchFamily="34" charset="-120"/>
              </a:rPr>
              <a:t>4</a:t>
            </a:r>
            <a:endParaRPr lang="en-US" sz="2800" dirty="0"/>
          </a:p>
        </p:txBody>
      </p:sp>
      <p:sp>
        <p:nvSpPr>
          <p:cNvPr id="22" name="Text 20"/>
          <p:cNvSpPr/>
          <p:nvPr/>
        </p:nvSpPr>
        <p:spPr>
          <a:xfrm>
            <a:off x="7421860" y="2639020"/>
            <a:ext cx="168662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GroupSync prunes</a:t>
            </a:r>
            <a:endParaRPr lang="en-US" sz="1500" dirty="0"/>
          </a:p>
        </p:txBody>
      </p:sp>
      <p:sp>
        <p:nvSpPr>
          <p:cNvPr id="23" name="Text 21"/>
          <p:cNvSpPr/>
          <p:nvPr/>
        </p:nvSpPr>
        <p:spPr>
          <a:xfrm>
            <a:off x="7421860" y="3172420"/>
            <a:ext cx="1686620"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operator removes them from the OpenShift group on its next run.</a:t>
            </a:r>
            <a:endParaRPr lang="en-US" sz="1300" dirty="0"/>
          </a:p>
        </p:txBody>
      </p:sp>
      <p:sp>
        <p:nvSpPr>
          <p:cNvPr id="24" name="Shape 22"/>
          <p:cNvSpPr/>
          <p:nvPr/>
        </p:nvSpPr>
        <p:spPr>
          <a:xfrm>
            <a:off x="9387880" y="1953220"/>
            <a:ext cx="1991320" cy="2288381"/>
          </a:xfrm>
          <a:prstGeom prst="roundRect">
            <a:avLst>
              <a:gd name="adj" fmla="val 3827"/>
            </a:avLst>
          </a:prstGeom>
          <a:solidFill>
            <a:srgbClr val="FCFCFA"/>
          </a:solidFill>
          <a:ln/>
          <a:effectLst>
            <a:outerShdw sx="100000" sy="100000" kx="0" ky="0" algn="bl" rotWithShape="0" blurRad="6350" dist="0" dir="60000">
              <a:srgbClr val="D7DCE3">
                <a:alpha val="100000"/>
              </a:srgbClr>
            </a:outerShdw>
          </a:effectLst>
        </p:spPr>
      </p:sp>
      <p:sp>
        <p:nvSpPr>
          <p:cNvPr id="25" name="Shape 23"/>
          <p:cNvSpPr/>
          <p:nvPr/>
        </p:nvSpPr>
        <p:spPr>
          <a:xfrm>
            <a:off x="9387880" y="1953220"/>
            <a:ext cx="1991320" cy="2288381"/>
          </a:xfrm>
          <a:custGeom>
            <a:avLst/>
            <a:gdLst/>
            <a:ahLst/>
            <a:cxnLst/>
            <a:rect l="l" t="t" r="r" b="b"/>
            <a:pathLst>
              <a:path w="1991320" h="2288381">
                <a:moveTo>
                  <a:pt x="0" y="76200"/>
                </a:moveTo>
                <a:lnTo>
                  <a:pt x="0" y="76200"/>
                </a:lnTo>
                <a:arcTo hR="76200" wR="76200" stAng="10800000" swAng="5400000"/>
                <a:lnTo>
                  <a:pt x="1915120" y="0"/>
                </a:lnTo>
                <a:arcTo hR="76200" wR="76200" stAng="16200000" swAng="5400000"/>
                <a:lnTo>
                  <a:pt x="1991320" y="76200"/>
                </a:lnTo>
                <a:lnTo>
                  <a:pt x="0" y="76200"/>
                </a:lnTo>
                <a:close/>
              </a:path>
            </a:pathLst>
          </a:custGeom>
          <a:solidFill>
            <a:srgbClr val="A55A0B"/>
          </a:solidFill>
          <a:ln/>
        </p:spPr>
      </p:sp>
      <p:sp>
        <p:nvSpPr>
          <p:cNvPr id="26" name="Text 24"/>
          <p:cNvSpPr/>
          <p:nvPr/>
        </p:nvSpPr>
        <p:spPr>
          <a:xfrm>
            <a:off x="9565680" y="2207220"/>
            <a:ext cx="168652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A55A0B"/>
                </a:solidFill>
                <a:latin typeface="Arial" pitchFamily="34" charset="0"/>
                <a:ea typeface="Arial" pitchFamily="34" charset="-122"/>
                <a:cs typeface="Arial" pitchFamily="34" charset="-120"/>
              </a:rPr>
              <a:t>5</a:t>
            </a:r>
            <a:endParaRPr lang="en-US" sz="2800" dirty="0"/>
          </a:p>
        </p:txBody>
      </p:sp>
      <p:sp>
        <p:nvSpPr>
          <p:cNvPr id="27" name="Text 25"/>
          <p:cNvSpPr/>
          <p:nvPr/>
        </p:nvSpPr>
        <p:spPr>
          <a:xfrm>
            <a:off x="9565680" y="2639020"/>
            <a:ext cx="1686520"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The dashboard shows it</a:t>
            </a:r>
            <a:endParaRPr lang="en-US" sz="1500" dirty="0"/>
          </a:p>
        </p:txBody>
      </p:sp>
      <p:sp>
        <p:nvSpPr>
          <p:cNvPr id="28" name="Text 26"/>
          <p:cNvSpPr/>
          <p:nvPr/>
        </p:nvSpPr>
        <p:spPr>
          <a:xfrm>
            <a:off x="9565680" y="3172420"/>
            <a:ext cx="168652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on its next poll; the next report diff records the change.</a:t>
            </a:r>
            <a:endParaRPr lang="en-US" sz="1300" dirty="0"/>
          </a:p>
        </p:txBody>
      </p:sp>
      <p:sp>
        <p:nvSpPr>
          <p:cNvPr id="29" name="Shape 27"/>
          <p:cNvSpPr/>
          <p:nvPr/>
        </p:nvSpPr>
        <p:spPr>
          <a:xfrm>
            <a:off x="812800" y="4495602"/>
            <a:ext cx="10566400" cy="818455"/>
          </a:xfrm>
          <a:prstGeom prst="roundRect">
            <a:avLst>
              <a:gd name="adj" fmla="val 9310"/>
            </a:avLst>
          </a:prstGeom>
          <a:solidFill>
            <a:srgbClr val="FBEDEC"/>
          </a:solidFill>
          <a:ln/>
        </p:spPr>
      </p:sp>
      <p:sp>
        <p:nvSpPr>
          <p:cNvPr id="30" name="Shape 28"/>
          <p:cNvSpPr/>
          <p:nvPr/>
        </p:nvSpPr>
        <p:spPr>
          <a:xfrm>
            <a:off x="812800" y="4495602"/>
            <a:ext cx="10566400" cy="818455"/>
          </a:xfrm>
          <a:custGeom>
            <a:avLst/>
            <a:gdLst/>
            <a:ahLst/>
            <a:cxnLst/>
            <a:rect l="l" t="t" r="r" b="b"/>
            <a:pathLst>
              <a:path w="10566400" h="818455">
                <a:moveTo>
                  <a:pt x="76200" y="818455"/>
                </a:moveTo>
                <a:lnTo>
                  <a:pt x="76200" y="818455"/>
                </a:lnTo>
                <a:arcTo hR="76200" wR="76200" stAng="5400000" swAng="5400000"/>
                <a:lnTo>
                  <a:pt x="0" y="76200"/>
                </a:lnTo>
                <a:arcTo hR="76200" wR="76200" stAng="10800000" swAng="5400000"/>
                <a:lnTo>
                  <a:pt x="76200" y="0"/>
                </a:lnTo>
                <a:lnTo>
                  <a:pt x="76200" y="818455"/>
                </a:lnTo>
                <a:close/>
              </a:path>
            </a:pathLst>
          </a:custGeom>
          <a:solidFill>
            <a:srgbClr val="B3261E"/>
          </a:solidFill>
          <a:ln/>
        </p:spPr>
      </p:sp>
      <p:sp>
        <p:nvSpPr>
          <p:cNvPr id="31" name="Text 29"/>
          <p:cNvSpPr/>
          <p:nvPr/>
        </p:nvSpPr>
        <p:spPr>
          <a:xfrm>
            <a:off x="1092200" y="4648002"/>
            <a:ext cx="1038631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8212C"/>
                </a:solidFill>
                <a:latin typeface="Arial" pitchFamily="34" charset="0"/>
                <a:ea typeface="Arial" pitchFamily="34" charset="-122"/>
                <a:cs typeface="Arial" pitchFamily="34" charset="-120"/>
              </a:rPr>
              <a:t>A grant naming a person directly is not in LDAP, so step 3 cannot remove it.</a:t>
            </a:r>
            <a:endParaRPr lang="en-US" sz="1400" dirty="0"/>
          </a:p>
        </p:txBody>
      </p:sp>
      <p:sp>
        <p:nvSpPr>
          <p:cNvPr id="32" name="Text 30"/>
          <p:cNvSpPr/>
          <p:nvPr/>
        </p:nvSpPr>
        <p:spPr>
          <a:xfrm>
            <a:off x="1092200" y="4938812"/>
            <a:ext cx="1038631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Add the person to the right LDAP group, wait one sync, then delete the direct binding. The Namespace audit lists every one.</a:t>
            </a:r>
            <a:endParaRPr lang="en-US" sz="1300" dirty="0"/>
          </a:p>
        </p:txBody>
      </p:sp>
      <p:sp>
        <p:nvSpPr>
          <p:cNvPr id="33" name="Text 31"/>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Sources: reference-architecture.md §1a · the lab's GroupSync CRs (prune on; every 30 min to 2 h) · SPEC_F3 (report diff)</a:t>
            </a:r>
            <a:endParaRPr lang="en-US" sz="1200" dirty="0"/>
          </a:p>
        </p:txBody>
      </p:sp>
      <p:sp>
        <p:nvSpPr>
          <p:cNvPr id="34" name="Text 32"/>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14 / 26</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0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PROVENANCE</a:t>
            </a:r>
            <a:endParaRPr lang="en-US" sz="1159" dirty="0"/>
          </a:p>
        </p:txBody>
      </p:sp>
      <p:sp>
        <p:nvSpPr>
          <p:cNvPr id="3" name="Text 1"/>
          <p:cNvSpPr/>
          <p:nvPr/>
        </p:nvSpPr>
        <p:spPr>
          <a:xfrm>
            <a:off x="812800" y="1269405"/>
            <a:ext cx="10883392" cy="423466"/>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Evidence an auditor can trust</a:t>
            </a:r>
            <a:endParaRPr lang="en-US" sz="2878" dirty="0"/>
          </a:p>
        </p:txBody>
      </p:sp>
      <p:sp>
        <p:nvSpPr>
          <p:cNvPr id="4" name="Shape 2"/>
          <p:cNvSpPr/>
          <p:nvPr/>
        </p:nvSpPr>
        <p:spPr>
          <a:xfrm>
            <a:off x="850900" y="1921470"/>
            <a:ext cx="0" cy="445691"/>
          </a:xfrm>
          <a:prstGeom prst="line">
            <a:avLst/>
          </a:prstGeom>
          <a:noFill/>
          <a:ln w="76200">
            <a:solidFill>
              <a:srgbClr val="A55A0B"/>
            </a:solidFill>
            <a:prstDash val="solid"/>
          </a:ln>
        </p:spPr>
      </p:sp>
      <p:sp>
        <p:nvSpPr>
          <p:cNvPr id="5" name="Text 3"/>
          <p:cNvSpPr/>
          <p:nvPr/>
        </p:nvSpPr>
        <p:spPr>
          <a:xfrm>
            <a:off x="1041400" y="1921470"/>
            <a:ext cx="56509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sha256 of the report's data, the snapshot it was read from, and its schema.</a:t>
            </a:r>
            <a:endParaRPr lang="en-US" sz="1300" dirty="0"/>
          </a:p>
        </p:txBody>
      </p:sp>
      <p:sp>
        <p:nvSpPr>
          <p:cNvPr id="6" name="Shape 4"/>
          <p:cNvSpPr/>
          <p:nvPr/>
        </p:nvSpPr>
        <p:spPr>
          <a:xfrm>
            <a:off x="850900" y="2544961"/>
            <a:ext cx="0" cy="445691"/>
          </a:xfrm>
          <a:prstGeom prst="line">
            <a:avLst/>
          </a:prstGeom>
          <a:noFill/>
          <a:ln w="76200">
            <a:solidFill>
              <a:srgbClr val="A55A0B"/>
            </a:solidFill>
            <a:prstDash val="solid"/>
          </a:ln>
        </p:spPr>
      </p:sp>
      <p:sp>
        <p:nvSpPr>
          <p:cNvPr id="7" name="Text 5"/>
          <p:cNvSpPr/>
          <p:nvPr/>
        </p:nvSpPr>
        <p:spPr>
          <a:xfrm>
            <a:off x="1041400" y="2544961"/>
            <a:ext cx="56509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Who generated it (a person verified by the OpenShift login, or the schedule by name) and when.</a:t>
            </a:r>
            <a:endParaRPr lang="en-US" sz="1300" dirty="0"/>
          </a:p>
        </p:txBody>
      </p:sp>
      <p:sp>
        <p:nvSpPr>
          <p:cNvPr id="8" name="Shape 6"/>
          <p:cNvSpPr/>
          <p:nvPr/>
        </p:nvSpPr>
        <p:spPr>
          <a:xfrm>
            <a:off x="850900" y="3168452"/>
            <a:ext cx="0" cy="445691"/>
          </a:xfrm>
          <a:prstGeom prst="line">
            <a:avLst/>
          </a:prstGeom>
          <a:noFill/>
          <a:ln w="76200">
            <a:solidFill>
              <a:srgbClr val="A55A0B"/>
            </a:solidFill>
            <a:prstDash val="solid"/>
          </a:ln>
        </p:spPr>
      </p:sp>
      <p:sp>
        <p:nvSpPr>
          <p:cNvPr id="9" name="Text 7"/>
          <p:cNvSpPr/>
          <p:nvPr/>
        </p:nvSpPr>
        <p:spPr>
          <a:xfrm>
            <a:off x="1041400" y="3168452"/>
            <a:ext cx="56509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PDF/A-2b for archiving; a report diff answers “what changed since the last review”.</a:t>
            </a:r>
            <a:endParaRPr lang="en-US" sz="1300" dirty="0"/>
          </a:p>
        </p:txBody>
      </p:sp>
      <p:sp>
        <p:nvSpPr>
          <p:cNvPr id="10" name="Shape 8"/>
          <p:cNvSpPr/>
          <p:nvPr/>
        </p:nvSpPr>
        <p:spPr>
          <a:xfrm>
            <a:off x="850900" y="3791942"/>
            <a:ext cx="0" cy="445691"/>
          </a:xfrm>
          <a:prstGeom prst="line">
            <a:avLst/>
          </a:prstGeom>
          <a:noFill/>
          <a:ln w="76200">
            <a:solidFill>
              <a:srgbClr val="A55A0B"/>
            </a:solidFill>
            <a:prstDash val="solid"/>
          </a:ln>
        </p:spPr>
      </p:sp>
      <p:sp>
        <p:nvSpPr>
          <p:cNvPr id="11" name="Text 9"/>
          <p:cNvSpPr/>
          <p:nvPr/>
        </p:nvSpPr>
        <p:spPr>
          <a:xfrm>
            <a:off x="1041400" y="3791942"/>
            <a:ext cx="56509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Login attempts are kept 400 days, so a year-over-year review still sees the previous cycle.</a:t>
            </a:r>
            <a:endParaRPr lang="en-US" sz="1300" dirty="0"/>
          </a:p>
        </p:txBody>
      </p:sp>
      <p:sp>
        <p:nvSpPr>
          <p:cNvPr id="12" name="Shape 10"/>
          <p:cNvSpPr/>
          <p:nvPr/>
        </p:nvSpPr>
        <p:spPr>
          <a:xfrm>
            <a:off x="6883400" y="1921470"/>
            <a:ext cx="4445000" cy="4127500"/>
          </a:xfrm>
          <a:prstGeom prst="roundRect">
            <a:avLst>
              <a:gd name="adj" fmla="val 1846"/>
            </a:avLst>
          </a:prstGeom>
          <a:solidFill>
            <a:srgbClr val="FFFFFF"/>
          </a:solidFill>
          <a:ln/>
        </p:spPr>
      </p:sp>
      <p:pic>
        <p:nvPicPr>
          <p:cNvPr id="13" name="Image 0" descr="The provenance block of a report: handling marking, cluster, generated at, generated by, run id, report service 5.8.0, the data snapshot, the last poll and the coverage notes.">    </p:cNvPr>
          <p:cNvPicPr>
            <a:picLocks noChangeAspect="1"/>
          </p:cNvPicPr>
          <p:nvPr/>
        </p:nvPicPr>
        <p:blipFill>
          <a:blip r:embed="rId1"/>
          <a:stretch>
            <a:fillRect/>
          </a:stretch>
        </p:blipFill>
        <p:spPr>
          <a:xfrm>
            <a:off x="7290547" y="1927820"/>
            <a:ext cx="3630706" cy="4114800"/>
          </a:xfrm>
          <a:prstGeom prst="rect">
            <a:avLst/>
          </a:prstGeom>
        </p:spPr>
      </p:pic>
      <p:sp>
        <p:nvSpPr>
          <p:cNvPr id="14" name="Shape 11"/>
          <p:cNvSpPr/>
          <p:nvPr/>
        </p:nvSpPr>
        <p:spPr>
          <a:xfrm>
            <a:off x="6886575" y="1924645"/>
            <a:ext cx="4438650" cy="4121150"/>
          </a:xfrm>
          <a:prstGeom prst="roundRect">
            <a:avLst>
              <a:gd name="adj" fmla="val 1772"/>
            </a:avLst>
          </a:prstGeom>
          <a:noFill/>
          <a:ln w="6350">
            <a:solidFill>
              <a:srgbClr val="D7DCE3"/>
            </a:solidFill>
            <a:prstDash val="solid"/>
          </a:ln>
        </p:spPr>
      </p:sp>
      <p:sp>
        <p:nvSpPr>
          <p:cNvPr id="15" name="Text 12"/>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the report's provenance, the lab at 5.8.0 · values.yaml (login retention) · SPEC_F3 (report diff)</a:t>
            </a:r>
            <a:endParaRPr lang="en-US" sz="1200" dirty="0"/>
          </a:p>
        </p:txBody>
      </p:sp>
      <p:sp>
        <p:nvSpPr>
          <p:cNvPr id="16" name="Text 13"/>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15 / 26</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5049"/>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E6F68"/>
                </a:solidFill>
                <a:latin typeface="Courier New" pitchFamily="49" charset="0"/>
                <a:ea typeface="Courier New" pitchFamily="49" charset="-122"/>
                <a:cs typeface="Courier New" pitchFamily="49" charset="-120"/>
              </a:rPr>
              <a:t>EVERY QUARTER</a:t>
            </a:r>
            <a:endParaRPr lang="en-US" sz="1196" dirty="0"/>
          </a:p>
        </p:txBody>
      </p:sp>
      <p:sp>
        <p:nvSpPr>
          <p:cNvPr id="3" name="Text 1"/>
          <p:cNvSpPr/>
          <p:nvPr/>
        </p:nvSpPr>
        <p:spPr>
          <a:xfrm>
            <a:off x="812800" y="1276449"/>
            <a:ext cx="10883392" cy="437158"/>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8212C"/>
                </a:solidFill>
                <a:latin typeface="Arial" pitchFamily="34" charset="0"/>
                <a:ea typeface="Arial" pitchFamily="34" charset="-122"/>
                <a:cs typeface="Arial" pitchFamily="34" charset="-120"/>
              </a:rPr>
              <a:t>Scheduled, not remembered</a:t>
            </a:r>
            <a:endParaRPr lang="en-US" sz="2972" dirty="0"/>
          </a:p>
        </p:txBody>
      </p:sp>
      <p:sp>
        <p:nvSpPr>
          <p:cNvPr id="4" name="Shape 2"/>
          <p:cNvSpPr/>
          <p:nvPr/>
        </p:nvSpPr>
        <p:spPr>
          <a:xfrm>
            <a:off x="812800" y="1942207"/>
            <a:ext cx="3810000" cy="2034282"/>
          </a:xfrm>
          <a:prstGeom prst="roundRect">
            <a:avLst>
              <a:gd name="adj" fmla="val 4994"/>
            </a:avLst>
          </a:prstGeom>
          <a:solidFill>
            <a:srgbClr val="14202B"/>
          </a:solidFill>
          <a:ln/>
        </p:spPr>
      </p:sp>
      <p:sp>
        <p:nvSpPr>
          <p:cNvPr id="5" name="Text 3"/>
          <p:cNvSpPr/>
          <p:nvPr/>
        </p:nvSpPr>
        <p:spPr>
          <a:xfrm>
            <a:off x="1041400" y="2170807"/>
            <a:ext cx="3453384"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CFC0"/>
                </a:solidFill>
                <a:latin typeface="Courier New" pitchFamily="49" charset="0"/>
                <a:ea typeface="Courier New" pitchFamily="49" charset="-122"/>
                <a:cs typeface="Courier New" pitchFamily="49" charset="-120"/>
              </a:rPr>
              <a:t>quarterly-compliance</a:t>
            </a:r>
            <a:endParaRPr lang="en-US" sz="1300" dirty="0"/>
          </a:p>
        </p:txBody>
      </p:sp>
      <p:sp>
        <p:nvSpPr>
          <p:cNvPr id="6" name="Text 4"/>
          <p:cNvSpPr/>
          <p:nvPr/>
        </p:nvSpPr>
        <p:spPr>
          <a:xfrm>
            <a:off x="1041400" y="2478088"/>
            <a:ext cx="345338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5F6F8"/>
                </a:solidFill>
                <a:latin typeface="Courier New" pitchFamily="49" charset="0"/>
                <a:ea typeface="Courier New" pitchFamily="49" charset="-122"/>
                <a:cs typeface="Courier New" pitchFamily="49" charset="-120"/>
              </a:rPr>
              <a:t>0 5 1 1,4,7,10 *</a:t>
            </a:r>
            <a:endParaRPr lang="en-US" sz="1700" dirty="0"/>
          </a:p>
        </p:txBody>
      </p:sp>
      <p:sp>
        <p:nvSpPr>
          <p:cNvPr id="7" name="Text 5"/>
          <p:cNvSpPr/>
          <p:nvPr/>
        </p:nvSpPr>
        <p:spPr>
          <a:xfrm>
            <a:off x="1041400" y="2856508"/>
            <a:ext cx="3453384" cy="91678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8D2"/>
                </a:solidFill>
                <a:latin typeface="Arial" pitchFamily="34" charset="0"/>
                <a:ea typeface="Arial" pitchFamily="34" charset="-122"/>
                <a:cs typeface="Arial" pitchFamily="34" charset="-120"/>
              </a:rPr>
              <a:t>05:00 New York time on 1 January, April, July and October; every run kept 2,555 days, about seven years, and the newest 12 per cluster beyond that.</a:t>
            </a:r>
            <a:endParaRPr lang="en-US" sz="1300" dirty="0"/>
          </a:p>
        </p:txBody>
      </p:sp>
      <p:sp>
        <p:nvSpPr>
          <p:cNvPr id="8" name="Shape 6"/>
          <p:cNvSpPr/>
          <p:nvPr/>
        </p:nvSpPr>
        <p:spPr>
          <a:xfrm>
            <a:off x="850900" y="4128889"/>
            <a:ext cx="0" cy="445691"/>
          </a:xfrm>
          <a:prstGeom prst="line">
            <a:avLst/>
          </a:prstGeom>
          <a:noFill/>
          <a:ln w="76200">
            <a:solidFill>
              <a:srgbClr val="0E6F68"/>
            </a:solidFill>
            <a:prstDash val="solid"/>
          </a:ln>
        </p:spPr>
      </p:sp>
      <p:sp>
        <p:nvSpPr>
          <p:cNvPr id="9" name="Text 7"/>
          <p:cNvSpPr/>
          <p:nvPr/>
        </p:nvSpPr>
        <p:spPr>
          <a:xfrm>
            <a:off x="1041400" y="4128889"/>
            <a:ext cx="368884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Each scheduled run can send one CloudEvent to a webhook.</a:t>
            </a:r>
            <a:endParaRPr lang="en-US" sz="1300" dirty="0"/>
          </a:p>
        </p:txBody>
      </p:sp>
      <p:sp>
        <p:nvSpPr>
          <p:cNvPr id="10" name="Shape 8"/>
          <p:cNvSpPr/>
          <p:nvPr/>
        </p:nvSpPr>
        <p:spPr>
          <a:xfrm>
            <a:off x="850900" y="4726980"/>
            <a:ext cx="0" cy="222845"/>
          </a:xfrm>
          <a:prstGeom prst="line">
            <a:avLst/>
          </a:prstGeom>
          <a:noFill/>
          <a:ln w="76200">
            <a:solidFill>
              <a:srgbClr val="B3261E"/>
            </a:solidFill>
            <a:prstDash val="solid"/>
          </a:ln>
        </p:spPr>
      </p:sp>
      <p:sp>
        <p:nvSpPr>
          <p:cNvPr id="11" name="Text 9"/>
          <p:cNvSpPr/>
          <p:nvPr/>
        </p:nvSpPr>
        <p:spPr>
          <a:xfrm>
            <a:off x="1041400" y="4726980"/>
            <a:ext cx="368884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An alert fires when a schedule runs late.</a:t>
            </a:r>
            <a:endParaRPr lang="en-US" sz="1300" dirty="0"/>
          </a:p>
        </p:txBody>
      </p:sp>
      <p:sp>
        <p:nvSpPr>
          <p:cNvPr id="12" name="Shape 10"/>
          <p:cNvSpPr/>
          <p:nvPr/>
        </p:nvSpPr>
        <p:spPr>
          <a:xfrm>
            <a:off x="4978400" y="1942207"/>
            <a:ext cx="6350000" cy="3968750"/>
          </a:xfrm>
          <a:prstGeom prst="roundRect">
            <a:avLst>
              <a:gd name="adj" fmla="val 1920"/>
            </a:avLst>
          </a:prstGeom>
          <a:solidFill>
            <a:srgbClr val="FFFFFF"/>
          </a:solidFill>
          <a:ln/>
        </p:spPr>
      </p:sp>
      <p:pic>
        <p:nvPicPr>
          <p:cNvPr id="13" name="Image 0" descr="The Library tab in the light theme: 24 runs, 4 schedules, 2 paused; each schedule's runs by cluster, with their files and how long each is kept.">    </p:cNvPr>
          <p:cNvPicPr>
            <a:picLocks noChangeAspect="1"/>
          </p:cNvPicPr>
          <p:nvPr/>
        </p:nvPicPr>
        <p:blipFill>
          <a:blip r:embed="rId1"/>
          <a:srcRect l="-60" r="-60" t="0" b="0"/>
          <a:stretch/>
        </p:blipFill>
        <p:spPr>
          <a:xfrm>
            <a:off x="4984750" y="1948557"/>
            <a:ext cx="6337300" cy="3956050"/>
          </a:xfrm>
          <a:prstGeom prst="roundRect">
            <a:avLst>
              <a:gd name="adj" fmla="val 1766"/>
            </a:avLst>
          </a:prstGeom>
        </p:spPr>
      </p:pic>
      <p:sp>
        <p:nvSpPr>
          <p:cNvPr id="14" name="Shape 11"/>
          <p:cNvSpPr/>
          <p:nvPr/>
        </p:nvSpPr>
        <p:spPr>
          <a:xfrm>
            <a:off x="4981575" y="1945382"/>
            <a:ext cx="6343650" cy="3962400"/>
          </a:xfrm>
          <a:prstGeom prst="roundRect">
            <a:avLst>
              <a:gd name="adj" fmla="val 1843"/>
            </a:avLst>
          </a:prstGeom>
          <a:noFill/>
          <a:ln w="6350">
            <a:solidFill>
              <a:srgbClr val="D7DCE3"/>
            </a:solidFill>
            <a:prstDash val="solid"/>
          </a:ln>
        </p:spPr>
      </p:sp>
      <p:sp>
        <p:nvSpPr>
          <p:cNvPr id="15" name="Text 12"/>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Library, light theme, the lab at 5.8.0 · environments/crc.yaml (the quarterly schedule)</a:t>
            </a:r>
            <a:endParaRPr lang="en-US" sz="1200" dirty="0"/>
          </a:p>
        </p:txBody>
      </p:sp>
      <p:sp>
        <p:nvSpPr>
          <p:cNvPr id="16" name="Text 13"/>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16 / 26</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250825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200" kern="0" dirty="0">
                <a:solidFill>
                  <a:srgbClr val="3FCFC0"/>
                </a:solidFill>
                <a:latin typeface="Courier New" pitchFamily="49" charset="0"/>
                <a:ea typeface="Courier New" pitchFamily="49" charset="-122"/>
                <a:cs typeface="Courier New" pitchFamily="49" charset="-120"/>
              </a:rPr>
              <a:t>PART 2</a:t>
            </a:r>
            <a:endParaRPr lang="en-US" sz="1400" dirty="0"/>
          </a:p>
        </p:txBody>
      </p:sp>
      <p:sp>
        <p:nvSpPr>
          <p:cNvPr id="3" name="Text 1"/>
          <p:cNvSpPr/>
          <p:nvPr/>
        </p:nvSpPr>
        <p:spPr>
          <a:xfrm>
            <a:off x="812800" y="2960291"/>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5F6F8"/>
                </a:solidFill>
                <a:latin typeface="Arial" pitchFamily="34" charset="0"/>
                <a:ea typeface="Arial" pitchFamily="34" charset="-122"/>
                <a:cs typeface="Arial" pitchFamily="34" charset="-120"/>
              </a:rPr>
              <a:t>How it works</a:t>
            </a:r>
            <a:endParaRPr lang="en-US" sz="4800" dirty="0"/>
          </a:p>
        </p:txBody>
      </p:sp>
      <p:sp>
        <p:nvSpPr>
          <p:cNvPr id="4" name="Text 2"/>
          <p:cNvSpPr/>
          <p:nvPr/>
        </p:nvSpPr>
        <p:spPr>
          <a:xfrm>
            <a:off x="812800" y="3803551"/>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8D2"/>
                </a:solidFill>
                <a:latin typeface="Arial" pitchFamily="34" charset="0"/>
                <a:ea typeface="Arial" pitchFamily="34" charset="-122"/>
                <a:cs typeface="Arial" pitchFamily="34" charset="-120"/>
              </a:rPr>
              <a:t>Read-only by design: it reads clusters, and it never changes anyone's access.</a:t>
            </a:r>
            <a:endParaRPr lang="en-US" sz="2000" dirty="0"/>
          </a:p>
        </p:txBody>
      </p:sp>
      <p:sp>
        <p:nvSpPr>
          <p:cNvPr id="5" name="Text 3"/>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E5E9EF"/>
                </a:solidFill>
                <a:latin typeface="Arial" pitchFamily="34" charset="0"/>
                <a:ea typeface="Arial" pitchFamily="34" charset="-122"/>
                <a:cs typeface="Arial" pitchFamily="34" charset="-120"/>
              </a:rPr>
              <a:t>17 / 26</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ACCESS TIERS</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Who sees what: the cluster decides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5920"/>
          <a:ext cx="10553700" cy="2676327"/>
        </p:xfrm>
        <a:graphic>
          <a:graphicData uri="http://schemas.openxmlformats.org/drawingml/2006/table">
            <a:tbl>
              <a:tblPr/>
              <a:tblGrid>
                <a:gridCol w="2110740"/>
                <a:gridCol w="4010406"/>
                <a:gridCol w="4432554"/>
              </a:tblGrid>
              <a:tr h="385961">
                <a:tc>
                  <a:txBody>
                    <a:bodyPr/>
                    <a:lstStyle/>
                    <a:p>
                      <a:pPr indent="0" marL="0">
                        <a:lnSpc>
                          <a:spcPts val="1960"/>
                        </a:lnSpc>
                        <a:buNone/>
                      </a:pPr>
                      <a:r>
                        <a:rPr lang="en-US" sz="1400" b="1" dirty="0">
                          <a:solidFill>
                            <a:srgbClr val="18212C"/>
                          </a:solidFill>
                          <a:latin typeface="Arial" pitchFamily="34" charset="0"/>
                          <a:ea typeface="Arial" pitchFamily="34" charset="-122"/>
                          <a:cs typeface="Arial" pitchFamily="34" charset="-120"/>
                        </a:rPr>
                        <a:t>Tier</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3E4E6"/>
                    </a:solidFill>
                  </a:tcPr>
                </a:tc>
                <a:tc>
                  <a:txBody>
                    <a:bodyPr/>
                    <a:lstStyle/>
                    <a:p>
                      <a:pPr indent="0" marL="0">
                        <a:lnSpc>
                          <a:spcPts val="1960"/>
                        </a:lnSpc>
                        <a:buNone/>
                      </a:pPr>
                      <a:r>
                        <a:rPr lang="en-US" sz="1400" b="1" dirty="0">
                          <a:solidFill>
                            <a:srgbClr val="18212C"/>
                          </a:solidFill>
                          <a:latin typeface="Arial" pitchFamily="34" charset="0"/>
                          <a:ea typeface="Arial" pitchFamily="34" charset="-122"/>
                          <a:cs typeface="Arial" pitchFamily="34" charset="-120"/>
                        </a:rPr>
                        <a:t>Who has it</a:t>
                      </a:r>
                      <a:endParaRPr lang="en-US" sz="1400" dirty="0">
                        <a:latin typeface="Arial" charset="0"/>
                        <a:ea typeface="Arial" charset="0"/>
                        <a:cs typeface="Arial"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3E4E6"/>
                    </a:solidFill>
                  </a:tcPr>
                </a:tc>
                <a:tc>
                  <a:txBody>
                    <a:bodyPr/>
                    <a:lstStyle/>
                    <a:p>
                      <a:pPr indent="0" marL="0">
                        <a:lnSpc>
                          <a:spcPts val="1960"/>
                        </a:lnSpc>
                        <a:buNone/>
                      </a:pPr>
                      <a:r>
                        <a:rPr lang="en-US" sz="1400" b="1" dirty="0">
                          <a:solidFill>
                            <a:srgbClr val="18212C"/>
                          </a:solidFill>
                          <a:latin typeface="Arial" pitchFamily="34" charset="0"/>
                          <a:ea typeface="Arial" pitchFamily="34" charset="-122"/>
                          <a:cs typeface="Arial" pitchFamily="34" charset="-120"/>
                        </a:rPr>
                        <a:t>What they see</a:t>
                      </a:r>
                      <a:endParaRPr lang="en-US" sz="1400" dirty="0">
                        <a:latin typeface="Arial" charset="0"/>
                        <a:ea typeface="Arial" charset="0"/>
                        <a:cs typeface="Arial" charset="0"/>
                      </a:endParaRPr>
                    </a:p>
                  </a:txBody>
                  <a:tcPr marL="62230" marR="62230" marT="62230" marB="62230" anchor="t">
                    <a:lnL w="12700" cap="flat" cmpd="sng" algn="ctr">
                      <a:solidFill>
                        <a:srgbClr val="B5B6B8"/>
                      </a:solidFill>
                      <a:prstDash val="solid"/>
                      <a:round/>
                      <a:headEnd type="none" w="med" len="med"/>
                      <a:tailEnd type="none" w="med" len="med"/>
                    </a:lnL>
                    <a:lnR w="12700" cap="flat" cmpd="sng" algn="ctr">
                      <a:solidFill>
                        <a:srgbClr val="B5B6B8"/>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5B6B8"/>
                      </a:solidFill>
                      <a:prstDash val="solid"/>
                      <a:round/>
                      <a:headEnd type="none" w="med" len="med"/>
                      <a:tailEnd type="none" w="med" len="med"/>
                    </a:lnB>
                    <a:solidFill>
                      <a:srgbClr val="E3E4E6"/>
                    </a:solidFill>
                  </a:tcPr>
                </a:tc>
              </a:tr>
              <a:tr h="385961">
                <a:tc>
                  <a:txBody>
                    <a:bodyPr/>
                    <a:lstStyle/>
                    <a:p>
                      <a:pPr indent="0" marL="0">
                        <a:lnSpc>
                          <a:spcPts val="1960"/>
                        </a:lnSpc>
                        <a:buNone/>
                      </a:pPr>
                      <a:r>
                        <a:rPr lang="en-US" sz="1400" dirty="0">
                          <a:solidFill>
                            <a:srgbClr val="0E6F68"/>
                          </a:solidFill>
                          <a:latin typeface="Arial" pitchFamily="34" charset="0"/>
                          <a:ea typeface="Arial" pitchFamily="34" charset="-122"/>
                          <a:cs typeface="Arial" pitchFamily="34" charset="-120"/>
                        </a:rPr>
                        <a:t>Self</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4C4C6"/>
                      </a:solidFill>
                      <a:prstDash val="solid"/>
                      <a:round/>
                      <a:headEnd type="none" w="med" len="med"/>
                      <a:tailEnd type="none" w="med" len="med"/>
                    </a:lnB>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Everyone who can sign in</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4C4C6"/>
                      </a:solidFill>
                      <a:prstDash val="solid"/>
                      <a:round/>
                      <a:headEnd type="none" w="med" len="med"/>
                      <a:tailEnd type="none" w="med" len="med"/>
                    </a:lnB>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Their own access: Home, and their own rows</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B5B6B8"/>
                      </a:solidFill>
                      <a:prstDash val="solid"/>
                      <a:round/>
                      <a:headEnd type="none" w="med" len="med"/>
                      <a:tailEnd type="none" w="med" len="med"/>
                    </a:lnT>
                    <a:lnB w="12700" cap="flat" cmpd="sng" algn="ctr">
                      <a:solidFill>
                        <a:srgbClr val="C4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A55A0B"/>
                          </a:solidFill>
                          <a:latin typeface="Arial" pitchFamily="34" charset="0"/>
                          <a:ea typeface="Arial" pitchFamily="34" charset="-122"/>
                          <a:cs typeface="Arial" pitchFamily="34" charset="-120"/>
                        </a:rPr>
                        <a:t>Auditor</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BEC0C2"/>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EC0C2"/>
                      </a:solidFill>
                      <a:prstDash val="solid"/>
                      <a:round/>
                      <a:headEnd type="none" w="med" len="med"/>
                      <a:tailEnd type="none" w="med" len="med"/>
                    </a:lnB>
                    <a:solidFill>
                      <a:srgbClr val="EEF0F3"/>
                    </a:solidFill>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Can list clusterrolebindings, for example through an auditor group</a:t>
                      </a:r>
                      <a:endParaRPr lang="en-US" sz="1400" dirty="0">
                        <a:latin typeface="Arial" charset="0"/>
                        <a:ea typeface="Arial" charset="0"/>
                        <a:cs typeface="Arial" charset="0"/>
                      </a:endParaRPr>
                    </a:p>
                  </a:txBody>
                  <a:tcPr marL="62230" marR="62230" marT="62230" marB="62230" anchor="t">
                    <a:lnL w="12700" cap="flat" cmpd="sng" algn="ctr">
                      <a:solidFill>
                        <a:srgbClr val="BEC0C2"/>
                      </a:solidFill>
                      <a:prstDash val="solid"/>
                      <a:round/>
                      <a:headEnd type="none" w="med" len="med"/>
                      <a:tailEnd type="none" w="med" len="med"/>
                    </a:lnL>
                    <a:lnR w="12700" cap="flat" cmpd="sng" algn="ctr">
                      <a:solidFill>
                        <a:srgbClr val="BEC0C2"/>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EC0C2"/>
                      </a:solidFill>
                      <a:prstDash val="solid"/>
                      <a:round/>
                      <a:headEnd type="none" w="med" len="med"/>
                      <a:tailEnd type="none" w="med" len="med"/>
                    </a:lnB>
                    <a:solidFill>
                      <a:srgbClr val="EEF0F3"/>
                    </a:solidFill>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Every cluster-wide audit view, Reports and Library; Usage stays their own</a:t>
                      </a:r>
                      <a:endParaRPr lang="en-US" sz="1400" dirty="0">
                        <a:latin typeface="Arial" charset="0"/>
                        <a:ea typeface="Arial" charset="0"/>
                        <a:cs typeface="Arial" charset="0"/>
                      </a:endParaRPr>
                    </a:p>
                  </a:txBody>
                  <a:tcPr marL="62230" marR="62230" marT="62230" marB="62230" anchor="t">
                    <a:lnL w="12700" cap="flat" cmpd="sng" algn="ctr">
                      <a:solidFill>
                        <a:srgbClr val="BEC0C2"/>
                      </a:solidFill>
                      <a:prstDash val="solid"/>
                      <a:round/>
                      <a:headEnd type="none" w="med" len="med"/>
                      <a:tailEnd type="none" w="med" len="med"/>
                    </a:lnL>
                    <a:lnR w="12700" cap="flat" cmpd="sng" algn="ctr">
                      <a:solidFill>
                        <a:srgbClr val="BEC0C2"/>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EC0C2"/>
                      </a:solidFill>
                      <a:prstDash val="solid"/>
                      <a:round/>
                      <a:headEnd type="none" w="med" len="med"/>
                      <a:tailEnd type="none" w="med" len="med"/>
                    </a:lnB>
                    <a:solidFill>
                      <a:srgbClr val="EEF0F3"/>
                    </a:solidFill>
                  </a:tcPr>
                </a:tc>
              </a:tr>
              <a:tr h="634802">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Usage</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BEC0C2"/>
                      </a:solidFill>
                      <a:prstDash val="solid"/>
                      <a:round/>
                      <a:headEnd type="none" w="med" len="med"/>
                      <a:tailEnd type="none" w="med" len="med"/>
                    </a:lnT>
                    <a:lnB w="12700" cap="flat" cmpd="sng" algn="ctr">
                      <a:solidFill>
                        <a:srgbClr val="C4C4C6"/>
                      </a:solidFill>
                      <a:prstDash val="solid"/>
                      <a:round/>
                      <a:headEnd type="none" w="med" len="med"/>
                      <a:tailEnd type="none" w="med" len="med"/>
                    </a:lnB>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Passes the usage question; by default the same one as Cluster-admin</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BEC0C2"/>
                      </a:solidFill>
                      <a:prstDash val="solid"/>
                      <a:round/>
                      <a:headEnd type="none" w="med" len="med"/>
                      <a:tailEnd type="none" w="med" len="med"/>
                    </a:lnT>
                    <a:lnB w="12700" cap="flat" cmpd="sng" algn="ctr">
                      <a:solidFill>
                        <a:srgbClr val="C4C4C6"/>
                      </a:solidFill>
                      <a:prstDash val="solid"/>
                      <a:round/>
                      <a:headEnd type="none" w="med" len="med"/>
                      <a:tailEnd type="none" w="med" len="med"/>
                    </a:lnB>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The Usage tab: everyone's activity</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C4C4C6"/>
                      </a:solidFill>
                      <a:prstDash val="solid"/>
                      <a:round/>
                      <a:headEnd type="none" w="med" len="med"/>
                      <a:tailEnd type="none" w="med" len="med"/>
                    </a:lnR>
                    <a:lnT w="12700" cap="flat" cmpd="sng" algn="ctr">
                      <a:solidFill>
                        <a:srgbClr val="BEC0C2"/>
                      </a:solidFill>
                      <a:prstDash val="solid"/>
                      <a:round/>
                      <a:headEnd type="none" w="med" len="med"/>
                      <a:tailEnd type="none" w="med" len="med"/>
                    </a:lnT>
                    <a:lnB w="12700" cap="flat" cmpd="sng" algn="ctr">
                      <a:solidFill>
                        <a:srgbClr val="C4C4C6"/>
                      </a:solidFill>
                      <a:prstDash val="solid"/>
                      <a:round/>
                      <a:headEnd type="none" w="med" len="med"/>
                      <a:tailEnd type="none" w="med" len="med"/>
                    </a:lnB>
                  </a:tcPr>
                </a:tc>
              </a:tr>
              <a:tr h="634802">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Cluster-admin</a:t>
                      </a:r>
                      <a:endParaRPr lang="en-US" sz="1400" dirty="0">
                        <a:latin typeface="Arial" charset="0"/>
                        <a:ea typeface="Arial" charset="0"/>
                        <a:cs typeface="Arial" charset="0"/>
                      </a:endParaRPr>
                    </a:p>
                  </a:txBody>
                  <a:tcPr marL="62230" marR="62230" marT="62230" marB="62230" anchor="t">
                    <a:lnL w="12700" cap="flat" cmpd="sng" algn="ctr">
                      <a:solidFill>
                        <a:srgbClr val="C4C4C6"/>
                      </a:solidFill>
                      <a:prstDash val="solid"/>
                      <a:round/>
                      <a:headEnd type="none" w="med" len="med"/>
                      <a:tailEnd type="none" w="med" len="med"/>
                    </a:lnL>
                    <a:lnR w="12700" cap="flat" cmpd="sng" algn="ctr">
                      <a:solidFill>
                        <a:srgbClr val="BEC0C2"/>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EC0C2"/>
                      </a:solidFill>
                      <a:prstDash val="solid"/>
                      <a:round/>
                      <a:headEnd type="none" w="med" len="med"/>
                      <a:tailEnd type="none" w="med" len="med"/>
                    </a:lnB>
                    <a:solidFill>
                      <a:srgbClr val="EEF0F3"/>
                    </a:solidFill>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Can update clusterrolebindings</a:t>
                      </a:r>
                      <a:endParaRPr lang="en-US" sz="1400" dirty="0">
                        <a:latin typeface="Arial" charset="0"/>
                        <a:ea typeface="Arial" charset="0"/>
                        <a:cs typeface="Arial" charset="0"/>
                      </a:endParaRPr>
                    </a:p>
                  </a:txBody>
                  <a:tcPr marL="62230" marR="62230" marT="62230" marB="62230" anchor="t">
                    <a:lnL w="12700" cap="flat" cmpd="sng" algn="ctr">
                      <a:solidFill>
                        <a:srgbClr val="BEC0C2"/>
                      </a:solidFill>
                      <a:prstDash val="solid"/>
                      <a:round/>
                      <a:headEnd type="none" w="med" len="med"/>
                      <a:tailEnd type="none" w="med" len="med"/>
                    </a:lnL>
                    <a:lnR w="12700" cap="flat" cmpd="sng" algn="ctr">
                      <a:solidFill>
                        <a:srgbClr val="BEC0C2"/>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EC0C2"/>
                      </a:solidFill>
                      <a:prstDash val="solid"/>
                      <a:round/>
                      <a:headEnd type="none" w="med" len="med"/>
                      <a:tailEnd type="none" w="med" len="med"/>
                    </a:lnB>
                    <a:solidFill>
                      <a:srgbClr val="EEF0F3"/>
                    </a:solidFill>
                  </a:tcPr>
                </a:tc>
                <a:tc>
                  <a:txBody>
                    <a:bodyPr/>
                    <a:lstStyle/>
                    <a:p>
                      <a:pPr indent="0" marL="0">
                        <a:lnSpc>
                          <a:spcPts val="1960"/>
                        </a:lnSpc>
                        <a:buNone/>
                      </a:pPr>
                      <a:r>
                        <a:rPr lang="en-US" sz="1400" dirty="0">
                          <a:solidFill>
                            <a:srgbClr val="18212C"/>
                          </a:solidFill>
                          <a:latin typeface="Arial" pitchFamily="34" charset="0"/>
                          <a:ea typeface="Arial" pitchFamily="34" charset="-122"/>
                          <a:cs typeface="Arial" pitchFamily="34" charset="-120"/>
                        </a:rPr>
                        <a:t>KPIs and Cluster Configurations, plus all of the above</a:t>
                      </a:r>
                      <a:endParaRPr lang="en-US" sz="1400" dirty="0">
                        <a:latin typeface="Arial" charset="0"/>
                        <a:ea typeface="Arial" charset="0"/>
                        <a:cs typeface="Arial" charset="0"/>
                      </a:endParaRPr>
                    </a:p>
                  </a:txBody>
                  <a:tcPr marL="62230" marR="62230" marT="62230" marB="62230" anchor="t">
                    <a:lnL w="12700" cap="flat" cmpd="sng" algn="ctr">
                      <a:solidFill>
                        <a:srgbClr val="BEC0C2"/>
                      </a:solidFill>
                      <a:prstDash val="solid"/>
                      <a:round/>
                      <a:headEnd type="none" w="med" len="med"/>
                      <a:tailEnd type="none" w="med" len="med"/>
                    </a:lnL>
                    <a:lnR w="12700" cap="flat" cmpd="sng" algn="ctr">
                      <a:solidFill>
                        <a:srgbClr val="BEC0C2"/>
                      </a:solidFill>
                      <a:prstDash val="solid"/>
                      <a:round/>
                      <a:headEnd type="none" w="med" len="med"/>
                      <a:tailEnd type="none" w="med" len="med"/>
                    </a:lnR>
                    <a:lnT w="12700" cap="flat" cmpd="sng" algn="ctr">
                      <a:solidFill>
                        <a:srgbClr val="C4C4C6"/>
                      </a:solidFill>
                      <a:prstDash val="solid"/>
                      <a:round/>
                      <a:headEnd type="none" w="med" len="med"/>
                      <a:tailEnd type="none" w="med" len="med"/>
                    </a:lnT>
                    <a:lnB w="12700" cap="flat" cmpd="sng" algn="ctr">
                      <a:solidFill>
                        <a:srgbClr val="BEC0C2"/>
                      </a:solidFill>
                      <a:prstDash val="solid"/>
                      <a:round/>
                      <a:headEnd type="none" w="med" len="med"/>
                      <a:tailEnd type="none" w="med" len="med"/>
                    </a:lnB>
                    <a:solidFill>
                      <a:srgbClr val="EEF0F3"/>
                    </a:solidFill>
                  </a:tcPr>
                </a:tc>
              </a:tr>
            </a:tbl>
          </a:graphicData>
        </a:graphic>
      </p:graphicFrame>
      <p:sp>
        <p:nvSpPr>
          <p:cNvPr id="5" name="Text 2"/>
          <p:cNvSpPr/>
          <p:nvPr/>
        </p:nvSpPr>
        <p:spPr>
          <a:xfrm>
            <a:off x="812800" y="4896247"/>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8212C"/>
                </a:solidFill>
                <a:latin typeface="Arial" pitchFamily="34" charset="0"/>
                <a:ea typeface="Arial" pitchFamily="34" charset="-122"/>
                <a:cs typeface="Arial" pitchFamily="34" charset="-120"/>
              </a:rPr>
              <a:t>A SubjectAccessReview on the cluster decides each tier; the answer is cached 60 s, and any failure falls back to Self.</a:t>
            </a:r>
            <a:endParaRPr lang="en-US" sz="1400" dirty="0"/>
          </a:p>
        </p:txBody>
      </p:sp>
      <p:sp>
        <p:nvSpPr>
          <p:cNvPr id="6" name="Text 3"/>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Sources: ACCESS_CONTROL.md · values.yaml (adminSar, usageAdminSar, clusterAdminSar) · kube.py TierResolver</a:t>
            </a:r>
            <a:endParaRPr lang="en-US" sz="1200" dirty="0"/>
          </a:p>
        </p:txBody>
      </p:sp>
      <p:sp>
        <p:nvSpPr>
          <p:cNvPr id="7" name="Text 4"/>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18 / 26</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E6F68"/>
                </a:solidFill>
                <a:latin typeface="Courier New" pitchFamily="49" charset="0"/>
                <a:ea typeface="Courier New" pitchFamily="49" charset="-122"/>
                <a:cs typeface="Courier New" pitchFamily="49" charset="-120"/>
              </a:rPr>
              <a:t>ARCHITECTURE</a:t>
            </a:r>
            <a:endParaRPr lang="en-US" sz="1196" dirty="0"/>
          </a:p>
        </p:txBody>
      </p:sp>
      <p:sp>
        <p:nvSpPr>
          <p:cNvPr id="3" name="Text 1"/>
          <p:cNvSpPr/>
          <p:nvPr/>
        </p:nvSpPr>
        <p:spPr>
          <a:xfrm>
            <a:off x="812800" y="1225947"/>
            <a:ext cx="10883392" cy="437952"/>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8212C"/>
                </a:solidFill>
                <a:latin typeface="Arial" pitchFamily="34" charset="0"/>
                <a:ea typeface="Arial" pitchFamily="34" charset="-122"/>
                <a:cs typeface="Arial" pitchFamily="34" charset="-120"/>
              </a:rPr>
              <a:t>Architecture at a glance</a:t>
            </a:r>
            <a:endParaRPr lang="en-US" sz="2972" dirty="0"/>
          </a:p>
        </p:txBody>
      </p:sp>
      <p:sp>
        <p:nvSpPr>
          <p:cNvPr id="4" name="Shape 2"/>
          <p:cNvSpPr/>
          <p:nvPr/>
        </p:nvSpPr>
        <p:spPr>
          <a:xfrm>
            <a:off x="2603500" y="1841698"/>
            <a:ext cx="6985000" cy="4064000"/>
          </a:xfrm>
          <a:prstGeom prst="roundRect">
            <a:avLst>
              <a:gd name="adj" fmla="val 1875"/>
            </a:avLst>
          </a:prstGeom>
          <a:solidFill>
            <a:srgbClr val="FFFFFF"/>
          </a:solidFill>
          <a:ln/>
        </p:spPr>
      </p:sp>
      <p:pic>
        <p:nvPicPr>
          <p:cNvPr id="5" name="Image 0" descr="The whole system: the browser through the Route and the oauth-proxy to the dashboard; the report pod and the two volumes; CronJobs; the host API and remote clusters read; Prometheus; the webhook.">    </p:cNvPr>
          <p:cNvPicPr>
            <a:picLocks noChangeAspect="1"/>
          </p:cNvPicPr>
          <p:nvPr/>
        </p:nvPicPr>
        <p:blipFill>
          <a:blip r:embed="rId1"/>
          <a:stretch>
            <a:fillRect/>
          </a:stretch>
        </p:blipFill>
        <p:spPr>
          <a:xfrm>
            <a:off x="3293351" y="1848048"/>
            <a:ext cx="5605298" cy="4051300"/>
          </a:xfrm>
          <a:prstGeom prst="rect">
            <a:avLst/>
          </a:prstGeom>
        </p:spPr>
      </p:pic>
      <p:sp>
        <p:nvSpPr>
          <p:cNvPr id="6" name="Shape 3"/>
          <p:cNvSpPr/>
          <p:nvPr/>
        </p:nvSpPr>
        <p:spPr>
          <a:xfrm>
            <a:off x="2606675" y="1844873"/>
            <a:ext cx="6978650" cy="4057650"/>
          </a:xfrm>
          <a:prstGeom prst="roundRect">
            <a:avLst>
              <a:gd name="adj" fmla="val 1800"/>
            </a:avLst>
          </a:prstGeom>
          <a:noFill/>
          <a:ln w="6350">
            <a:solidFill>
              <a:srgbClr val="D7DCE3"/>
            </a:solidFill>
            <a:prstDash val="solid"/>
          </a:ln>
        </p:spPr>
      </p:sp>
      <p:sp>
        <p:nvSpPr>
          <p:cNvPr id="7" name="Text 4"/>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Figure 1 of docs/guides/architecture-overview.md, drawn from the code at 5.8.0</a:t>
            </a:r>
            <a:endParaRPr lang="en-US" sz="1200" dirty="0"/>
          </a:p>
        </p:txBody>
      </p:sp>
      <p:sp>
        <p:nvSpPr>
          <p:cNvPr id="8" name="Text 5"/>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19 / 26</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E6F68"/>
                </a:solidFill>
                <a:latin typeface="Courier New" pitchFamily="49" charset="0"/>
                <a:ea typeface="Courier New" pitchFamily="49" charset="-122"/>
                <a:cs typeface="Courier New" pitchFamily="49" charset="-120"/>
              </a:rPr>
              <a:t>ARCHITECTURE</a:t>
            </a:r>
            <a:endParaRPr lang="en-US" sz="1196" dirty="0"/>
          </a:p>
        </p:txBody>
      </p:sp>
      <p:sp>
        <p:nvSpPr>
          <p:cNvPr id="3" name="Text 1"/>
          <p:cNvSpPr/>
          <p:nvPr/>
        </p:nvSpPr>
        <p:spPr>
          <a:xfrm>
            <a:off x="812800" y="1225947"/>
            <a:ext cx="10883392" cy="437952"/>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8212C"/>
                </a:solidFill>
                <a:latin typeface="Arial" pitchFamily="34" charset="0"/>
                <a:ea typeface="Arial" pitchFamily="34" charset="-122"/>
                <a:cs typeface="Arial" pitchFamily="34" charset="-120"/>
              </a:rPr>
              <a:t>Inside one poll cycle</a:t>
            </a:r>
            <a:endParaRPr lang="en-US" sz="2972" dirty="0"/>
          </a:p>
        </p:txBody>
      </p:sp>
      <p:sp>
        <p:nvSpPr>
          <p:cNvPr id="4" name="Shape 2"/>
          <p:cNvSpPr/>
          <p:nvPr/>
        </p:nvSpPr>
        <p:spPr>
          <a:xfrm>
            <a:off x="2349500" y="1841698"/>
            <a:ext cx="7493000" cy="4064000"/>
          </a:xfrm>
          <a:prstGeom prst="roundRect">
            <a:avLst>
              <a:gd name="adj" fmla="val 1875"/>
            </a:avLst>
          </a:prstGeom>
          <a:solidFill>
            <a:srgbClr val="FFFFFF"/>
          </a:solidFill>
          <a:ln/>
        </p:spPr>
      </p:sp>
      <p:pic>
        <p:nvPicPr>
          <p:cNvPr id="5" name="Image 0" descr="One poll cycle in the code's order: leadership and credential, poll_once every 60 s, login capture, upkeep, refresh_bindings every 3600 s, wait.">    </p:cNvPr>
          <p:cNvPicPr>
            <a:picLocks noChangeAspect="1"/>
          </p:cNvPicPr>
          <p:nvPr/>
        </p:nvPicPr>
        <p:blipFill>
          <a:blip r:embed="rId1"/>
          <a:stretch>
            <a:fillRect/>
          </a:stretch>
        </p:blipFill>
        <p:spPr>
          <a:xfrm>
            <a:off x="3038191" y="1848048"/>
            <a:ext cx="6115619" cy="4051300"/>
          </a:xfrm>
          <a:prstGeom prst="rect">
            <a:avLst/>
          </a:prstGeom>
        </p:spPr>
      </p:pic>
      <p:sp>
        <p:nvSpPr>
          <p:cNvPr id="6" name="Shape 3"/>
          <p:cNvSpPr/>
          <p:nvPr/>
        </p:nvSpPr>
        <p:spPr>
          <a:xfrm>
            <a:off x="2352675" y="1844873"/>
            <a:ext cx="7486650" cy="4057650"/>
          </a:xfrm>
          <a:prstGeom prst="roundRect">
            <a:avLst>
              <a:gd name="adj" fmla="val 1800"/>
            </a:avLst>
          </a:prstGeom>
          <a:noFill/>
          <a:ln w="6350">
            <a:solidFill>
              <a:srgbClr val="D7DCE3"/>
            </a:solidFill>
            <a:prstDash val="solid"/>
          </a:ln>
        </p:spPr>
      </p:sp>
      <p:sp>
        <p:nvSpPr>
          <p:cNvPr id="7" name="Text 4"/>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Figure 3 of docs/guides/architecture-overview.md</a:t>
            </a:r>
            <a:endParaRPr lang="en-US" sz="1200" dirty="0"/>
          </a:p>
        </p:txBody>
      </p:sp>
      <p:sp>
        <p:nvSpPr>
          <p:cNvPr id="8" name="Text 5"/>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20 / 26</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E6F68"/>
                </a:solidFill>
                <a:latin typeface="Courier New" pitchFamily="49" charset="0"/>
                <a:ea typeface="Courier New" pitchFamily="49" charset="-122"/>
                <a:cs typeface="Courier New" pitchFamily="49" charset="-120"/>
              </a:rPr>
              <a:t>ARCHITECTURE</a:t>
            </a:r>
            <a:endParaRPr lang="en-US" sz="1196" dirty="0"/>
          </a:p>
        </p:txBody>
      </p:sp>
      <p:sp>
        <p:nvSpPr>
          <p:cNvPr id="3" name="Text 1"/>
          <p:cNvSpPr/>
          <p:nvPr/>
        </p:nvSpPr>
        <p:spPr>
          <a:xfrm>
            <a:off x="812800" y="1225947"/>
            <a:ext cx="10883392" cy="437952"/>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8212C"/>
                </a:solidFill>
                <a:latin typeface="Arial" pitchFamily="34" charset="0"/>
                <a:ea typeface="Arial" pitchFamily="34" charset="-122"/>
                <a:cs typeface="Arial" pitchFamily="34" charset="-120"/>
              </a:rPr>
              <a:t>How a report is made</a:t>
            </a:r>
            <a:endParaRPr lang="en-US" sz="2972" dirty="0"/>
          </a:p>
        </p:txBody>
      </p:sp>
      <p:sp>
        <p:nvSpPr>
          <p:cNvPr id="4" name="Shape 2"/>
          <p:cNvSpPr/>
          <p:nvPr/>
        </p:nvSpPr>
        <p:spPr>
          <a:xfrm>
            <a:off x="2349500" y="1841698"/>
            <a:ext cx="7493000" cy="4064000"/>
          </a:xfrm>
          <a:prstGeom prst="roundRect">
            <a:avLst>
              <a:gd name="adj" fmla="val 1875"/>
            </a:avLst>
          </a:prstGeom>
          <a:solidFill>
            <a:srgbClr val="FFFFFF"/>
          </a:solidFill>
          <a:ln/>
        </p:spPr>
      </p:sp>
      <p:pic>
        <p:nvPicPr>
          <p:cNvPr id="5" name="Image 0" descr="The reporting pipeline: a person's ticket or a schedule's token, a queue of 8, a read-only snapshot, JSON then HTML, CSV and PDF, the artefacts volume, the webhook.">    </p:cNvPr>
          <p:cNvPicPr>
            <a:picLocks noChangeAspect="1"/>
          </p:cNvPicPr>
          <p:nvPr/>
        </p:nvPicPr>
        <p:blipFill>
          <a:blip r:embed="rId1"/>
          <a:stretch>
            <a:fillRect/>
          </a:stretch>
        </p:blipFill>
        <p:spPr>
          <a:xfrm>
            <a:off x="3038191" y="1848048"/>
            <a:ext cx="6115619" cy="4051300"/>
          </a:xfrm>
          <a:prstGeom prst="rect">
            <a:avLst/>
          </a:prstGeom>
        </p:spPr>
      </p:pic>
      <p:sp>
        <p:nvSpPr>
          <p:cNvPr id="6" name="Shape 3"/>
          <p:cNvSpPr/>
          <p:nvPr/>
        </p:nvSpPr>
        <p:spPr>
          <a:xfrm>
            <a:off x="2352675" y="1844873"/>
            <a:ext cx="7486650" cy="4057650"/>
          </a:xfrm>
          <a:prstGeom prst="roundRect">
            <a:avLst>
              <a:gd name="adj" fmla="val 1800"/>
            </a:avLst>
          </a:prstGeom>
          <a:noFill/>
          <a:ln w="6350">
            <a:solidFill>
              <a:srgbClr val="D7DCE3"/>
            </a:solidFill>
            <a:prstDash val="solid"/>
          </a:ln>
        </p:spPr>
      </p:sp>
      <p:sp>
        <p:nvSpPr>
          <p:cNvPr id="7" name="Text 4"/>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Figure 5 of docs/guides/architecture-overview.md</a:t>
            </a:r>
            <a:endParaRPr lang="en-US" sz="1200" dirty="0"/>
          </a:p>
        </p:txBody>
      </p:sp>
      <p:sp>
        <p:nvSpPr>
          <p:cNvPr id="8" name="Text 5"/>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21 / 26</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5"/>
              </a:lnSpc>
              <a:buNone/>
            </a:pPr>
            <a:r>
              <a:rPr lang="en-US" sz="1196" spc="150" kern="0" dirty="0">
                <a:solidFill>
                  <a:srgbClr val="0E6F68"/>
                </a:solidFill>
                <a:latin typeface="Courier New" pitchFamily="49" charset="0"/>
                <a:ea typeface="Courier New" pitchFamily="49" charset="-122"/>
                <a:cs typeface="Courier New" pitchFamily="49" charset="-120"/>
              </a:rPr>
              <a:t>SECURITY</a:t>
            </a:r>
            <a:endParaRPr lang="en-US" sz="1196" dirty="0"/>
          </a:p>
        </p:txBody>
      </p:sp>
      <p:sp>
        <p:nvSpPr>
          <p:cNvPr id="3" name="Text 1"/>
          <p:cNvSpPr/>
          <p:nvPr/>
        </p:nvSpPr>
        <p:spPr>
          <a:xfrm>
            <a:off x="812800" y="1225947"/>
            <a:ext cx="10883392" cy="437952"/>
          </a:xfrm>
          <a:prstGeom prst="rect">
            <a:avLst/>
          </a:prstGeom>
          <a:noFill/>
          <a:ln/>
        </p:spPr>
        <p:txBody>
          <a:bodyPr wrap="square" lIns="0" tIns="0" rIns="0" bIns="0" rtlCol="0" anchor="t">
            <a:normAutofit/>
          </a:bodyPr>
          <a:lstStyle/>
          <a:p>
            <a:pPr algn="l" indent="0" marL="0">
              <a:lnSpc>
                <a:spcPts val="3269"/>
              </a:lnSpc>
              <a:buNone/>
            </a:pPr>
            <a:r>
              <a:rPr lang="en-US" sz="2972" b="1" dirty="0">
                <a:solidFill>
                  <a:srgbClr val="18212C"/>
                </a:solidFill>
                <a:latin typeface="Arial" pitchFamily="34" charset="0"/>
                <a:ea typeface="Arial" pitchFamily="34" charset="-122"/>
                <a:cs typeface="Arial" pitchFamily="34" charset="-120"/>
              </a:rPr>
              <a:t>Credentials and trust boundaries</a:t>
            </a:r>
            <a:endParaRPr lang="en-US" sz="2972" dirty="0"/>
          </a:p>
        </p:txBody>
      </p:sp>
      <p:sp>
        <p:nvSpPr>
          <p:cNvPr id="4" name="Shape 2"/>
          <p:cNvSpPr/>
          <p:nvPr/>
        </p:nvSpPr>
        <p:spPr>
          <a:xfrm>
            <a:off x="1079500" y="1841698"/>
            <a:ext cx="10033000" cy="4064000"/>
          </a:xfrm>
          <a:prstGeom prst="roundRect">
            <a:avLst>
              <a:gd name="adj" fmla="val 1875"/>
            </a:avLst>
          </a:prstGeom>
          <a:solidFill>
            <a:srgbClr val="FFFFFF"/>
          </a:solidFill>
          <a:ln/>
        </p:spPr>
      </p:sp>
      <p:pic>
        <p:nvPicPr>
          <p:cNvPr id="5" name="Image 0" descr="Steady state, saTokenLookup and Rejoin: what starts each, what crosses to the remote cluster, and what stays on the host.">    </p:cNvPr>
          <p:cNvPicPr>
            <a:picLocks noChangeAspect="1"/>
          </p:cNvPicPr>
          <p:nvPr/>
        </p:nvPicPr>
        <p:blipFill>
          <a:blip r:embed="rId1"/>
          <a:stretch>
            <a:fillRect/>
          </a:stretch>
        </p:blipFill>
        <p:spPr>
          <a:xfrm>
            <a:off x="1319926" y="1848048"/>
            <a:ext cx="9552148" cy="4051300"/>
          </a:xfrm>
          <a:prstGeom prst="rect">
            <a:avLst/>
          </a:prstGeom>
        </p:spPr>
      </p:pic>
      <p:sp>
        <p:nvSpPr>
          <p:cNvPr id="6" name="Shape 3"/>
          <p:cNvSpPr/>
          <p:nvPr/>
        </p:nvSpPr>
        <p:spPr>
          <a:xfrm>
            <a:off x="1082675" y="1844873"/>
            <a:ext cx="10026650" cy="4057650"/>
          </a:xfrm>
          <a:prstGeom prst="roundRect">
            <a:avLst>
              <a:gd name="adj" fmla="val 1800"/>
            </a:avLst>
          </a:prstGeom>
          <a:noFill/>
          <a:ln w="6350">
            <a:solidFill>
              <a:srgbClr val="D7DCE3"/>
            </a:solidFill>
            <a:prstDash val="solid"/>
          </a:ln>
        </p:spPr>
      </p:sp>
      <p:sp>
        <p:nvSpPr>
          <p:cNvPr id="7" name="Text 4"/>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Figure 6 of docs/guides/architecture-overview.md</a:t>
            </a:r>
            <a:endParaRPr lang="en-US" sz="1200" dirty="0"/>
          </a:p>
        </p:txBody>
      </p:sp>
      <p:sp>
        <p:nvSpPr>
          <p:cNvPr id="8" name="Text 5"/>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22 / 26</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28005"/>
          </a:xfrm>
          <a:prstGeom prst="rect">
            <a:avLst/>
          </a:prstGeom>
          <a:noFill/>
          <a:ln/>
        </p:spPr>
        <p:txBody>
          <a:bodyPr wrap="square" lIns="0" tIns="0" rIns="0" bIns="0" rtlCol="0" anchor="t">
            <a:normAutofit/>
          </a:bodyPr>
          <a:lstStyle/>
          <a:p>
            <a:pPr algn="l" indent="0" marL="0">
              <a:lnSpc>
                <a:spcPts val="1622"/>
              </a:lnSpc>
              <a:buNone/>
            </a:pPr>
            <a:r>
              <a:rPr lang="en-US" sz="1159" spc="150" kern="0" dirty="0">
                <a:solidFill>
                  <a:srgbClr val="0E6F68"/>
                </a:solidFill>
                <a:latin typeface="Courier New" pitchFamily="49" charset="0"/>
                <a:ea typeface="Courier New" pitchFamily="49" charset="-122"/>
                <a:cs typeface="Courier New" pitchFamily="49" charset="-120"/>
              </a:rPr>
              <a:t>OPERATE</a:t>
            </a:r>
            <a:endParaRPr lang="en-US" sz="1159" dirty="0"/>
          </a:p>
        </p:txBody>
      </p:sp>
      <p:sp>
        <p:nvSpPr>
          <p:cNvPr id="3" name="Text 1"/>
          <p:cNvSpPr/>
          <p:nvPr/>
        </p:nvSpPr>
        <p:spPr>
          <a:xfrm>
            <a:off x="812800" y="1269405"/>
            <a:ext cx="10883392" cy="423466"/>
          </a:xfrm>
          <a:prstGeom prst="rect">
            <a:avLst/>
          </a:prstGeom>
          <a:noFill/>
          <a:ln/>
        </p:spPr>
        <p:txBody>
          <a:bodyPr wrap="square" lIns="0" tIns="0" rIns="0" bIns="0" rtlCol="0" anchor="t">
            <a:normAutofit/>
          </a:bodyPr>
          <a:lstStyle/>
          <a:p>
            <a:pPr algn="l" indent="0" marL="0">
              <a:lnSpc>
                <a:spcPts val="3166"/>
              </a:lnSpc>
              <a:buNone/>
            </a:pPr>
            <a:r>
              <a:rPr lang="en-US" sz="2878" b="1" dirty="0">
                <a:solidFill>
                  <a:srgbClr val="18212C"/>
                </a:solidFill>
                <a:latin typeface="Arial" pitchFamily="34" charset="0"/>
                <a:ea typeface="Arial" pitchFamily="34" charset="-122"/>
                <a:cs typeface="Arial" pitchFamily="34" charset="-120"/>
              </a:rPr>
              <a:t>Operations: what the platform team runs</a:t>
            </a:r>
            <a:endParaRPr lang="en-US" sz="2878" dirty="0"/>
          </a:p>
        </p:txBody>
      </p:sp>
      <p:sp>
        <p:nvSpPr>
          <p:cNvPr id="4" name="Shape 2"/>
          <p:cNvSpPr/>
          <p:nvPr/>
        </p:nvSpPr>
        <p:spPr>
          <a:xfrm>
            <a:off x="850900" y="1921470"/>
            <a:ext cx="0" cy="445691"/>
          </a:xfrm>
          <a:prstGeom prst="line">
            <a:avLst/>
          </a:prstGeom>
          <a:noFill/>
          <a:ln w="76200">
            <a:solidFill>
              <a:srgbClr val="0E6F68"/>
            </a:solidFill>
            <a:prstDash val="solid"/>
          </a:ln>
        </p:spPr>
      </p:sp>
      <p:sp>
        <p:nvSpPr>
          <p:cNvPr id="5" name="Text 3"/>
          <p:cNvSpPr/>
          <p:nvPr/>
        </p:nvSpPr>
        <p:spPr>
          <a:xfrm>
            <a:off x="1041400" y="1921470"/>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One Helm chart, ready for Argo CD; one dashboard pod and one report pod.</a:t>
            </a:r>
            <a:endParaRPr lang="en-US" sz="1300" dirty="0"/>
          </a:p>
        </p:txBody>
      </p:sp>
      <p:sp>
        <p:nvSpPr>
          <p:cNvPr id="6" name="Shape 4"/>
          <p:cNvSpPr/>
          <p:nvPr/>
        </p:nvSpPr>
        <p:spPr>
          <a:xfrm>
            <a:off x="850900" y="2544961"/>
            <a:ext cx="0" cy="445691"/>
          </a:xfrm>
          <a:prstGeom prst="line">
            <a:avLst/>
          </a:prstGeom>
          <a:noFill/>
          <a:ln w="76200">
            <a:solidFill>
              <a:srgbClr val="0E6F68"/>
            </a:solidFill>
            <a:prstDash val="solid"/>
          </a:ln>
        </p:spPr>
      </p:sp>
      <p:sp>
        <p:nvSpPr>
          <p:cNvPr id="7" name="Text 5"/>
          <p:cNvSpPr/>
          <p:nvPr/>
        </p:nvSpPr>
        <p:spPr>
          <a:xfrm>
            <a:off x="1041400" y="2544961"/>
            <a:ext cx="342722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 database backup every 6 h with 4 kept, and an offsite copy every 6 h.</a:t>
            </a:r>
            <a:endParaRPr lang="en-US" sz="1300" dirty="0"/>
          </a:p>
        </p:txBody>
      </p:sp>
      <p:sp>
        <p:nvSpPr>
          <p:cNvPr id="8" name="Shape 6"/>
          <p:cNvSpPr/>
          <p:nvPr/>
        </p:nvSpPr>
        <p:spPr>
          <a:xfrm>
            <a:off x="850900" y="3168452"/>
            <a:ext cx="0" cy="668536"/>
          </a:xfrm>
          <a:prstGeom prst="line">
            <a:avLst/>
          </a:prstGeom>
          <a:noFill/>
          <a:ln w="76200">
            <a:solidFill>
              <a:srgbClr val="B3261E"/>
            </a:solidFill>
            <a:prstDash val="solid"/>
          </a:ln>
        </p:spPr>
      </p:sp>
      <p:sp>
        <p:nvSpPr>
          <p:cNvPr id="9" name="Text 7"/>
          <p:cNvSpPr/>
          <p:nvPr/>
        </p:nvSpPr>
        <p:spPr>
          <a:xfrm>
            <a:off x="1041400" y="3168452"/>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Twenty Prometheus alerts, from a cluster that stops answering to a backup or a schedule running late.</a:t>
            </a:r>
            <a:endParaRPr lang="en-US" sz="1300" dirty="0"/>
          </a:p>
        </p:txBody>
      </p:sp>
      <p:sp>
        <p:nvSpPr>
          <p:cNvPr id="10" name="Shape 8"/>
          <p:cNvSpPr/>
          <p:nvPr/>
        </p:nvSpPr>
        <p:spPr>
          <a:xfrm>
            <a:off x="850900" y="4014788"/>
            <a:ext cx="0" cy="668536"/>
          </a:xfrm>
          <a:prstGeom prst="line">
            <a:avLst/>
          </a:prstGeom>
          <a:noFill/>
          <a:ln w="76200">
            <a:solidFill>
              <a:srgbClr val="0E6F68"/>
            </a:solidFill>
            <a:prstDash val="solid"/>
          </a:ln>
        </p:spPr>
      </p:sp>
      <p:sp>
        <p:nvSpPr>
          <p:cNvPr id="11" name="Text 9"/>
          <p:cNvSpPr/>
          <p:nvPr/>
        </p:nvSpPr>
        <p:spPr>
          <a:xfrm>
            <a:off x="1041400" y="4014788"/>
            <a:ext cx="342722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KPIs page shows the system's own health: memory, CPU, throttling, disk, backups.</a:t>
            </a:r>
            <a:endParaRPr lang="en-US" sz="1300" dirty="0"/>
          </a:p>
        </p:txBody>
      </p:sp>
      <p:sp>
        <p:nvSpPr>
          <p:cNvPr id="12" name="Shape 10"/>
          <p:cNvSpPr/>
          <p:nvPr/>
        </p:nvSpPr>
        <p:spPr>
          <a:xfrm>
            <a:off x="4724400" y="1921470"/>
            <a:ext cx="6604000" cy="4127500"/>
          </a:xfrm>
          <a:prstGeom prst="roundRect">
            <a:avLst>
              <a:gd name="adj" fmla="val 1846"/>
            </a:avLst>
          </a:prstGeom>
          <a:solidFill>
            <a:srgbClr val="FFFFFF"/>
          </a:solidFill>
          <a:ln/>
        </p:spPr>
      </p:sp>
      <p:pic>
        <p:nvPicPr>
          <p:cNvPr id="13" name="Image 0" descr="The KPIs tab in the light theme: system status of the dashboard and report pods, and the backups card: last copy, 4 of 4 kept, 0 failures.">    </p:cNvPr>
          <p:cNvPicPr>
            <a:picLocks noChangeAspect="1"/>
          </p:cNvPicPr>
          <p:nvPr/>
        </p:nvPicPr>
        <p:blipFill>
          <a:blip r:embed="rId1"/>
          <a:srcRect l="-58" r="-58" t="0" b="0"/>
          <a:stretch/>
        </p:blipFill>
        <p:spPr>
          <a:xfrm>
            <a:off x="4730750" y="1927820"/>
            <a:ext cx="6591300" cy="4114800"/>
          </a:xfrm>
          <a:prstGeom prst="roundRect">
            <a:avLst>
              <a:gd name="adj" fmla="val 1698"/>
            </a:avLst>
          </a:prstGeom>
        </p:spPr>
      </p:pic>
      <p:sp>
        <p:nvSpPr>
          <p:cNvPr id="14" name="Shape 11"/>
          <p:cNvSpPr/>
          <p:nvPr/>
        </p:nvSpPr>
        <p:spPr>
          <a:xfrm>
            <a:off x="4727575" y="1924645"/>
            <a:ext cx="6597650" cy="4121150"/>
          </a:xfrm>
          <a:prstGeom prst="roundRect">
            <a:avLst>
              <a:gd name="adj" fmla="val 1772"/>
            </a:avLst>
          </a:prstGeom>
          <a:noFill/>
          <a:ln w="6350">
            <a:solidFill>
              <a:srgbClr val="D7DCE3"/>
            </a:solidFill>
            <a:prstDash val="solid"/>
          </a:ln>
        </p:spPr>
      </p:sp>
      <p:sp>
        <p:nvSpPr>
          <p:cNvPr id="15" name="Text 12"/>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Screenshot: KPIs, light theme, the lab at 5.8.0 · the chart's PrometheusRule and backup settings</a:t>
            </a:r>
            <a:endParaRPr lang="en-US" sz="1200" dirty="0"/>
          </a:p>
        </p:txBody>
      </p:sp>
      <p:sp>
        <p:nvSpPr>
          <p:cNvPr id="16" name="Text 13"/>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23 / 26</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LIMITS</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What it does not do</a:t>
            </a:r>
            <a:endParaRPr lang="en-US" sz="3000" dirty="0"/>
          </a:p>
        </p:txBody>
      </p:sp>
      <p:sp>
        <p:nvSpPr>
          <p:cNvPr id="4" name="Shape 2"/>
          <p:cNvSpPr/>
          <p:nvPr/>
        </p:nvSpPr>
        <p:spPr>
          <a:xfrm>
            <a:off x="812800" y="1953220"/>
            <a:ext cx="5194300" cy="1182291"/>
          </a:xfrm>
          <a:prstGeom prst="roundRect">
            <a:avLst>
              <a:gd name="adj" fmla="val 6445"/>
            </a:avLst>
          </a:prstGeom>
          <a:solidFill>
            <a:srgbClr val="FCFCFA"/>
          </a:solidFill>
          <a:ln/>
          <a:effectLst>
            <a:outerShdw sx="100000" sy="100000" kx="0" ky="0" algn="bl" rotWithShape="0" blurRad="6350" dist="0" dir="60000">
              <a:srgbClr val="D7DCE3">
                <a:alpha val="100000"/>
              </a:srgbClr>
            </a:outerShdw>
          </a:effectLst>
        </p:spPr>
      </p:sp>
      <p:sp>
        <p:nvSpPr>
          <p:cNvPr id="5" name="Shape 3"/>
          <p:cNvSpPr/>
          <p:nvPr/>
        </p:nvSpPr>
        <p:spPr>
          <a:xfrm>
            <a:off x="812800" y="1953220"/>
            <a:ext cx="5194300" cy="1182291"/>
          </a:xfrm>
          <a:custGeom>
            <a:avLst/>
            <a:gdLst/>
            <a:ahLst/>
            <a:cxnLst/>
            <a:rect l="l" t="t" r="r" b="b"/>
            <a:pathLst>
              <a:path w="5194300" h="1182291">
                <a:moveTo>
                  <a:pt x="0" y="76200"/>
                </a:moveTo>
                <a:lnTo>
                  <a:pt x="0" y="76200"/>
                </a:lnTo>
                <a:arcTo hR="76200" wR="76200" stAng="10800000" swAng="5400000"/>
                <a:lnTo>
                  <a:pt x="5118100" y="0"/>
                </a:lnTo>
                <a:arcTo hR="76200" wR="76200" stAng="16200000" swAng="5400000"/>
                <a:lnTo>
                  <a:pt x="5194300" y="76200"/>
                </a:lnTo>
                <a:lnTo>
                  <a:pt x="0" y="76200"/>
                </a:lnTo>
                <a:close/>
              </a:path>
            </a:pathLst>
          </a:custGeom>
          <a:solidFill>
            <a:srgbClr val="5F6A77"/>
          </a:solidFill>
          <a:ln/>
        </p:spPr>
      </p:sp>
      <p:sp>
        <p:nvSpPr>
          <p:cNvPr id="6" name="Text 4"/>
          <p:cNvSpPr/>
          <p:nvPr/>
        </p:nvSpPr>
        <p:spPr>
          <a:xfrm>
            <a:off x="990600" y="2207220"/>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Direct bindings only</a:t>
            </a:r>
            <a:endParaRPr lang="en-US" sz="1500" dirty="0"/>
          </a:p>
        </p:txBody>
      </p:sp>
      <p:sp>
        <p:nvSpPr>
          <p:cNvPr id="7" name="Text 5"/>
          <p:cNvSpPr/>
          <p:nvPr/>
        </p:nvSpPr>
        <p:spPr>
          <a:xfrm>
            <a:off x="990600" y="251202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It reads who was granted which role. It never expands a role's rules, so it is not a list of every permitted action.</a:t>
            </a:r>
            <a:endParaRPr lang="en-US" sz="1300" dirty="0"/>
          </a:p>
        </p:txBody>
      </p:sp>
      <p:sp>
        <p:nvSpPr>
          <p:cNvPr id="8" name="Shape 6"/>
          <p:cNvSpPr/>
          <p:nvPr/>
        </p:nvSpPr>
        <p:spPr>
          <a:xfrm>
            <a:off x="6184900" y="1953220"/>
            <a:ext cx="5194300" cy="1182291"/>
          </a:xfrm>
          <a:prstGeom prst="roundRect">
            <a:avLst>
              <a:gd name="adj" fmla="val 6445"/>
            </a:avLst>
          </a:prstGeom>
          <a:solidFill>
            <a:srgbClr val="FCFCFA"/>
          </a:solidFill>
          <a:ln/>
          <a:effectLst>
            <a:outerShdw sx="100000" sy="100000" kx="0" ky="0" algn="bl" rotWithShape="0" blurRad="6350" dist="0" dir="60000">
              <a:srgbClr val="D7DCE3">
                <a:alpha val="100000"/>
              </a:srgbClr>
            </a:outerShdw>
          </a:effectLst>
        </p:spPr>
      </p:sp>
      <p:sp>
        <p:nvSpPr>
          <p:cNvPr id="9" name="Shape 7"/>
          <p:cNvSpPr/>
          <p:nvPr/>
        </p:nvSpPr>
        <p:spPr>
          <a:xfrm>
            <a:off x="6184900" y="1953220"/>
            <a:ext cx="5194300" cy="1182291"/>
          </a:xfrm>
          <a:custGeom>
            <a:avLst/>
            <a:gdLst/>
            <a:ahLst/>
            <a:cxnLst/>
            <a:rect l="l" t="t" r="r" b="b"/>
            <a:pathLst>
              <a:path w="5194300" h="1182291">
                <a:moveTo>
                  <a:pt x="0" y="76200"/>
                </a:moveTo>
                <a:lnTo>
                  <a:pt x="0" y="76200"/>
                </a:lnTo>
                <a:arcTo hR="76200" wR="76200" stAng="10800000" swAng="5400000"/>
                <a:lnTo>
                  <a:pt x="5118100" y="0"/>
                </a:lnTo>
                <a:arcTo hR="76200" wR="76200" stAng="16200000" swAng="5400000"/>
                <a:lnTo>
                  <a:pt x="5194300" y="76200"/>
                </a:lnTo>
                <a:lnTo>
                  <a:pt x="0" y="76200"/>
                </a:lnTo>
                <a:close/>
              </a:path>
            </a:pathLst>
          </a:custGeom>
          <a:solidFill>
            <a:srgbClr val="5F6A77"/>
          </a:solidFill>
          <a:ln/>
        </p:spPr>
      </p:sp>
      <p:sp>
        <p:nvSpPr>
          <p:cNvPr id="10" name="Text 8"/>
          <p:cNvSpPr/>
          <p:nvPr/>
        </p:nvSpPr>
        <p:spPr>
          <a:xfrm>
            <a:off x="6362700" y="2207220"/>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It changes nothing it reads</a:t>
            </a:r>
            <a:endParaRPr lang="en-US" sz="1500" dirty="0"/>
          </a:p>
        </p:txBody>
      </p:sp>
      <p:sp>
        <p:nvSpPr>
          <p:cNvPr id="11" name="Text 9"/>
          <p:cNvSpPr/>
          <p:nvPr/>
        </p:nvSpPr>
        <p:spPr>
          <a:xfrm>
            <a:off x="6362700" y="2512020"/>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It never creates, edits or deletes a GroupSync CR, a group or a binding. Fixes happen in LDAP or on the cluster.</a:t>
            </a:r>
            <a:endParaRPr lang="en-US" sz="1300" dirty="0"/>
          </a:p>
        </p:txBody>
      </p:sp>
      <p:sp>
        <p:nvSpPr>
          <p:cNvPr id="12" name="Shape 10"/>
          <p:cNvSpPr/>
          <p:nvPr/>
        </p:nvSpPr>
        <p:spPr>
          <a:xfrm>
            <a:off x="812800" y="3313311"/>
            <a:ext cx="5194300" cy="1182291"/>
          </a:xfrm>
          <a:prstGeom prst="roundRect">
            <a:avLst>
              <a:gd name="adj" fmla="val 6445"/>
            </a:avLst>
          </a:prstGeom>
          <a:solidFill>
            <a:srgbClr val="FCFCFA"/>
          </a:solidFill>
          <a:ln/>
          <a:effectLst>
            <a:outerShdw sx="100000" sy="100000" kx="0" ky="0" algn="bl" rotWithShape="0" blurRad="6350" dist="0" dir="60000">
              <a:srgbClr val="D7DCE3">
                <a:alpha val="100000"/>
              </a:srgbClr>
            </a:outerShdw>
          </a:effectLst>
        </p:spPr>
      </p:sp>
      <p:sp>
        <p:nvSpPr>
          <p:cNvPr id="13" name="Shape 11"/>
          <p:cNvSpPr/>
          <p:nvPr/>
        </p:nvSpPr>
        <p:spPr>
          <a:xfrm>
            <a:off x="812800" y="3313311"/>
            <a:ext cx="5194300" cy="1182291"/>
          </a:xfrm>
          <a:custGeom>
            <a:avLst/>
            <a:gdLst/>
            <a:ahLst/>
            <a:cxnLst/>
            <a:rect l="l" t="t" r="r" b="b"/>
            <a:pathLst>
              <a:path w="5194300" h="1182291">
                <a:moveTo>
                  <a:pt x="0" y="76200"/>
                </a:moveTo>
                <a:lnTo>
                  <a:pt x="0" y="76200"/>
                </a:lnTo>
                <a:arcTo hR="76200" wR="76200" stAng="10800000" swAng="5400000"/>
                <a:lnTo>
                  <a:pt x="5118100" y="0"/>
                </a:lnTo>
                <a:arcTo hR="76200" wR="76200" stAng="16200000" swAng="5400000"/>
                <a:lnTo>
                  <a:pt x="5194300" y="76200"/>
                </a:lnTo>
                <a:lnTo>
                  <a:pt x="0" y="76200"/>
                </a:lnTo>
                <a:close/>
              </a:path>
            </a:pathLst>
          </a:custGeom>
          <a:solidFill>
            <a:srgbClr val="5F6A77"/>
          </a:solidFill>
          <a:ln/>
        </p:spPr>
      </p:sp>
      <p:sp>
        <p:nvSpPr>
          <p:cNvPr id="14" name="Text 12"/>
          <p:cNvSpPr/>
          <p:nvPr/>
        </p:nvSpPr>
        <p:spPr>
          <a:xfrm>
            <a:off x="990600" y="356731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Login history starts at capture</a:t>
            </a:r>
            <a:endParaRPr lang="en-US" sz="1500" dirty="0"/>
          </a:p>
        </p:txBody>
      </p:sp>
      <p:sp>
        <p:nvSpPr>
          <p:cNvPr id="15" name="Text 13"/>
          <p:cNvSpPr/>
          <p:nvPr/>
        </p:nvSpPr>
        <p:spPr>
          <a:xfrm>
            <a:off x="990600" y="3872111"/>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Logins are recorded from the day capture began; nothing earlier was observed. They are kept 400 days.</a:t>
            </a:r>
            <a:endParaRPr lang="en-US" sz="1300" dirty="0"/>
          </a:p>
        </p:txBody>
      </p:sp>
      <p:sp>
        <p:nvSpPr>
          <p:cNvPr id="16" name="Shape 14"/>
          <p:cNvSpPr/>
          <p:nvPr/>
        </p:nvSpPr>
        <p:spPr>
          <a:xfrm>
            <a:off x="6184900" y="3313311"/>
            <a:ext cx="5194300" cy="1182291"/>
          </a:xfrm>
          <a:prstGeom prst="roundRect">
            <a:avLst>
              <a:gd name="adj" fmla="val 6445"/>
            </a:avLst>
          </a:prstGeom>
          <a:solidFill>
            <a:srgbClr val="FCFCFA"/>
          </a:solidFill>
          <a:ln/>
          <a:effectLst>
            <a:outerShdw sx="100000" sy="100000" kx="0" ky="0" algn="bl" rotWithShape="0" blurRad="6350" dist="0" dir="60000">
              <a:srgbClr val="D7DCE3">
                <a:alpha val="100000"/>
              </a:srgbClr>
            </a:outerShdw>
          </a:effectLst>
        </p:spPr>
      </p:sp>
      <p:sp>
        <p:nvSpPr>
          <p:cNvPr id="17" name="Shape 15"/>
          <p:cNvSpPr/>
          <p:nvPr/>
        </p:nvSpPr>
        <p:spPr>
          <a:xfrm>
            <a:off x="6184900" y="3313311"/>
            <a:ext cx="5194300" cy="1182291"/>
          </a:xfrm>
          <a:custGeom>
            <a:avLst/>
            <a:gdLst/>
            <a:ahLst/>
            <a:cxnLst/>
            <a:rect l="l" t="t" r="r" b="b"/>
            <a:pathLst>
              <a:path w="5194300" h="1182291">
                <a:moveTo>
                  <a:pt x="0" y="76200"/>
                </a:moveTo>
                <a:lnTo>
                  <a:pt x="0" y="76200"/>
                </a:lnTo>
                <a:arcTo hR="76200" wR="76200" stAng="10800000" swAng="5400000"/>
                <a:lnTo>
                  <a:pt x="5118100" y="0"/>
                </a:lnTo>
                <a:arcTo hR="76200" wR="76200" stAng="16200000" swAng="5400000"/>
                <a:lnTo>
                  <a:pt x="5194300" y="76200"/>
                </a:lnTo>
                <a:lnTo>
                  <a:pt x="0" y="76200"/>
                </a:lnTo>
                <a:close/>
              </a:path>
            </a:pathLst>
          </a:custGeom>
          <a:solidFill>
            <a:srgbClr val="5F6A77"/>
          </a:solidFill>
          <a:ln/>
        </p:spPr>
      </p:sp>
      <p:sp>
        <p:nvSpPr>
          <p:cNvPr id="18" name="Text 16"/>
          <p:cNvSpPr/>
          <p:nvPr/>
        </p:nvSpPr>
        <p:spPr>
          <a:xfrm>
            <a:off x="6362700" y="3567311"/>
            <a:ext cx="498386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212C"/>
                </a:solidFill>
                <a:latin typeface="Arial" pitchFamily="34" charset="0"/>
                <a:ea typeface="Arial" pitchFamily="34" charset="-122"/>
                <a:cs typeface="Arial" pitchFamily="34" charset="-120"/>
              </a:rPr>
              <a:t>As of the last read</a:t>
            </a:r>
            <a:endParaRPr lang="en-US" sz="1500" dirty="0"/>
          </a:p>
        </p:txBody>
      </p:sp>
      <p:sp>
        <p:nvSpPr>
          <p:cNvPr id="19" name="Text 17"/>
          <p:cNvSpPr/>
          <p:nvPr/>
        </p:nvSpPr>
        <p:spPr>
          <a:xfrm>
            <a:off x="6362700" y="3872111"/>
            <a:ext cx="498386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Groups and CRs are read every 60 s and bindings every hour, so a change shows on the next read.</a:t>
            </a:r>
            <a:endParaRPr lang="en-US" sz="1300" dirty="0"/>
          </a:p>
        </p:txBody>
      </p:sp>
      <p:sp>
        <p:nvSpPr>
          <p:cNvPr id="20" name="Text 18"/>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Sources: reference-architecture.md (What it is not; the cycle) · the reports' coverage notes · values.yaml</a:t>
            </a:r>
            <a:endParaRPr lang="en-US" sz="1200" dirty="0"/>
          </a:p>
        </p:txBody>
      </p:sp>
      <p:sp>
        <p:nvSpPr>
          <p:cNvPr id="21" name="Text 19"/>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24 / 26</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NEXT STEPS</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Rolling it out</a:t>
            </a:r>
            <a:endParaRPr lang="en-US" sz="3000" dirty="0"/>
          </a:p>
        </p:txBody>
      </p:sp>
      <p:sp>
        <p:nvSpPr>
          <p:cNvPr id="4" name="Shape 2"/>
          <p:cNvSpPr/>
          <p:nvPr/>
        </p:nvSpPr>
        <p:spPr>
          <a:xfrm>
            <a:off x="812800" y="1953220"/>
            <a:ext cx="2508250" cy="2197497"/>
          </a:xfrm>
          <a:prstGeom prst="roundRect">
            <a:avLst>
              <a:gd name="adj" fmla="val 3468"/>
            </a:avLst>
          </a:prstGeom>
          <a:solidFill>
            <a:srgbClr val="FCFCFA"/>
          </a:solidFill>
          <a:ln/>
          <a:effectLst>
            <a:outerShdw sx="100000" sy="100000" kx="0" ky="0" algn="bl" rotWithShape="0" blurRad="6350" dist="0" dir="60000">
              <a:srgbClr val="D7DCE3">
                <a:alpha val="100000"/>
              </a:srgbClr>
            </a:outerShdw>
          </a:effectLst>
        </p:spPr>
      </p:sp>
      <p:sp>
        <p:nvSpPr>
          <p:cNvPr id="5" name="Shape 3"/>
          <p:cNvSpPr/>
          <p:nvPr/>
        </p:nvSpPr>
        <p:spPr>
          <a:xfrm>
            <a:off x="812800" y="1953220"/>
            <a:ext cx="2508250" cy="2197497"/>
          </a:xfrm>
          <a:custGeom>
            <a:avLst/>
            <a:gdLst/>
            <a:ahLst/>
            <a:cxnLst/>
            <a:rect l="l" t="t" r="r" b="b"/>
            <a:pathLst>
              <a:path w="2508250" h="2197497">
                <a:moveTo>
                  <a:pt x="0" y="76200"/>
                </a:moveTo>
                <a:lnTo>
                  <a:pt x="0" y="76200"/>
                </a:lnTo>
                <a:arcTo hR="76200" wR="76200" stAng="10800000" swAng="5400000"/>
                <a:lnTo>
                  <a:pt x="2432050" y="0"/>
                </a:lnTo>
                <a:arcTo hR="76200" wR="76200" stAng="16200000" swAng="5400000"/>
                <a:lnTo>
                  <a:pt x="2508250" y="76200"/>
                </a:lnTo>
                <a:lnTo>
                  <a:pt x="0" y="76200"/>
                </a:lnTo>
                <a:close/>
              </a:path>
            </a:pathLst>
          </a:custGeom>
          <a:solidFill>
            <a:srgbClr val="0E6F68"/>
          </a:solidFill>
          <a:ln/>
        </p:spPr>
      </p:sp>
      <p:sp>
        <p:nvSpPr>
          <p:cNvPr id="6" name="Text 4"/>
          <p:cNvSpPr/>
          <p:nvPr/>
        </p:nvSpPr>
        <p:spPr>
          <a:xfrm>
            <a:off x="1016000" y="2232620"/>
            <a:ext cx="216490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E6F68"/>
                </a:solidFill>
                <a:latin typeface="Arial" pitchFamily="34" charset="0"/>
                <a:ea typeface="Arial" pitchFamily="34" charset="-122"/>
                <a:cs typeface="Arial" pitchFamily="34" charset="-120"/>
              </a:rPr>
              <a:t>1</a:t>
            </a:r>
            <a:endParaRPr lang="en-US" sz="3200" dirty="0"/>
          </a:p>
        </p:txBody>
      </p:sp>
      <p:sp>
        <p:nvSpPr>
          <p:cNvPr id="7" name="Text 5"/>
          <p:cNvSpPr/>
          <p:nvPr/>
        </p:nvSpPr>
        <p:spPr>
          <a:xfrm>
            <a:off x="1016000" y="2715220"/>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Install</a:t>
            </a:r>
            <a:endParaRPr lang="en-US" sz="1600" dirty="0"/>
          </a:p>
        </p:txBody>
      </p:sp>
      <p:sp>
        <p:nvSpPr>
          <p:cNvPr id="8" name="Text 6"/>
          <p:cNvSpPr/>
          <p:nvPr/>
        </p:nvSpPr>
        <p:spPr>
          <a:xfrm>
            <a:off x="1016000" y="3035201"/>
            <a:ext cx="216490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chart on the host cluster, with Helm or Argo CD.</a:t>
            </a:r>
            <a:endParaRPr lang="en-US" sz="1300" dirty="0"/>
          </a:p>
        </p:txBody>
      </p:sp>
      <p:sp>
        <p:nvSpPr>
          <p:cNvPr id="9" name="Shape 7"/>
          <p:cNvSpPr/>
          <p:nvPr/>
        </p:nvSpPr>
        <p:spPr>
          <a:xfrm>
            <a:off x="3498850" y="1953220"/>
            <a:ext cx="2508250" cy="2197497"/>
          </a:xfrm>
          <a:prstGeom prst="roundRect">
            <a:avLst>
              <a:gd name="adj" fmla="val 3468"/>
            </a:avLst>
          </a:prstGeom>
          <a:solidFill>
            <a:srgbClr val="FCFCFA"/>
          </a:solidFill>
          <a:ln/>
          <a:effectLst>
            <a:outerShdw sx="100000" sy="100000" kx="0" ky="0" algn="bl" rotWithShape="0" blurRad="6350" dist="0" dir="60000">
              <a:srgbClr val="D7DCE3">
                <a:alpha val="100000"/>
              </a:srgbClr>
            </a:outerShdw>
          </a:effectLst>
        </p:spPr>
      </p:sp>
      <p:sp>
        <p:nvSpPr>
          <p:cNvPr id="10" name="Shape 8"/>
          <p:cNvSpPr/>
          <p:nvPr/>
        </p:nvSpPr>
        <p:spPr>
          <a:xfrm>
            <a:off x="3498850" y="1953220"/>
            <a:ext cx="2508250" cy="2197497"/>
          </a:xfrm>
          <a:custGeom>
            <a:avLst/>
            <a:gdLst/>
            <a:ahLst/>
            <a:cxnLst/>
            <a:rect l="l" t="t" r="r" b="b"/>
            <a:pathLst>
              <a:path w="2508250" h="2197497">
                <a:moveTo>
                  <a:pt x="0" y="76200"/>
                </a:moveTo>
                <a:lnTo>
                  <a:pt x="0" y="76200"/>
                </a:lnTo>
                <a:arcTo hR="76200" wR="76200" stAng="10800000" swAng="5400000"/>
                <a:lnTo>
                  <a:pt x="2432050" y="0"/>
                </a:lnTo>
                <a:arcTo hR="76200" wR="76200" stAng="16200000" swAng="5400000"/>
                <a:lnTo>
                  <a:pt x="2508250" y="76200"/>
                </a:lnTo>
                <a:lnTo>
                  <a:pt x="0" y="76200"/>
                </a:lnTo>
                <a:close/>
              </a:path>
            </a:pathLst>
          </a:custGeom>
          <a:solidFill>
            <a:srgbClr val="0E6F68"/>
          </a:solidFill>
          <a:ln/>
        </p:spPr>
      </p:sp>
      <p:sp>
        <p:nvSpPr>
          <p:cNvPr id="11" name="Text 9"/>
          <p:cNvSpPr/>
          <p:nvPr/>
        </p:nvSpPr>
        <p:spPr>
          <a:xfrm>
            <a:off x="3702050" y="2232620"/>
            <a:ext cx="216490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E6F68"/>
                </a:solidFill>
                <a:latin typeface="Arial" pitchFamily="34" charset="0"/>
                <a:ea typeface="Arial" pitchFamily="34" charset="-122"/>
                <a:cs typeface="Arial" pitchFamily="34" charset="-120"/>
              </a:rPr>
              <a:t>2</a:t>
            </a:r>
            <a:endParaRPr lang="en-US" sz="3200" dirty="0"/>
          </a:p>
        </p:txBody>
      </p:sp>
      <p:sp>
        <p:nvSpPr>
          <p:cNvPr id="12" name="Text 10"/>
          <p:cNvSpPr/>
          <p:nvPr/>
        </p:nvSpPr>
        <p:spPr>
          <a:xfrm>
            <a:off x="3702050" y="2715220"/>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Join clusters</a:t>
            </a:r>
            <a:endParaRPr lang="en-US" sz="1600" dirty="0"/>
          </a:p>
        </p:txBody>
      </p:sp>
      <p:sp>
        <p:nvSpPr>
          <p:cNvPr id="13" name="Text 11"/>
          <p:cNvSpPr/>
          <p:nvPr/>
        </p:nvSpPr>
        <p:spPr>
          <a:xfrm>
            <a:off x="3702050" y="3035201"/>
            <a:ext cx="216490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each with its own token: a Secret, saTokenLookup or Rejoin.</a:t>
            </a:r>
            <a:endParaRPr lang="en-US" sz="1300" dirty="0"/>
          </a:p>
        </p:txBody>
      </p:sp>
      <p:sp>
        <p:nvSpPr>
          <p:cNvPr id="14" name="Shape 12"/>
          <p:cNvSpPr/>
          <p:nvPr/>
        </p:nvSpPr>
        <p:spPr>
          <a:xfrm>
            <a:off x="6184900" y="1953220"/>
            <a:ext cx="2508250" cy="2197497"/>
          </a:xfrm>
          <a:prstGeom prst="roundRect">
            <a:avLst>
              <a:gd name="adj" fmla="val 3468"/>
            </a:avLst>
          </a:prstGeom>
          <a:solidFill>
            <a:srgbClr val="FCFCFA"/>
          </a:solidFill>
          <a:ln/>
          <a:effectLst>
            <a:outerShdw sx="100000" sy="100000" kx="0" ky="0" algn="bl" rotWithShape="0" blurRad="6350" dist="0" dir="60000">
              <a:srgbClr val="D7DCE3">
                <a:alpha val="100000"/>
              </a:srgbClr>
            </a:outerShdw>
          </a:effectLst>
        </p:spPr>
      </p:sp>
      <p:sp>
        <p:nvSpPr>
          <p:cNvPr id="15" name="Shape 13"/>
          <p:cNvSpPr/>
          <p:nvPr/>
        </p:nvSpPr>
        <p:spPr>
          <a:xfrm>
            <a:off x="6184900" y="1953220"/>
            <a:ext cx="2508250" cy="2197497"/>
          </a:xfrm>
          <a:custGeom>
            <a:avLst/>
            <a:gdLst/>
            <a:ahLst/>
            <a:cxnLst/>
            <a:rect l="l" t="t" r="r" b="b"/>
            <a:pathLst>
              <a:path w="2508250" h="2197497">
                <a:moveTo>
                  <a:pt x="0" y="76200"/>
                </a:moveTo>
                <a:lnTo>
                  <a:pt x="0" y="76200"/>
                </a:lnTo>
                <a:arcTo hR="76200" wR="76200" stAng="10800000" swAng="5400000"/>
                <a:lnTo>
                  <a:pt x="2432050" y="0"/>
                </a:lnTo>
                <a:arcTo hR="76200" wR="76200" stAng="16200000" swAng="5400000"/>
                <a:lnTo>
                  <a:pt x="2508250" y="76200"/>
                </a:lnTo>
                <a:lnTo>
                  <a:pt x="0" y="76200"/>
                </a:lnTo>
                <a:close/>
              </a:path>
            </a:pathLst>
          </a:custGeom>
          <a:solidFill>
            <a:srgbClr val="0E6F68"/>
          </a:solidFill>
          <a:ln/>
        </p:spPr>
      </p:sp>
      <p:sp>
        <p:nvSpPr>
          <p:cNvPr id="16" name="Text 14"/>
          <p:cNvSpPr/>
          <p:nvPr/>
        </p:nvSpPr>
        <p:spPr>
          <a:xfrm>
            <a:off x="6388100" y="2232620"/>
            <a:ext cx="216490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E6F68"/>
                </a:solidFill>
                <a:latin typeface="Arial" pitchFamily="34" charset="0"/>
                <a:ea typeface="Arial" pitchFamily="34" charset="-122"/>
                <a:cs typeface="Arial" pitchFamily="34" charset="-120"/>
              </a:rPr>
              <a:t>3</a:t>
            </a:r>
            <a:endParaRPr lang="en-US" sz="3200" dirty="0"/>
          </a:p>
        </p:txBody>
      </p:sp>
      <p:sp>
        <p:nvSpPr>
          <p:cNvPr id="17" name="Text 15"/>
          <p:cNvSpPr/>
          <p:nvPr/>
        </p:nvSpPr>
        <p:spPr>
          <a:xfrm>
            <a:off x="6388100" y="2715220"/>
            <a:ext cx="216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Name the auditors</a:t>
            </a:r>
            <a:endParaRPr lang="en-US" sz="1600" dirty="0"/>
          </a:p>
        </p:txBody>
      </p:sp>
      <p:sp>
        <p:nvSpPr>
          <p:cNvPr id="18" name="Text 16"/>
          <p:cNvSpPr/>
          <p:nvPr/>
        </p:nvSpPr>
        <p:spPr>
          <a:xfrm>
            <a:off x="6388100" y="3035201"/>
            <a:ext cx="216490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the groups that review access everywhere.</a:t>
            </a:r>
            <a:endParaRPr lang="en-US" sz="1300" dirty="0"/>
          </a:p>
        </p:txBody>
      </p:sp>
      <p:sp>
        <p:nvSpPr>
          <p:cNvPr id="19" name="Shape 17"/>
          <p:cNvSpPr/>
          <p:nvPr/>
        </p:nvSpPr>
        <p:spPr>
          <a:xfrm>
            <a:off x="8870950" y="1953220"/>
            <a:ext cx="2508250" cy="2197497"/>
          </a:xfrm>
          <a:prstGeom prst="roundRect">
            <a:avLst>
              <a:gd name="adj" fmla="val 3468"/>
            </a:avLst>
          </a:prstGeom>
          <a:solidFill>
            <a:srgbClr val="FCFCFA"/>
          </a:solidFill>
          <a:ln/>
          <a:effectLst>
            <a:outerShdw sx="100000" sy="100000" kx="0" ky="0" algn="bl" rotWithShape="0" blurRad="6350" dist="0" dir="60000">
              <a:srgbClr val="D7DCE3">
                <a:alpha val="100000"/>
              </a:srgbClr>
            </a:outerShdw>
          </a:effectLst>
        </p:spPr>
      </p:sp>
      <p:sp>
        <p:nvSpPr>
          <p:cNvPr id="20" name="Shape 18"/>
          <p:cNvSpPr/>
          <p:nvPr/>
        </p:nvSpPr>
        <p:spPr>
          <a:xfrm>
            <a:off x="8870950" y="1953220"/>
            <a:ext cx="2508250" cy="2197497"/>
          </a:xfrm>
          <a:custGeom>
            <a:avLst/>
            <a:gdLst/>
            <a:ahLst/>
            <a:cxnLst/>
            <a:rect l="l" t="t" r="r" b="b"/>
            <a:pathLst>
              <a:path w="2508250" h="2197497">
                <a:moveTo>
                  <a:pt x="0" y="76200"/>
                </a:moveTo>
                <a:lnTo>
                  <a:pt x="0" y="76200"/>
                </a:lnTo>
                <a:arcTo hR="76200" wR="76200" stAng="10800000" swAng="5400000"/>
                <a:lnTo>
                  <a:pt x="2432050" y="0"/>
                </a:lnTo>
                <a:arcTo hR="76200" wR="76200" stAng="16200000" swAng="5400000"/>
                <a:lnTo>
                  <a:pt x="2508250" y="76200"/>
                </a:lnTo>
                <a:lnTo>
                  <a:pt x="0" y="76200"/>
                </a:lnTo>
                <a:close/>
              </a:path>
            </a:pathLst>
          </a:custGeom>
          <a:solidFill>
            <a:srgbClr val="0E6F68"/>
          </a:solidFill>
          <a:ln/>
        </p:spPr>
      </p:sp>
      <p:sp>
        <p:nvSpPr>
          <p:cNvPr id="21" name="Text 19"/>
          <p:cNvSpPr/>
          <p:nvPr/>
        </p:nvSpPr>
        <p:spPr>
          <a:xfrm>
            <a:off x="9074150" y="2232620"/>
            <a:ext cx="2164906"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0E6F68"/>
                </a:solidFill>
                <a:latin typeface="Arial" pitchFamily="34" charset="0"/>
                <a:ea typeface="Arial" pitchFamily="34" charset="-122"/>
                <a:cs typeface="Arial" pitchFamily="34" charset="-120"/>
              </a:rPr>
              <a:t>4</a:t>
            </a:r>
            <a:endParaRPr lang="en-US" sz="3200" dirty="0"/>
          </a:p>
        </p:txBody>
      </p:sp>
      <p:sp>
        <p:nvSpPr>
          <p:cNvPr id="22" name="Text 20"/>
          <p:cNvSpPr/>
          <p:nvPr/>
        </p:nvSpPr>
        <p:spPr>
          <a:xfrm>
            <a:off x="9074150" y="2715220"/>
            <a:ext cx="2164906" cy="51296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212C"/>
                </a:solidFill>
                <a:latin typeface="Arial" pitchFamily="34" charset="0"/>
                <a:ea typeface="Arial" pitchFamily="34" charset="-122"/>
                <a:cs typeface="Arial" pitchFamily="34" charset="-120"/>
              </a:rPr>
              <a:t>Schedule the evidence</a:t>
            </a:r>
            <a:endParaRPr lang="en-US" sz="1600" dirty="0"/>
          </a:p>
        </p:txBody>
      </p:sp>
      <p:sp>
        <p:nvSpPr>
          <p:cNvPr id="23" name="Text 21"/>
          <p:cNvSpPr/>
          <p:nvPr/>
        </p:nvSpPr>
        <p:spPr>
          <a:xfrm>
            <a:off x="9074150" y="3278981"/>
            <a:ext cx="2164906"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a quarterly compliance schedule, and a webhook for delivery.</a:t>
            </a:r>
            <a:endParaRPr lang="en-US" sz="1300" dirty="0"/>
          </a:p>
        </p:txBody>
      </p:sp>
      <p:sp>
        <p:nvSpPr>
          <p:cNvPr id="24" name="Shape 22"/>
          <p:cNvSpPr/>
          <p:nvPr/>
        </p:nvSpPr>
        <p:spPr>
          <a:xfrm>
            <a:off x="812800" y="4404717"/>
            <a:ext cx="10566400" cy="1083866"/>
          </a:xfrm>
          <a:prstGeom prst="roundRect">
            <a:avLst>
              <a:gd name="adj" fmla="val 7030"/>
            </a:avLst>
          </a:prstGeom>
          <a:solidFill>
            <a:srgbClr val="E3F1EF"/>
          </a:solidFill>
          <a:ln/>
        </p:spPr>
      </p:sp>
      <p:sp>
        <p:nvSpPr>
          <p:cNvPr id="25" name="Shape 23"/>
          <p:cNvSpPr/>
          <p:nvPr/>
        </p:nvSpPr>
        <p:spPr>
          <a:xfrm>
            <a:off x="812800" y="4404717"/>
            <a:ext cx="10566400" cy="1083866"/>
          </a:xfrm>
          <a:custGeom>
            <a:avLst/>
            <a:gdLst/>
            <a:ahLst/>
            <a:cxnLst/>
            <a:rect l="l" t="t" r="r" b="b"/>
            <a:pathLst>
              <a:path w="10566400" h="1083866">
                <a:moveTo>
                  <a:pt x="76200" y="1083866"/>
                </a:moveTo>
                <a:lnTo>
                  <a:pt x="76200" y="1083866"/>
                </a:lnTo>
                <a:arcTo hR="76200" wR="76200" stAng="5400000" swAng="5400000"/>
                <a:lnTo>
                  <a:pt x="0" y="76200"/>
                </a:lnTo>
                <a:arcTo hR="76200" wR="76200" stAng="10800000" swAng="5400000"/>
                <a:lnTo>
                  <a:pt x="76200" y="0"/>
                </a:lnTo>
                <a:lnTo>
                  <a:pt x="76200" y="1083866"/>
                </a:lnTo>
                <a:close/>
              </a:path>
            </a:pathLst>
          </a:custGeom>
          <a:solidFill>
            <a:srgbClr val="0E6F68"/>
          </a:solidFill>
          <a:ln/>
        </p:spPr>
      </p:sp>
      <p:sp>
        <p:nvSpPr>
          <p:cNvPr id="26" name="Text 24"/>
          <p:cNvSpPr/>
          <p:nvPr/>
        </p:nvSpPr>
        <p:spPr>
          <a:xfrm>
            <a:off x="1092200" y="4557117"/>
            <a:ext cx="1038631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8212C"/>
                </a:solidFill>
                <a:latin typeface="Arial" pitchFamily="34" charset="0"/>
                <a:ea typeface="Arial" pitchFamily="34" charset="-122"/>
                <a:cs typeface="Arial" pitchFamily="34" charset="-120"/>
              </a:rPr>
              <a:t>No access changes on any cluster: the dashboard reads, and the reports record what it read.</a:t>
            </a:r>
            <a:endParaRPr lang="en-US" sz="1500" dirty="0"/>
          </a:p>
        </p:txBody>
      </p:sp>
      <p:sp>
        <p:nvSpPr>
          <p:cNvPr id="27" name="Text 25"/>
          <p:cNvSpPr/>
          <p:nvPr/>
        </p:nvSpPr>
        <p:spPr>
          <a:xfrm>
            <a:off x="1092200" y="4890492"/>
            <a:ext cx="1038631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E4A57"/>
                </a:solidFill>
                <a:latin typeface="Arial" pitchFamily="34" charset="0"/>
                <a:ea typeface="Arial" pitchFamily="34" charset="-122"/>
                <a:cs typeface="Arial" pitchFamily="34" charset="-120"/>
              </a:rPr>
              <a:t>Its only writes are its own: a leader Lease on the host and, when a cluster joins by saTokenLookup or Rejoin, that cluster's token Secret on the host and a login on the remote that it revokes.</a:t>
            </a:r>
            <a:endParaRPr lang="en-US" sz="1300" dirty="0"/>
          </a:p>
        </p:txBody>
      </p:sp>
      <p:sp>
        <p:nvSpPr>
          <p:cNvPr id="28" name="Text 26"/>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Sources: the chart's values.yaml · CLUSTER_CREDENTIALS.md</a:t>
            </a:r>
            <a:endParaRPr lang="en-US" sz="1200" dirty="0"/>
          </a:p>
        </p:txBody>
      </p:sp>
      <p:sp>
        <p:nvSpPr>
          <p:cNvPr id="29" name="Text 27"/>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25 / 26</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0E6F68"/>
                </a:solidFill>
                <a:latin typeface="Courier New" pitchFamily="49" charset="0"/>
                <a:ea typeface="Courier New" pitchFamily="49" charset="-122"/>
                <a:cs typeface="Courier New" pitchFamily="49" charset="-120"/>
              </a:rPr>
              <a:t>THANK YOU</a:t>
            </a:r>
            <a:endParaRPr lang="en-US" sz="1200" dirty="0"/>
          </a:p>
        </p:txBody>
      </p:sp>
      <p:sp>
        <p:nvSpPr>
          <p:cNvPr id="3" name="Text 1"/>
          <p:cNvSpPr/>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dirty="0">
                <a:solidFill>
                  <a:srgbClr val="18212C"/>
                </a:solidFill>
                <a:latin typeface="Arial" pitchFamily="34" charset="0"/>
                <a:ea typeface="Arial" pitchFamily="34" charset="-122"/>
                <a:cs typeface="Arial" pitchFamily="34" charset="-120"/>
              </a:rPr>
              <a:t>Questions, and where to read more</a:t>
            </a:r>
            <a:endParaRPr lang="en-US" sz="3000" dirty="0"/>
          </a:p>
        </p:txBody>
      </p:sp>
      <p:sp>
        <p:nvSpPr>
          <p:cNvPr id="4" name="Text 2"/>
          <p:cNvSpPr/>
          <p:nvPr/>
        </p:nvSpPr>
        <p:spPr>
          <a:xfrm>
            <a:off x="812800" y="1959570"/>
            <a:ext cx="40551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6F68"/>
                </a:solidFill>
                <a:latin typeface="Courier New" pitchFamily="49" charset="0"/>
                <a:ea typeface="Courier New" pitchFamily="49" charset="-122"/>
                <a:cs typeface="Courier New" pitchFamily="49" charset="-120"/>
              </a:rPr>
              <a:t>architecture-overview.md</a:t>
            </a:r>
            <a:endParaRPr lang="en-US" sz="1400" dirty="0"/>
          </a:p>
        </p:txBody>
      </p:sp>
      <p:sp>
        <p:nvSpPr>
          <p:cNvPr id="5" name="Text 3"/>
          <p:cNvSpPr/>
          <p:nvPr/>
        </p:nvSpPr>
        <p:spPr>
          <a:xfrm>
            <a:off x="4902200" y="1953220"/>
            <a:ext cx="302430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A57"/>
                </a:solidFill>
                <a:latin typeface="Arial" pitchFamily="34" charset="0"/>
                <a:ea typeface="Arial" pitchFamily="34" charset="-122"/>
                <a:cs typeface="Arial" pitchFamily="34" charset="-120"/>
              </a:rPr>
              <a:t>the architecture in seven figures</a:t>
            </a:r>
            <a:endParaRPr lang="en-US" sz="1400" dirty="0"/>
          </a:p>
        </p:txBody>
      </p:sp>
      <p:sp>
        <p:nvSpPr>
          <p:cNvPr id="6" name="Text 4"/>
          <p:cNvSpPr/>
          <p:nvPr/>
        </p:nvSpPr>
        <p:spPr>
          <a:xfrm>
            <a:off x="812800" y="2367161"/>
            <a:ext cx="40551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6F68"/>
                </a:solidFill>
                <a:latin typeface="Courier New" pitchFamily="49" charset="0"/>
                <a:ea typeface="Courier New" pitchFamily="49" charset="-122"/>
                <a:cs typeface="Courier New" pitchFamily="49" charset="-120"/>
              </a:rPr>
              <a:t>reference-architecture.md</a:t>
            </a:r>
            <a:endParaRPr lang="en-US" sz="1400" dirty="0"/>
          </a:p>
        </p:txBody>
      </p:sp>
      <p:sp>
        <p:nvSpPr>
          <p:cNvPr id="7" name="Text 5"/>
          <p:cNvSpPr/>
          <p:nvPr/>
        </p:nvSpPr>
        <p:spPr>
          <a:xfrm>
            <a:off x="4902200" y="2360811"/>
            <a:ext cx="308324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A57"/>
                </a:solidFill>
                <a:latin typeface="Arial" pitchFamily="34" charset="0"/>
                <a:ea typeface="Arial" pitchFamily="34" charset="-122"/>
                <a:cs typeface="Arial" pitchFamily="34" charset="-120"/>
              </a:rPr>
              <a:t>the full reasoning, claim by claim</a:t>
            </a:r>
            <a:endParaRPr lang="en-US" sz="1400" dirty="0"/>
          </a:p>
        </p:txBody>
      </p:sp>
      <p:sp>
        <p:nvSpPr>
          <p:cNvPr id="8" name="Text 6"/>
          <p:cNvSpPr/>
          <p:nvPr/>
        </p:nvSpPr>
        <p:spPr>
          <a:xfrm>
            <a:off x="812800" y="2774752"/>
            <a:ext cx="40551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6F68"/>
                </a:solidFill>
                <a:latin typeface="Courier New" pitchFamily="49" charset="0"/>
                <a:ea typeface="Courier New" pitchFamily="49" charset="-122"/>
                <a:cs typeface="Courier New" pitchFamily="49" charset="-120"/>
              </a:rPr>
              <a:t>ACCESS_CONTROL.md</a:t>
            </a:r>
            <a:endParaRPr lang="en-US" sz="1400" dirty="0"/>
          </a:p>
        </p:txBody>
      </p:sp>
      <p:sp>
        <p:nvSpPr>
          <p:cNvPr id="9" name="Text 7"/>
          <p:cNvSpPr/>
          <p:nvPr/>
        </p:nvSpPr>
        <p:spPr>
          <a:xfrm>
            <a:off x="4902200" y="2768402"/>
            <a:ext cx="232457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A57"/>
                </a:solidFill>
                <a:latin typeface="Arial" pitchFamily="34" charset="0"/>
                <a:ea typeface="Arial" pitchFamily="34" charset="-122"/>
                <a:cs typeface="Arial" pitchFamily="34" charset="-120"/>
              </a:rPr>
              <a:t>who sees what, and why</a:t>
            </a:r>
            <a:endParaRPr lang="en-US" sz="1400" dirty="0"/>
          </a:p>
        </p:txBody>
      </p:sp>
      <p:sp>
        <p:nvSpPr>
          <p:cNvPr id="10" name="Text 8"/>
          <p:cNvSpPr/>
          <p:nvPr/>
        </p:nvSpPr>
        <p:spPr>
          <a:xfrm>
            <a:off x="812800" y="3182342"/>
            <a:ext cx="405511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E6F68"/>
                </a:solidFill>
                <a:latin typeface="Courier New" pitchFamily="49" charset="0"/>
                <a:ea typeface="Courier New" pitchFamily="49" charset="-122"/>
                <a:cs typeface="Courier New" pitchFamily="49" charset="-120"/>
              </a:rPr>
              <a:t>docs/reports/README.md</a:t>
            </a:r>
            <a:endParaRPr lang="en-US" sz="1400" dirty="0"/>
          </a:p>
        </p:txBody>
      </p:sp>
      <p:sp>
        <p:nvSpPr>
          <p:cNvPr id="11" name="Text 9"/>
          <p:cNvSpPr/>
          <p:nvPr/>
        </p:nvSpPr>
        <p:spPr>
          <a:xfrm>
            <a:off x="4902200" y="3175992"/>
            <a:ext cx="361759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E4A57"/>
                </a:solidFill>
                <a:latin typeface="Arial" pitchFamily="34" charset="0"/>
                <a:ea typeface="Arial" pitchFamily="34" charset="-122"/>
                <a:cs typeface="Arial" pitchFamily="34" charset="-120"/>
              </a:rPr>
              <a:t>the eleven reports and their schedules</a:t>
            </a:r>
            <a:endParaRPr lang="en-US" sz="1400" dirty="0"/>
          </a:p>
        </p:txBody>
      </p:sp>
      <p:sp>
        <p:nvSpPr>
          <p:cNvPr id="12" name="Text 10"/>
          <p:cNvSpPr/>
          <p:nvPr/>
        </p:nvSpPr>
        <p:spPr>
          <a:xfrm>
            <a:off x="812800" y="6238280"/>
            <a:ext cx="9418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A77"/>
                </a:solidFill>
                <a:latin typeface="Arial" pitchFamily="34" charset="0"/>
                <a:ea typeface="Arial" pitchFamily="34" charset="-122"/>
                <a:cs typeface="Arial" pitchFamily="34" charset="-120"/>
              </a:rPr>
              <a:t>All documents are in the group-sync-dashboard repository, under docs/</a:t>
            </a:r>
            <a:endParaRPr lang="en-US" sz="1200" dirty="0"/>
          </a:p>
        </p:txBody>
      </p:sp>
      <p:sp>
        <p:nvSpPr>
          <p:cNvPr id="13" name="Text 11"/>
          <p:cNvSpPr/>
          <p:nvPr/>
        </p:nvSpPr>
        <p:spPr>
          <a:xfrm>
            <a:off x="10058400" y="6210300"/>
            <a:ext cx="1320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3E4A57"/>
                </a:solidFill>
                <a:latin typeface="Arial" pitchFamily="34" charset="0"/>
                <a:ea typeface="Arial" pitchFamily="34" charset="-122"/>
                <a:cs typeface="Arial" pitchFamily="34" charset="-120"/>
              </a:rPr>
              <a:t>26 / 26</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OpenShift Access Tracking &amp; Reporting</dc:title>
  <dc:subject/>
  <dc:creator/>
  <cp:lastModifiedBy/>
  <cp:revision>1</cp:revision>
  <dcterms:created xsi:type="dcterms:W3CDTF">2026-10-13T12:57:18Z</dcterms:created>
  <dcterms:modified xsi:type="dcterms:W3CDTF">2026-10-13T12:57:18Z</dcterms:modified>
</cp:coreProperties>
</file>