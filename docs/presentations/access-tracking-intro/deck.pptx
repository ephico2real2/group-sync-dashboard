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tool by the question it answers: who can reach what. Part 1 is for leadership and audit (why); part 2 is for the platform team (how).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is for leadership and audit, part 2 for the platform team. Stop after part 1 for a non-technical audience; for auditors, show slide 24 (the limits)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none of these raise an event or a failed reconcile. Each is an absence, and absences are what a person reading oc get does not notice. The 9 comes from the README's reference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loop on the problem slide: each failure, as the dashboard reported it on the lab. The first two are real bindings on the host cluster; the third comes from the lab’s mock clusters, whose fixture never syncs.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Self-service lowers the load on the platform team; quarterly review is a compliance requirement. The tool serves both from one read-only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properties to remember: read-only, every cluster, OpenShift login, evidence. Product name on screen: OCP Access Tracking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page an owner opens: is every cluster answering, and what needs attention. The quote is the page's own text for an empty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flow: sign in, open Home, read your own access. Direct grants are highlighted because they survive leaving a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type a team's mnemonic and show its groups and namespaces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shows 5 namespaces at risk, 7 people, 12 grants to migrate. The quote is the page's own operational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Dormant and unusable access are what quarterly reviews ask about. The names in the screenshot are the lab's test personas.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catalogue top to bottom; each report answers one question an access review asks. Formats: PDF/A-2b, HTML, CSV, 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artefact the quarterly review signs. Decisions are recorded on paper or in the PDF; the dashboard never changes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dashboard never revokes anything. A group grant is revoked in LDAP by the mnemonic owner and GroupSync carries it to OpenShift; a direct grant is deleted on the cluster; the dashboard shows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provenance table: who, when, from which snapshot, with which build. The 400 days is the chart's login retention.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schedule is the lab's own values. Delivery is a webhook CloudEvent per run; GroupSyncDashboardReportScheduleLate fires on a late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technical audience: tiers, architecture, one poll, reporting, credentials, operations, limits, rollout.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dashboard never decides access itself; it asks the cluster. A failed check always narrows, never widens.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door (oauth-proxy), one writer (the dashboard), a report pod that reads a snapshot and never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60 s each cluster is read and written in one transaction; bindings hourly; sync, membership and Kyverno history is pruned only after a successful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in, one pipeline. The report pod holds no cluster credential.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Polling only reads. The browser never receives a cluster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Operators get health from the dashboard itself and from Prometheus. Backups are local every 6 h plus an offsite copy.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limits before an auditor asks. Role rules are not expanded on purpose: an incomplete effective-permission list would show access as absent when it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to production. They map to the chart's clusters (Rejoin is a button on Cluster Configurations), rbacAuditors.groups, reporting.schedules, and a schedule's deliver: webhook.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questions. Everything in the deck is in these documents, each checked against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02B"/>
        </a:solidFill>
      </p:bgPr>
    </p:bg>
    <p:spTree>
      <p:nvGrpSpPr>
        <p:cNvPr id="1" name=""/>
        <p:cNvGrpSpPr/>
        <p:nvPr/>
      </p:nvGrpSpPr>
      <p:grpSpPr>
        <a:xfrm>
          <a:off x="0" y="0"/>
          <a:ext cx="0" cy="0"/>
          <a:chOff x="0" y="0"/>
          <a:chExt cx="0" cy="0"/>
        </a:xfrm>
      </p:grpSpPr>
      <p:sp>
        <p:nvSpPr>
          <p:cNvPr id="2" name="Text 0"/>
          <p:cNvSpPr/>
          <p:nvPr/>
        </p:nvSpPr>
        <p:spPr>
          <a:xfrm>
            <a:off x="812800" y="1912739"/>
            <a:ext cx="10883392" cy="274241"/>
          </a:xfrm>
          <a:prstGeom prst="rect">
            <a:avLst/>
          </a:prstGeom>
          <a:noFill/>
          <a:ln/>
        </p:spPr>
        <p:txBody>
          <a:bodyPr wrap="square" lIns="0" tIns="0" rIns="0" bIns="0" rtlCol="0" anchor="t">
            <a:normAutofit/>
          </a:bodyPr>
          <a:lstStyle/>
          <a:p>
            <a:pPr algn="l" indent="0" marL="0">
              <a:lnSpc>
                <a:spcPts val="1960"/>
              </a:lnSpc>
              <a:buNone/>
            </a:pPr>
            <a:r>
              <a:rPr lang="en-US" sz="1400" spc="200" kern="0" dirty="0">
                <a:solidFill>
                  <a:srgbClr val="3FCFC0"/>
                </a:solidFill>
                <a:latin typeface="Courier New" pitchFamily="49" charset="0"/>
                <a:ea typeface="Courier New" pitchFamily="49" charset="-122"/>
                <a:cs typeface="Courier New" pitchFamily="49" charset="-120"/>
              </a:rPr>
              <a:t>OCP ACCESS TRACKING DASHBOARD</a:t>
            </a:r>
            <a:endParaRPr lang="en-US" sz="1400" dirty="0"/>
          </a:p>
        </p:txBody>
      </p:sp>
      <p:sp>
        <p:nvSpPr>
          <p:cNvPr id="3" name="Text 1"/>
          <p:cNvSpPr/>
          <p:nvPr/>
        </p:nvSpPr>
        <p:spPr>
          <a:xfrm>
            <a:off x="812800" y="2415580"/>
            <a:ext cx="9810750" cy="1412081"/>
          </a:xfrm>
          <a:prstGeom prst="rect">
            <a:avLst/>
          </a:prstGeom>
          <a:noFill/>
          <a:ln/>
        </p:spPr>
        <p:txBody>
          <a:bodyPr wrap="square" lIns="0" tIns="0" rIns="0" bIns="0" rtlCol="0" anchor="t">
            <a:normAutofit/>
          </a:bodyPr>
          <a:lstStyle/>
          <a:p>
            <a:pPr algn="l" indent="0" marL="0">
              <a:lnSpc>
                <a:spcPts val="5460"/>
              </a:lnSpc>
              <a:buNone/>
            </a:pPr>
            <a:r>
              <a:rPr lang="en-US" sz="5200" b="1" dirty="0">
                <a:solidFill>
                  <a:srgbClr val="F5F6F8"/>
                </a:solidFill>
                <a:latin typeface="Arial" pitchFamily="34" charset="0"/>
                <a:ea typeface="Arial" pitchFamily="34" charset="-122"/>
                <a:cs typeface="Arial" pitchFamily="34" charset="-120"/>
              </a:rPr>
              <a:t>OpenShift Access Tracking &amp; Reporting</a:t>
            </a:r>
            <a:endParaRPr lang="en-US" sz="5200" dirty="0"/>
          </a:p>
        </p:txBody>
      </p:sp>
      <p:sp>
        <p:nvSpPr>
          <p:cNvPr id="4" name="Text 2"/>
          <p:cNvSpPr/>
          <p:nvPr/>
        </p:nvSpPr>
        <p:spPr>
          <a:xfrm>
            <a:off x="812800" y="4056261"/>
            <a:ext cx="9156700" cy="7112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BFC8D2"/>
                </a:solidFill>
                <a:latin typeface="Arial" pitchFamily="34" charset="0"/>
                <a:ea typeface="Arial" pitchFamily="34" charset="-122"/>
                <a:cs typeface="Arial" pitchFamily="34" charset="-120"/>
              </a:rPr>
              <a:t>Who can reach what, on every cluster: for the people who hold access, and for the quarterly review that must prove it.</a:t>
            </a:r>
            <a:endParaRPr lang="en-US" sz="2000" dirty="0"/>
          </a:p>
        </p:txBody>
      </p:sp>
      <p:sp>
        <p:nvSpPr>
          <p:cNvPr id="5"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5B3"/>
                </a:solidFill>
                <a:latin typeface="Arial" pitchFamily="34" charset="0"/>
                <a:ea typeface="Arial" pitchFamily="34" charset="-122"/>
                <a:cs typeface="Arial" pitchFamily="34" charset="-120"/>
              </a:rPr>
              <a:t>Application 5.8.0 · chart 0.70.12 · every screenshot is from the lab on 2026-10-08: the running dashboard, or a report it generated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E6F68"/>
                </a:solidFill>
                <a:latin typeface="Courier New" pitchFamily="49" charset="0"/>
                <a:ea typeface="Courier New" pitchFamily="49" charset="-122"/>
                <a:cs typeface="Courier New" pitchFamily="49" charset="-120"/>
              </a:rPr>
              <a:t>AGENDA</a:t>
            </a:r>
            <a:endParaRPr lang="en-US" sz="1200" dirty="0"/>
          </a:p>
        </p:txBody>
      </p:sp>
      <p:sp>
        <p:nvSpPr>
          <p:cNvPr id="3" name="Text 1"/>
          <p:cNvSpPr/>
          <p:nvPr/>
        </p:nvSpPr>
        <p:spPr>
          <a:xfrm>
            <a:off x="812800" y="12801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8212C"/>
                </a:solidFill>
                <a:latin typeface="Arial" pitchFamily="34" charset="0"/>
                <a:ea typeface="Arial" pitchFamily="34" charset="-122"/>
                <a:cs typeface="Arial" pitchFamily="34" charset="-120"/>
              </a:rPr>
              <a:t>Two parts</a:t>
            </a:r>
            <a:endParaRPr lang="en-US" sz="3000" dirty="0"/>
          </a:p>
        </p:txBody>
      </p:sp>
      <p:sp>
        <p:nvSpPr>
          <p:cNvPr id="4" name="Shape 2"/>
          <p:cNvSpPr/>
          <p:nvPr/>
        </p:nvSpPr>
        <p:spPr>
          <a:xfrm>
            <a:off x="812800" y="1953220"/>
            <a:ext cx="5156200" cy="2107902"/>
          </a:xfrm>
          <a:prstGeom prst="roundRect">
            <a:avLst>
              <a:gd name="adj" fmla="val 3615"/>
            </a:avLst>
          </a:prstGeom>
          <a:solidFill>
            <a:srgbClr val="FCFCFA"/>
          </a:solidFill>
          <a:ln/>
          <a:effectLst>
            <a:outerShdw sx="100000" sy="100000" kx="0" ky="0" algn="bl" rotWithShape="0" blurRad="6350" dist="0" dir="60000">
              <a:srgbClr val="D7DCE3">
                <a:alpha val="100000"/>
              </a:srgbClr>
            </a:outerShdw>
          </a:effectLst>
        </p:spPr>
      </p:sp>
      <p:sp>
        <p:nvSpPr>
          <p:cNvPr id="5" name="Shape 3"/>
          <p:cNvSpPr/>
          <p:nvPr/>
        </p:nvSpPr>
        <p:spPr>
          <a:xfrm>
            <a:off x="812800" y="1953220"/>
            <a:ext cx="5156200" cy="2107902"/>
          </a:xfrm>
          <a:custGeom>
            <a:avLst/>
            <a:gdLst/>
            <a:ahLst/>
            <a:cxnLst/>
            <a:rect l="l" t="t" r="r" b="b"/>
            <a:pathLst>
              <a:path w="5156200" h="2107902">
                <a:moveTo>
                  <a:pt x="0" y="76200"/>
                </a:moveTo>
                <a:lnTo>
                  <a:pt x="0" y="76200"/>
                </a:lnTo>
                <a:arcTo hR="76200" wR="76200" stAng="10800000" swAng="5400000"/>
                <a:lnTo>
                  <a:pt x="5080000" y="0"/>
                </a:lnTo>
                <a:arcTo hR="76200" wR="76200" stAng="16200000" swAng="5400000"/>
                <a:lnTo>
                  <a:pt x="5156200" y="76200"/>
                </a:lnTo>
                <a:lnTo>
                  <a:pt x="0" y="76200"/>
                </a:lnTo>
                <a:close/>
              </a:path>
            </a:pathLst>
          </a:custGeom>
          <a:solidFill>
            <a:srgbClr val="0E6F68"/>
          </a:solidFill>
          <a:ln/>
        </p:spPr>
      </p:sp>
      <p:sp>
        <p:nvSpPr>
          <p:cNvPr id="6" name="Text 4"/>
          <p:cNvSpPr/>
          <p:nvPr/>
        </p:nvSpPr>
        <p:spPr>
          <a:xfrm>
            <a:off x="1016000" y="2232620"/>
            <a:ext cx="489229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Part 1 · Why: leadership and audit</a:t>
            </a:r>
            <a:endParaRPr lang="en-US" sz="1600" dirty="0"/>
          </a:p>
        </p:txBody>
      </p:sp>
      <p:sp>
        <p:nvSpPr>
          <p:cNvPr id="7" name="Text 5"/>
          <p:cNvSpPr/>
          <p:nvPr/>
        </p:nvSpPr>
        <p:spPr>
          <a:xfrm>
            <a:off x="1016000" y="2590701"/>
            <a:ext cx="74930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E6F68"/>
                </a:solidFill>
                <a:latin typeface="Courier New" pitchFamily="49" charset="0"/>
                <a:ea typeface="Courier New" pitchFamily="49" charset="-122"/>
                <a:cs typeface="Courier New" pitchFamily="49" charset="-120"/>
              </a:rPr>
              <a:t>3–4</a:t>
            </a:r>
            <a:endParaRPr lang="en-US" sz="1300" dirty="0"/>
          </a:p>
        </p:txBody>
      </p:sp>
      <p:sp>
        <p:nvSpPr>
          <p:cNvPr id="8" name="Text 6"/>
          <p:cNvSpPr/>
          <p:nvPr/>
        </p:nvSpPr>
        <p:spPr>
          <a:xfrm>
            <a:off x="1866900" y="2578001"/>
            <a:ext cx="2217896" cy="25648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18212C"/>
                </a:solidFill>
                <a:latin typeface="Arial" pitchFamily="34" charset="0"/>
                <a:ea typeface="Arial" pitchFamily="34" charset="-122"/>
                <a:cs typeface="Arial" pitchFamily="34" charset="-120"/>
              </a:rPr>
              <a:t>The problem, and proof</a:t>
            </a:r>
            <a:endParaRPr lang="en-US" sz="1400" dirty="0"/>
          </a:p>
        </p:txBody>
      </p:sp>
      <p:sp>
        <p:nvSpPr>
          <p:cNvPr id="9" name="Text 7"/>
          <p:cNvSpPr/>
          <p:nvPr/>
        </p:nvSpPr>
        <p:spPr>
          <a:xfrm>
            <a:off x="1016000" y="2936081"/>
            <a:ext cx="74930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E6F68"/>
                </a:solidFill>
                <a:latin typeface="Courier New" pitchFamily="49" charset="0"/>
                <a:ea typeface="Courier New" pitchFamily="49" charset="-122"/>
                <a:cs typeface="Courier New" pitchFamily="49" charset="-120"/>
              </a:rPr>
              <a:t>5–7</a:t>
            </a:r>
            <a:endParaRPr lang="en-US" sz="1300" dirty="0"/>
          </a:p>
        </p:txBody>
      </p:sp>
      <p:sp>
        <p:nvSpPr>
          <p:cNvPr id="10" name="Text 8"/>
          <p:cNvSpPr/>
          <p:nvPr/>
        </p:nvSpPr>
        <p:spPr>
          <a:xfrm>
            <a:off x="1866900" y="2923381"/>
            <a:ext cx="2265640" cy="25648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18212C"/>
                </a:solidFill>
                <a:latin typeface="Arial" pitchFamily="34" charset="0"/>
                <a:ea typeface="Arial" pitchFamily="34" charset="-122"/>
                <a:cs typeface="Arial" pitchFamily="34" charset="-120"/>
              </a:rPr>
              <a:t>Two needs, and the tool</a:t>
            </a:r>
            <a:endParaRPr lang="en-US" sz="1400" dirty="0"/>
          </a:p>
        </p:txBody>
      </p:sp>
      <p:sp>
        <p:nvSpPr>
          <p:cNvPr id="11" name="Text 9"/>
          <p:cNvSpPr/>
          <p:nvPr/>
        </p:nvSpPr>
        <p:spPr>
          <a:xfrm>
            <a:off x="1016000" y="3281462"/>
            <a:ext cx="74930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E6F68"/>
                </a:solidFill>
                <a:latin typeface="Courier New" pitchFamily="49" charset="0"/>
                <a:ea typeface="Courier New" pitchFamily="49" charset="-122"/>
                <a:cs typeface="Courier New" pitchFamily="49" charset="-120"/>
              </a:rPr>
              <a:t>8–11</a:t>
            </a:r>
            <a:endParaRPr lang="en-US" sz="1300" dirty="0"/>
          </a:p>
        </p:txBody>
      </p:sp>
      <p:sp>
        <p:nvSpPr>
          <p:cNvPr id="12" name="Text 10"/>
          <p:cNvSpPr/>
          <p:nvPr/>
        </p:nvSpPr>
        <p:spPr>
          <a:xfrm>
            <a:off x="1866900" y="3268762"/>
            <a:ext cx="3000375" cy="25648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18212C"/>
                </a:solidFill>
                <a:latin typeface="Arial" pitchFamily="34" charset="0"/>
                <a:ea typeface="Arial" pitchFamily="34" charset="-122"/>
                <a:cs typeface="Arial" pitchFamily="34" charset="-120"/>
              </a:rPr>
              <a:t>Self-service and the audit views</a:t>
            </a:r>
            <a:endParaRPr lang="en-US" sz="1400" dirty="0"/>
          </a:p>
        </p:txBody>
      </p:sp>
      <p:sp>
        <p:nvSpPr>
          <p:cNvPr id="13" name="Text 11"/>
          <p:cNvSpPr/>
          <p:nvPr/>
        </p:nvSpPr>
        <p:spPr>
          <a:xfrm>
            <a:off x="1016000" y="3626842"/>
            <a:ext cx="74930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E6F68"/>
                </a:solidFill>
                <a:latin typeface="Courier New" pitchFamily="49" charset="0"/>
                <a:ea typeface="Courier New" pitchFamily="49" charset="-122"/>
                <a:cs typeface="Courier New" pitchFamily="49" charset="-120"/>
              </a:rPr>
              <a:t>12–16</a:t>
            </a:r>
            <a:endParaRPr lang="en-US" sz="1300" dirty="0"/>
          </a:p>
        </p:txBody>
      </p:sp>
      <p:sp>
        <p:nvSpPr>
          <p:cNvPr id="14" name="Text 12"/>
          <p:cNvSpPr/>
          <p:nvPr/>
        </p:nvSpPr>
        <p:spPr>
          <a:xfrm>
            <a:off x="1866900" y="3614142"/>
            <a:ext cx="1790819" cy="25648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18212C"/>
                </a:solidFill>
                <a:latin typeface="Arial" pitchFamily="34" charset="0"/>
                <a:ea typeface="Arial" pitchFamily="34" charset="-122"/>
                <a:cs typeface="Arial" pitchFamily="34" charset="-120"/>
              </a:rPr>
              <a:t>Quarterly evidence</a:t>
            </a:r>
            <a:endParaRPr lang="en-US" sz="1400" dirty="0"/>
          </a:p>
        </p:txBody>
      </p:sp>
      <p:sp>
        <p:nvSpPr>
          <p:cNvPr id="15" name="Shape 13"/>
          <p:cNvSpPr/>
          <p:nvPr/>
        </p:nvSpPr>
        <p:spPr>
          <a:xfrm>
            <a:off x="6223000" y="1953220"/>
            <a:ext cx="5156200" cy="2107902"/>
          </a:xfrm>
          <a:prstGeom prst="roundRect">
            <a:avLst>
              <a:gd name="adj" fmla="val 3615"/>
            </a:avLst>
          </a:prstGeom>
          <a:solidFill>
            <a:srgbClr val="FCFCFA"/>
          </a:solidFill>
          <a:ln/>
          <a:effectLst>
            <a:outerShdw sx="100000" sy="100000" kx="0" ky="0" algn="bl" rotWithShape="0" blurRad="6350" dist="0" dir="60000">
              <a:srgbClr val="D7DCE3">
                <a:alpha val="100000"/>
              </a:srgbClr>
            </a:outerShdw>
          </a:effectLst>
        </p:spPr>
      </p:sp>
      <p:sp>
        <p:nvSpPr>
          <p:cNvPr id="16" name="Shape 14"/>
          <p:cNvSpPr/>
          <p:nvPr/>
        </p:nvSpPr>
        <p:spPr>
          <a:xfrm>
            <a:off x="6223000" y="1953220"/>
            <a:ext cx="5156200" cy="2107902"/>
          </a:xfrm>
          <a:custGeom>
            <a:avLst/>
            <a:gdLst/>
            <a:ahLst/>
            <a:cxnLst/>
            <a:rect l="l" t="t" r="r" b="b"/>
            <a:pathLst>
              <a:path w="5156200" h="2107902">
                <a:moveTo>
                  <a:pt x="0" y="76200"/>
                </a:moveTo>
                <a:lnTo>
                  <a:pt x="0" y="76200"/>
                </a:lnTo>
                <a:arcTo hR="76200" wR="76200" stAng="10800000" swAng="5400000"/>
                <a:lnTo>
                  <a:pt x="5080000" y="0"/>
                </a:lnTo>
                <a:arcTo hR="76200" wR="76200" stAng="16200000" swAng="5400000"/>
                <a:lnTo>
                  <a:pt x="5156200" y="76200"/>
                </a:lnTo>
                <a:lnTo>
                  <a:pt x="0" y="76200"/>
                </a:lnTo>
                <a:close/>
              </a:path>
            </a:pathLst>
          </a:custGeom>
          <a:solidFill>
            <a:srgbClr val="0E6F68"/>
          </a:solidFill>
          <a:ln/>
        </p:spPr>
      </p:sp>
      <p:sp>
        <p:nvSpPr>
          <p:cNvPr id="17" name="Text 15"/>
          <p:cNvSpPr/>
          <p:nvPr/>
        </p:nvSpPr>
        <p:spPr>
          <a:xfrm>
            <a:off x="6426200" y="2232620"/>
            <a:ext cx="489229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Part 2 · How: the platform team</a:t>
            </a:r>
            <a:endParaRPr lang="en-US" sz="1600" dirty="0"/>
          </a:p>
        </p:txBody>
      </p:sp>
      <p:sp>
        <p:nvSpPr>
          <p:cNvPr id="18" name="Text 16"/>
          <p:cNvSpPr/>
          <p:nvPr/>
        </p:nvSpPr>
        <p:spPr>
          <a:xfrm>
            <a:off x="6426200" y="2590701"/>
            <a:ext cx="74930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E6F68"/>
                </a:solidFill>
                <a:latin typeface="Courier New" pitchFamily="49" charset="0"/>
                <a:ea typeface="Courier New" pitchFamily="49" charset="-122"/>
                <a:cs typeface="Courier New" pitchFamily="49" charset="-120"/>
              </a:rPr>
              <a:t>18</a:t>
            </a:r>
            <a:endParaRPr lang="en-US" sz="1300" dirty="0"/>
          </a:p>
        </p:txBody>
      </p:sp>
      <p:sp>
        <p:nvSpPr>
          <p:cNvPr id="19" name="Text 17"/>
          <p:cNvSpPr/>
          <p:nvPr/>
        </p:nvSpPr>
        <p:spPr>
          <a:xfrm>
            <a:off x="7277100" y="2578001"/>
            <a:ext cx="1458635" cy="25648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18212C"/>
                </a:solidFill>
                <a:latin typeface="Arial" pitchFamily="34" charset="0"/>
                <a:ea typeface="Arial" pitchFamily="34" charset="-122"/>
                <a:cs typeface="Arial" pitchFamily="34" charset="-120"/>
              </a:rPr>
              <a:t>Who sees what</a:t>
            </a:r>
            <a:endParaRPr lang="en-US" sz="1400" dirty="0"/>
          </a:p>
        </p:txBody>
      </p:sp>
      <p:sp>
        <p:nvSpPr>
          <p:cNvPr id="20" name="Text 18"/>
          <p:cNvSpPr/>
          <p:nvPr/>
        </p:nvSpPr>
        <p:spPr>
          <a:xfrm>
            <a:off x="6426200" y="2936081"/>
            <a:ext cx="74930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E6F68"/>
                </a:solidFill>
                <a:latin typeface="Courier New" pitchFamily="49" charset="0"/>
                <a:ea typeface="Courier New" pitchFamily="49" charset="-122"/>
                <a:cs typeface="Courier New" pitchFamily="49" charset="-120"/>
              </a:rPr>
              <a:t>19–22</a:t>
            </a:r>
            <a:endParaRPr lang="en-US" sz="1300" dirty="0"/>
          </a:p>
        </p:txBody>
      </p:sp>
      <p:sp>
        <p:nvSpPr>
          <p:cNvPr id="21" name="Text 19"/>
          <p:cNvSpPr/>
          <p:nvPr/>
        </p:nvSpPr>
        <p:spPr>
          <a:xfrm>
            <a:off x="7277100" y="2923381"/>
            <a:ext cx="1138476" cy="25648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18212C"/>
                </a:solidFill>
                <a:latin typeface="Arial" pitchFamily="34" charset="0"/>
                <a:ea typeface="Arial" pitchFamily="34" charset="-122"/>
                <a:cs typeface="Arial" pitchFamily="34" charset="-120"/>
              </a:rPr>
              <a:t>Architecture</a:t>
            </a:r>
            <a:endParaRPr lang="en-US" sz="1400" dirty="0"/>
          </a:p>
        </p:txBody>
      </p:sp>
      <p:sp>
        <p:nvSpPr>
          <p:cNvPr id="22" name="Text 20"/>
          <p:cNvSpPr/>
          <p:nvPr/>
        </p:nvSpPr>
        <p:spPr>
          <a:xfrm>
            <a:off x="6426200" y="3281462"/>
            <a:ext cx="74930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E6F68"/>
                </a:solidFill>
                <a:latin typeface="Courier New" pitchFamily="49" charset="0"/>
                <a:ea typeface="Courier New" pitchFamily="49" charset="-122"/>
                <a:cs typeface="Courier New" pitchFamily="49" charset="-120"/>
              </a:rPr>
              <a:t>23–24</a:t>
            </a:r>
            <a:endParaRPr lang="en-US" sz="1300" dirty="0"/>
          </a:p>
        </p:txBody>
      </p:sp>
      <p:sp>
        <p:nvSpPr>
          <p:cNvPr id="23" name="Text 21"/>
          <p:cNvSpPr/>
          <p:nvPr/>
        </p:nvSpPr>
        <p:spPr>
          <a:xfrm>
            <a:off x="7277100" y="3268762"/>
            <a:ext cx="2004179" cy="25648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18212C"/>
                </a:solidFill>
                <a:latin typeface="Arial" pitchFamily="34" charset="0"/>
                <a:ea typeface="Arial" pitchFamily="34" charset="-122"/>
                <a:cs typeface="Arial" pitchFamily="34" charset="-120"/>
              </a:rPr>
              <a:t>Operations and limits</a:t>
            </a:r>
            <a:endParaRPr lang="en-US" sz="1400" dirty="0"/>
          </a:p>
        </p:txBody>
      </p:sp>
      <p:sp>
        <p:nvSpPr>
          <p:cNvPr id="24" name="Text 22"/>
          <p:cNvSpPr/>
          <p:nvPr/>
        </p:nvSpPr>
        <p:spPr>
          <a:xfrm>
            <a:off x="6426200" y="3626842"/>
            <a:ext cx="74930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E6F68"/>
                </a:solidFill>
                <a:latin typeface="Courier New" pitchFamily="49" charset="0"/>
                <a:ea typeface="Courier New" pitchFamily="49" charset="-122"/>
                <a:cs typeface="Courier New" pitchFamily="49" charset="-120"/>
              </a:rPr>
              <a:t>25–26</a:t>
            </a:r>
            <a:endParaRPr lang="en-US" sz="1300" dirty="0"/>
          </a:p>
        </p:txBody>
      </p:sp>
      <p:sp>
        <p:nvSpPr>
          <p:cNvPr id="25" name="Text 23"/>
          <p:cNvSpPr/>
          <p:nvPr/>
        </p:nvSpPr>
        <p:spPr>
          <a:xfrm>
            <a:off x="7277100" y="3614142"/>
            <a:ext cx="1174194" cy="25648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18212C"/>
                </a:solidFill>
                <a:latin typeface="Arial" pitchFamily="34" charset="0"/>
                <a:ea typeface="Arial" pitchFamily="34" charset="-122"/>
                <a:cs typeface="Arial" pitchFamily="34" charset="-120"/>
              </a:rPr>
              <a:t>Rolling it out</a:t>
            </a:r>
            <a:endParaRPr lang="en-US" sz="1400" dirty="0"/>
          </a:p>
        </p:txBody>
      </p:sp>
      <p:sp>
        <p:nvSpPr>
          <p:cNvPr id="26" name="Text 24"/>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OCP Access Tracking Dashboard · application 5.8.0</a:t>
            </a:r>
            <a:endParaRPr lang="en-US" sz="1200" dirty="0"/>
          </a:p>
        </p:txBody>
      </p:sp>
      <p:sp>
        <p:nvSpPr>
          <p:cNvPr id="27" name="Text 25"/>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2 / 26</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E6F68"/>
                </a:solidFill>
                <a:latin typeface="Courier New" pitchFamily="49" charset="0"/>
                <a:ea typeface="Courier New" pitchFamily="49" charset="-122"/>
                <a:cs typeface="Courier New" pitchFamily="49" charset="-120"/>
              </a:rPr>
              <a:t>THE PROBLEM</a:t>
            </a:r>
            <a:endParaRPr lang="en-US" sz="1200" dirty="0"/>
          </a:p>
        </p:txBody>
      </p:sp>
      <p:sp>
        <p:nvSpPr>
          <p:cNvPr id="3" name="Text 1"/>
          <p:cNvSpPr/>
          <p:nvPr/>
        </p:nvSpPr>
        <p:spPr>
          <a:xfrm>
            <a:off x="812800" y="12801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8212C"/>
                </a:solidFill>
                <a:latin typeface="Arial" pitchFamily="34" charset="0"/>
                <a:ea typeface="Arial" pitchFamily="34" charset="-122"/>
                <a:cs typeface="Arial" pitchFamily="34" charset="-120"/>
              </a:rPr>
              <a:t>Access on OpenShift fails silently</a:t>
            </a:r>
            <a:endParaRPr lang="en-US" sz="3000" dirty="0"/>
          </a:p>
        </p:txBody>
      </p:sp>
      <p:sp>
        <p:nvSpPr>
          <p:cNvPr id="4" name="Shape 2"/>
          <p:cNvSpPr/>
          <p:nvPr/>
        </p:nvSpPr>
        <p:spPr>
          <a:xfrm>
            <a:off x="812800" y="1953220"/>
            <a:ext cx="4064000" cy="2919016"/>
          </a:xfrm>
          <a:prstGeom prst="roundRect">
            <a:avLst>
              <a:gd name="adj" fmla="val 3481"/>
            </a:avLst>
          </a:prstGeom>
          <a:solidFill>
            <a:srgbClr val="14202B"/>
          </a:solidFill>
          <a:ln/>
        </p:spPr>
      </p:sp>
      <p:sp>
        <p:nvSpPr>
          <p:cNvPr id="5" name="Shape 3"/>
          <p:cNvSpPr/>
          <p:nvPr/>
        </p:nvSpPr>
        <p:spPr>
          <a:xfrm>
            <a:off x="812800" y="1953220"/>
            <a:ext cx="4064000" cy="2919016"/>
          </a:xfrm>
          <a:custGeom>
            <a:avLst/>
            <a:gdLst/>
            <a:ahLst/>
            <a:cxnLst/>
            <a:rect l="l" t="t" r="r" b="b"/>
            <a:pathLst>
              <a:path w="4064000" h="2919016">
                <a:moveTo>
                  <a:pt x="0" y="101600"/>
                </a:moveTo>
                <a:lnTo>
                  <a:pt x="0" y="101600"/>
                </a:lnTo>
                <a:arcTo hR="101600" wR="101600" stAng="10800000" swAng="5400000"/>
                <a:lnTo>
                  <a:pt x="3962400" y="0"/>
                </a:lnTo>
                <a:arcTo hR="101600" wR="101600" stAng="16200000" swAng="5400000"/>
                <a:lnTo>
                  <a:pt x="4064000" y="101600"/>
                </a:lnTo>
                <a:arcTo hR="25400" wR="101600" stAng="0" swAng="-5400000"/>
                <a:lnTo>
                  <a:pt x="101600" y="76200"/>
                </a:lnTo>
                <a:arcTo hR="25400" wR="101600" stAng="16200000" swAng="-5400000"/>
                <a:close/>
              </a:path>
            </a:pathLst>
          </a:custGeom>
          <a:solidFill>
            <a:srgbClr val="B3261E"/>
          </a:solidFill>
          <a:ln/>
        </p:spPr>
      </p:sp>
      <p:sp>
        <p:nvSpPr>
          <p:cNvPr id="6" name="Text 4"/>
          <p:cNvSpPr/>
          <p:nvPr/>
        </p:nvSpPr>
        <p:spPr>
          <a:xfrm>
            <a:off x="1117600" y="2334220"/>
            <a:ext cx="3558032"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3FCFC0"/>
                </a:solidFill>
                <a:latin typeface="Arial" pitchFamily="34" charset="0"/>
                <a:ea typeface="Arial" pitchFamily="34" charset="-122"/>
                <a:cs typeface="Arial" pitchFamily="34" charset="-120"/>
              </a:rPr>
              <a:t>9</a:t>
            </a:r>
            <a:endParaRPr lang="en-US" sz="6000" dirty="0"/>
          </a:p>
        </p:txBody>
      </p:sp>
      <p:sp>
        <p:nvSpPr>
          <p:cNvPr id="7" name="Text 5"/>
          <p:cNvSpPr/>
          <p:nvPr/>
        </p:nvSpPr>
        <p:spPr>
          <a:xfrm>
            <a:off x="1117600" y="3223220"/>
            <a:ext cx="3558032" cy="79692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E5E9EF"/>
                </a:solidFill>
                <a:latin typeface="Arial" pitchFamily="34" charset="0"/>
                <a:ea typeface="Arial" pitchFamily="34" charset="-122"/>
                <a:cs typeface="Arial" pitchFamily="34" charset="-120"/>
              </a:rPr>
              <a:t>RoleBindings granting </a:t>
            </a:r>
            <a:r>
              <a:rPr lang="en-US" sz="1500" b="1" dirty="0">
                <a:solidFill>
                  <a:srgbClr val="E5E9EF"/>
                </a:solidFill>
                <a:latin typeface="Arial" pitchFamily="34" charset="0"/>
                <a:ea typeface="Arial" pitchFamily="34" charset="-122"/>
                <a:cs typeface="Arial" pitchFamily="34" charset="-120"/>
              </a:rPr>
              <a:t>admin</a:t>
            </a:r>
            <a:r>
              <a:rPr lang="en-US" sz="1500" dirty="0">
                <a:solidFill>
                  <a:srgbClr val="E5E9EF"/>
                </a:solidFill>
                <a:latin typeface="Arial" pitchFamily="34" charset="0"/>
                <a:ea typeface="Arial" pitchFamily="34" charset="-122"/>
                <a:cs typeface="Arial" pitchFamily="34" charset="-120"/>
              </a:rPr>
              <a:t>, </a:t>
            </a:r>
            <a:r>
              <a:rPr lang="en-US" sz="1500" b="1" dirty="0">
                <a:solidFill>
                  <a:srgbClr val="E5E9EF"/>
                </a:solidFill>
                <a:latin typeface="Arial" pitchFamily="34" charset="0"/>
                <a:ea typeface="Arial" pitchFamily="34" charset="-122"/>
                <a:cs typeface="Arial" pitchFamily="34" charset="-120"/>
              </a:rPr>
              <a:t>view</a:t>
            </a:r>
            <a:r>
              <a:rPr lang="en-US" sz="1500" dirty="0">
                <a:solidFill>
                  <a:srgbClr val="E5E9EF"/>
                </a:solidFill>
                <a:latin typeface="Arial" pitchFamily="34" charset="0"/>
                <a:ea typeface="Arial" pitchFamily="34" charset="-122"/>
                <a:cs typeface="Arial" pitchFamily="34" charset="-120"/>
              </a:rPr>
              <a:t> and </a:t>
            </a:r>
            <a:r>
              <a:rPr lang="en-US" sz="1500" b="1" dirty="0">
                <a:solidFill>
                  <a:srgbClr val="E5E9EF"/>
                </a:solidFill>
                <a:latin typeface="Arial" pitchFamily="34" charset="0"/>
                <a:ea typeface="Arial" pitchFamily="34" charset="-122"/>
                <a:cs typeface="Arial" pitchFamily="34" charset="-120"/>
              </a:rPr>
              <a:t>edit</a:t>
            </a:r>
            <a:r>
              <a:rPr lang="en-US" sz="1500" dirty="0">
                <a:solidFill>
                  <a:srgbClr val="E5E9EF"/>
                </a:solidFill>
                <a:latin typeface="Arial" pitchFamily="34" charset="0"/>
                <a:ea typeface="Arial" pitchFamily="34" charset="-122"/>
                <a:cs typeface="Arial" pitchFamily="34" charset="-120"/>
              </a:rPr>
              <a:t> to groups that have never existed, found on the reference cluster.</a:t>
            </a:r>
            <a:endParaRPr lang="en-US" sz="1500" dirty="0"/>
          </a:p>
        </p:txBody>
      </p:sp>
      <p:sp>
        <p:nvSpPr>
          <p:cNvPr id="8" name="Text 6"/>
          <p:cNvSpPr/>
          <p:nvPr/>
        </p:nvSpPr>
        <p:spPr>
          <a:xfrm>
            <a:off x="1117600" y="4121745"/>
            <a:ext cx="355803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BFC8D2"/>
                </a:solidFill>
                <a:latin typeface="Arial" pitchFamily="34" charset="0"/>
                <a:ea typeface="Arial" pitchFamily="34" charset="-122"/>
                <a:cs typeface="Arial" pitchFamily="34" charset="-120"/>
              </a:rPr>
              <a:t>oc get rolebinding reports every one of them as healthy.</a:t>
            </a:r>
            <a:endParaRPr lang="en-US" sz="1300" dirty="0"/>
          </a:p>
        </p:txBody>
      </p:sp>
      <p:sp>
        <p:nvSpPr>
          <p:cNvPr id="9" name="Shape 7"/>
          <p:cNvSpPr/>
          <p:nvPr/>
        </p:nvSpPr>
        <p:spPr>
          <a:xfrm>
            <a:off x="5232400" y="1953220"/>
            <a:ext cx="6146800" cy="1025426"/>
          </a:xfrm>
          <a:prstGeom prst="roundRect">
            <a:avLst>
              <a:gd name="adj" fmla="val 7431"/>
            </a:avLst>
          </a:prstGeom>
          <a:solidFill>
            <a:srgbClr val="FCFCFA"/>
          </a:solidFill>
          <a:ln/>
          <a:effectLst>
            <a:outerShdw sx="100000" sy="100000" kx="0" ky="0" algn="bl" rotWithShape="0" blurRad="6350" dist="0" dir="60000">
              <a:srgbClr val="D7DCE3">
                <a:alpha val="100000"/>
              </a:srgbClr>
            </a:outerShdw>
          </a:effectLst>
        </p:spPr>
      </p:sp>
      <p:sp>
        <p:nvSpPr>
          <p:cNvPr id="10" name="Shape 8"/>
          <p:cNvSpPr/>
          <p:nvPr/>
        </p:nvSpPr>
        <p:spPr>
          <a:xfrm>
            <a:off x="5232400" y="1953220"/>
            <a:ext cx="6146800" cy="1025426"/>
          </a:xfrm>
          <a:custGeom>
            <a:avLst/>
            <a:gdLst/>
            <a:ahLst/>
            <a:cxnLst/>
            <a:rect l="l" t="t" r="r" b="b"/>
            <a:pathLst>
              <a:path w="6146800" h="1025426">
                <a:moveTo>
                  <a:pt x="0" y="76200"/>
                </a:moveTo>
                <a:lnTo>
                  <a:pt x="0" y="76200"/>
                </a:lnTo>
                <a:arcTo hR="76200" wR="76200" stAng="10800000" swAng="5400000"/>
                <a:lnTo>
                  <a:pt x="6070600" y="0"/>
                </a:lnTo>
                <a:arcTo hR="76200" wR="76200" stAng="16200000" swAng="5400000"/>
                <a:lnTo>
                  <a:pt x="6146800" y="76200"/>
                </a:lnTo>
                <a:lnTo>
                  <a:pt x="0" y="76200"/>
                </a:lnTo>
                <a:close/>
              </a:path>
            </a:pathLst>
          </a:custGeom>
          <a:solidFill>
            <a:srgbClr val="B3261E"/>
          </a:solidFill>
          <a:ln/>
        </p:spPr>
      </p:sp>
      <p:sp>
        <p:nvSpPr>
          <p:cNvPr id="11" name="Text 9"/>
          <p:cNvSpPr/>
          <p:nvPr/>
        </p:nvSpPr>
        <p:spPr>
          <a:xfrm>
            <a:off x="5435600" y="2232620"/>
            <a:ext cx="591261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A binding names a group that does not exist</a:t>
            </a:r>
            <a:endParaRPr lang="en-US" sz="1600" dirty="0"/>
          </a:p>
        </p:txBody>
      </p:sp>
      <p:sp>
        <p:nvSpPr>
          <p:cNvPr id="12" name="Text 10"/>
          <p:cNvSpPr/>
          <p:nvPr/>
        </p:nvSpPr>
        <p:spPr>
          <a:xfrm>
            <a:off x="5435600" y="2552601"/>
            <a:ext cx="5912612"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It looks healthy and grants nobody.</a:t>
            </a:r>
            <a:endParaRPr lang="en-US" sz="1300" dirty="0"/>
          </a:p>
        </p:txBody>
      </p:sp>
      <p:sp>
        <p:nvSpPr>
          <p:cNvPr id="13" name="Shape 11"/>
          <p:cNvSpPr/>
          <p:nvPr/>
        </p:nvSpPr>
        <p:spPr>
          <a:xfrm>
            <a:off x="5232400" y="3105646"/>
            <a:ext cx="6146800" cy="1025426"/>
          </a:xfrm>
          <a:prstGeom prst="roundRect">
            <a:avLst>
              <a:gd name="adj" fmla="val 7431"/>
            </a:avLst>
          </a:prstGeom>
          <a:solidFill>
            <a:srgbClr val="FCFCFA"/>
          </a:solidFill>
          <a:ln/>
          <a:effectLst>
            <a:outerShdw sx="100000" sy="100000" kx="0" ky="0" algn="bl" rotWithShape="0" blurRad="6350" dist="0" dir="60000">
              <a:srgbClr val="D7DCE3">
                <a:alpha val="100000"/>
              </a:srgbClr>
            </a:outerShdw>
          </a:effectLst>
        </p:spPr>
      </p:sp>
      <p:sp>
        <p:nvSpPr>
          <p:cNvPr id="14" name="Shape 12"/>
          <p:cNvSpPr/>
          <p:nvPr/>
        </p:nvSpPr>
        <p:spPr>
          <a:xfrm>
            <a:off x="5232400" y="3105646"/>
            <a:ext cx="6146800" cy="1025426"/>
          </a:xfrm>
          <a:custGeom>
            <a:avLst/>
            <a:gdLst/>
            <a:ahLst/>
            <a:cxnLst/>
            <a:rect l="l" t="t" r="r" b="b"/>
            <a:pathLst>
              <a:path w="6146800" h="1025426">
                <a:moveTo>
                  <a:pt x="0" y="76200"/>
                </a:moveTo>
                <a:lnTo>
                  <a:pt x="0" y="76200"/>
                </a:lnTo>
                <a:arcTo hR="76200" wR="76200" stAng="10800000" swAng="5400000"/>
                <a:lnTo>
                  <a:pt x="6070600" y="0"/>
                </a:lnTo>
                <a:arcTo hR="76200" wR="76200" stAng="16200000" swAng="5400000"/>
                <a:lnTo>
                  <a:pt x="6146800" y="76200"/>
                </a:lnTo>
                <a:lnTo>
                  <a:pt x="0" y="76200"/>
                </a:lnTo>
                <a:close/>
              </a:path>
            </a:pathLst>
          </a:custGeom>
          <a:solidFill>
            <a:srgbClr val="B3261E"/>
          </a:solidFill>
          <a:ln/>
        </p:spPr>
      </p:sp>
      <p:sp>
        <p:nvSpPr>
          <p:cNvPr id="15" name="Text 13"/>
          <p:cNvSpPr/>
          <p:nvPr/>
        </p:nvSpPr>
        <p:spPr>
          <a:xfrm>
            <a:off x="5435600" y="3385046"/>
            <a:ext cx="591261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A binding names a person, not a group</a:t>
            </a:r>
            <a:endParaRPr lang="en-US" sz="1600" dirty="0"/>
          </a:p>
        </p:txBody>
      </p:sp>
      <p:sp>
        <p:nvSpPr>
          <p:cNvPr id="16" name="Text 14"/>
          <p:cNvSpPr/>
          <p:nvPr/>
        </p:nvSpPr>
        <p:spPr>
          <a:xfrm>
            <a:off x="5435600" y="3705027"/>
            <a:ext cx="5912612"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Removing them from the directory revokes nothing: it survives offboarding.</a:t>
            </a:r>
            <a:endParaRPr lang="en-US" sz="1300" dirty="0"/>
          </a:p>
        </p:txBody>
      </p:sp>
      <p:sp>
        <p:nvSpPr>
          <p:cNvPr id="17" name="Shape 15"/>
          <p:cNvSpPr/>
          <p:nvPr/>
        </p:nvSpPr>
        <p:spPr>
          <a:xfrm>
            <a:off x="5232400" y="4258072"/>
            <a:ext cx="6146800" cy="1025426"/>
          </a:xfrm>
          <a:prstGeom prst="roundRect">
            <a:avLst>
              <a:gd name="adj" fmla="val 7431"/>
            </a:avLst>
          </a:prstGeom>
          <a:solidFill>
            <a:srgbClr val="FCFCFA"/>
          </a:solidFill>
          <a:ln/>
          <a:effectLst>
            <a:outerShdw sx="100000" sy="100000" kx="0" ky="0" algn="bl" rotWithShape="0" blurRad="6350" dist="0" dir="60000">
              <a:srgbClr val="D7DCE3">
                <a:alpha val="100000"/>
              </a:srgbClr>
            </a:outerShdw>
          </a:effectLst>
        </p:spPr>
      </p:sp>
      <p:sp>
        <p:nvSpPr>
          <p:cNvPr id="18" name="Shape 16"/>
          <p:cNvSpPr/>
          <p:nvPr/>
        </p:nvSpPr>
        <p:spPr>
          <a:xfrm>
            <a:off x="5232400" y="4258072"/>
            <a:ext cx="6146800" cy="1025426"/>
          </a:xfrm>
          <a:custGeom>
            <a:avLst/>
            <a:gdLst/>
            <a:ahLst/>
            <a:cxnLst/>
            <a:rect l="l" t="t" r="r" b="b"/>
            <a:pathLst>
              <a:path w="6146800" h="1025426">
                <a:moveTo>
                  <a:pt x="0" y="76200"/>
                </a:moveTo>
                <a:lnTo>
                  <a:pt x="0" y="76200"/>
                </a:lnTo>
                <a:arcTo hR="76200" wR="76200" stAng="10800000" swAng="5400000"/>
                <a:lnTo>
                  <a:pt x="6070600" y="0"/>
                </a:lnTo>
                <a:arcTo hR="76200" wR="76200" stAng="16200000" swAng="5400000"/>
                <a:lnTo>
                  <a:pt x="6146800" y="76200"/>
                </a:lnTo>
                <a:lnTo>
                  <a:pt x="0" y="76200"/>
                </a:lnTo>
                <a:close/>
              </a:path>
            </a:pathLst>
          </a:custGeom>
          <a:solidFill>
            <a:srgbClr val="B3261E"/>
          </a:solidFill>
          <a:ln/>
        </p:spPr>
      </p:sp>
      <p:sp>
        <p:nvSpPr>
          <p:cNvPr id="19" name="Text 17"/>
          <p:cNvSpPr/>
          <p:nvPr/>
        </p:nvSpPr>
        <p:spPr>
          <a:xfrm>
            <a:off x="5435600" y="4537472"/>
            <a:ext cx="591261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A group silently stopped being refreshed</a:t>
            </a:r>
            <a:endParaRPr lang="en-US" sz="1600" dirty="0"/>
          </a:p>
        </p:txBody>
      </p:sp>
      <p:sp>
        <p:nvSpPr>
          <p:cNvPr id="20" name="Text 18"/>
          <p:cNvSpPr/>
          <p:nvPr/>
        </p:nvSpPr>
        <p:spPr>
          <a:xfrm>
            <a:off x="5435600" y="4857452"/>
            <a:ext cx="5912612"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The sync still reports success.</a:t>
            </a:r>
            <a:endParaRPr lang="en-US" sz="1300" dirty="0"/>
          </a:p>
        </p:txBody>
      </p:sp>
      <p:sp>
        <p:nvSpPr>
          <p:cNvPr id="21" name="Text 19"/>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Source: the dashboard's README, the failures it surfaces and the reference cluster's finding</a:t>
            </a:r>
            <a:endParaRPr lang="en-US" sz="1200" dirty="0"/>
          </a:p>
        </p:txBody>
      </p:sp>
      <p:sp>
        <p:nvSpPr>
          <p:cNvPr id="22" name="Text 20"/>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3 / 26</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E6F68"/>
                </a:solidFill>
                <a:latin typeface="Courier New" pitchFamily="49" charset="0"/>
                <a:ea typeface="Courier New" pitchFamily="49" charset="-122"/>
                <a:cs typeface="Courier New" pitchFamily="49" charset="-120"/>
              </a:rPr>
              <a:t>ON THE LAB</a:t>
            </a:r>
            <a:endParaRPr lang="en-US" sz="1200" dirty="0"/>
          </a:p>
        </p:txBody>
      </p:sp>
      <p:sp>
        <p:nvSpPr>
          <p:cNvPr id="3" name="Text 1"/>
          <p:cNvSpPr/>
          <p:nvPr/>
        </p:nvSpPr>
        <p:spPr>
          <a:xfrm>
            <a:off x="812800" y="1254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8212C"/>
                </a:solidFill>
                <a:latin typeface="Arial" pitchFamily="34" charset="0"/>
                <a:ea typeface="Arial" pitchFamily="34" charset="-122"/>
                <a:cs typeface="Arial" pitchFamily="34" charset="-120"/>
              </a:rPr>
              <a:t>The three silent failures, caught</a:t>
            </a:r>
            <a:endParaRPr lang="en-US" sz="3000" dirty="0"/>
          </a:p>
        </p:txBody>
      </p:sp>
      <p:sp>
        <p:nvSpPr>
          <p:cNvPr id="4" name="Shape 2"/>
          <p:cNvSpPr/>
          <p:nvPr/>
        </p:nvSpPr>
        <p:spPr>
          <a:xfrm>
            <a:off x="850900" y="1902420"/>
            <a:ext cx="0" cy="919361"/>
          </a:xfrm>
          <a:prstGeom prst="line">
            <a:avLst/>
          </a:prstGeom>
          <a:noFill/>
          <a:ln w="76200">
            <a:solidFill>
              <a:srgbClr val="B3261E"/>
            </a:solidFill>
            <a:prstDash val="solid"/>
          </a:ln>
        </p:spPr>
      </p:sp>
      <p:sp>
        <p:nvSpPr>
          <p:cNvPr id="5" name="Text 3"/>
          <p:cNvSpPr/>
          <p:nvPr/>
        </p:nvSpPr>
        <p:spPr>
          <a:xfrm>
            <a:off x="1041400" y="1902420"/>
            <a:ext cx="3165602" cy="4826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8212C"/>
                </a:solidFill>
                <a:latin typeface="Arial" pitchFamily="34" charset="0"/>
                <a:ea typeface="Arial" pitchFamily="34" charset="-122"/>
                <a:cs typeface="Arial" pitchFamily="34" charset="-120"/>
              </a:rPr>
              <a:t>A binding names a group that does not exist</a:t>
            </a:r>
            <a:endParaRPr lang="en-US" sz="1500" dirty="0"/>
          </a:p>
        </p:txBody>
      </p:sp>
      <p:sp>
        <p:nvSpPr>
          <p:cNvPr id="6" name="Text 4"/>
          <p:cNvSpPr/>
          <p:nvPr/>
        </p:nvSpPr>
        <p:spPr>
          <a:xfrm>
            <a:off x="1041400" y="2410420"/>
            <a:ext cx="3165602" cy="43676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3E4A57"/>
                </a:solidFill>
                <a:latin typeface="Arial" pitchFamily="34" charset="0"/>
                <a:ea typeface="Arial" pitchFamily="34" charset="-122"/>
                <a:cs typeface="Arial" pitchFamily="34" charset="-120"/>
              </a:rPr>
              <a:t>6 bindings that grant nobody, on the host cluster.</a:t>
            </a:r>
            <a:endParaRPr lang="en-US" sz="1200" dirty="0"/>
          </a:p>
        </p:txBody>
      </p:sp>
      <p:sp>
        <p:nvSpPr>
          <p:cNvPr id="7" name="Shape 5"/>
          <p:cNvSpPr/>
          <p:nvPr/>
        </p:nvSpPr>
        <p:spPr>
          <a:xfrm>
            <a:off x="4368800" y="1981101"/>
            <a:ext cx="7010400" cy="762000"/>
          </a:xfrm>
          <a:prstGeom prst="roundRect">
            <a:avLst>
              <a:gd name="adj" fmla="val 10000"/>
            </a:avLst>
          </a:prstGeom>
          <a:solidFill>
            <a:srgbClr val="FFFFFF"/>
          </a:solidFill>
          <a:ln/>
        </p:spPr>
      </p:sp>
      <p:pic>
        <p:nvPicPr>
          <p:cNvPr id="8" name="Image 0" descr="Access granted: 6 bindings that grant nobody, each naming a Group that does not exist.">    </p:cNvPr>
          <p:cNvPicPr>
            <a:picLocks noChangeAspect="1"/>
          </p:cNvPicPr>
          <p:nvPr/>
        </p:nvPicPr>
        <p:blipFill>
          <a:blip r:embed="rId1"/>
          <a:stretch>
            <a:fillRect/>
          </a:stretch>
        </p:blipFill>
        <p:spPr>
          <a:xfrm>
            <a:off x="4429637" y="1987451"/>
            <a:ext cx="6888726" cy="749300"/>
          </a:xfrm>
          <a:custGeom>
            <a:avLst/>
            <a:gdLst/>
            <a:ahLst/>
            <a:cxnLst/>
            <a:rect l="l" t="t" r="r" b="b"/>
            <a:pathLst>
              <a:path w="6888726" h="749300">
                <a:moveTo>
                  <a:pt x="0" y="1710"/>
                </a:moveTo>
                <a:arcTo wR="69850" hR="69850" stAng="15437665" swAng="762335"/>
                <a:lnTo>
                  <a:pt x="6873363" y="0"/>
                </a:lnTo>
                <a:arcTo wR="69850" hR="69850" stAng="16200000" swAng="762335"/>
                <a:lnTo>
                  <a:pt x="6888726" y="747590"/>
                </a:lnTo>
                <a:arcTo wR="69850" hR="69850" stAng="4637665" swAng="762335"/>
                <a:lnTo>
                  <a:pt x="15363" y="749300"/>
                </a:lnTo>
                <a:arcTo wR="69850" hR="69850" stAng="5400000" swAng="762335"/>
                <a:close/>
              </a:path>
            </a:pathLst>
          </a:custGeom>
        </p:spPr>
      </p:pic>
      <p:sp>
        <p:nvSpPr>
          <p:cNvPr id="9" name="Shape 6"/>
          <p:cNvSpPr/>
          <p:nvPr/>
        </p:nvSpPr>
        <p:spPr>
          <a:xfrm>
            <a:off x="4371975" y="1984276"/>
            <a:ext cx="7004050" cy="755650"/>
          </a:xfrm>
          <a:prstGeom prst="roundRect">
            <a:avLst>
              <a:gd name="adj" fmla="val 9664"/>
            </a:avLst>
          </a:prstGeom>
          <a:noFill/>
          <a:ln w="6350">
            <a:solidFill>
              <a:srgbClr val="D7DCE3"/>
            </a:solidFill>
            <a:prstDash val="solid"/>
          </a:ln>
        </p:spPr>
      </p:sp>
      <p:sp>
        <p:nvSpPr>
          <p:cNvPr id="10" name="Shape 7"/>
          <p:cNvSpPr/>
          <p:nvPr/>
        </p:nvSpPr>
        <p:spPr>
          <a:xfrm>
            <a:off x="850900" y="2999581"/>
            <a:ext cx="0" cy="1125041"/>
          </a:xfrm>
          <a:prstGeom prst="line">
            <a:avLst/>
          </a:prstGeom>
          <a:noFill/>
          <a:ln w="76200">
            <a:solidFill>
              <a:srgbClr val="B3261E"/>
            </a:solidFill>
            <a:prstDash val="solid"/>
          </a:ln>
        </p:spPr>
      </p:sp>
      <p:sp>
        <p:nvSpPr>
          <p:cNvPr id="11" name="Text 8"/>
          <p:cNvSpPr/>
          <p:nvPr/>
        </p:nvSpPr>
        <p:spPr>
          <a:xfrm>
            <a:off x="1041400" y="2999581"/>
            <a:ext cx="3165602" cy="4826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8212C"/>
                </a:solidFill>
                <a:latin typeface="Arial" pitchFamily="34" charset="0"/>
                <a:ea typeface="Arial" pitchFamily="34" charset="-122"/>
                <a:cs typeface="Arial" pitchFamily="34" charset="-120"/>
              </a:rPr>
              <a:t>A binding names a person, not a group</a:t>
            </a:r>
            <a:endParaRPr lang="en-US" sz="1500" dirty="0"/>
          </a:p>
        </p:txBody>
      </p:sp>
      <p:sp>
        <p:nvSpPr>
          <p:cNvPr id="12" name="Text 9"/>
          <p:cNvSpPr/>
          <p:nvPr/>
        </p:nvSpPr>
        <p:spPr>
          <a:xfrm>
            <a:off x="1041400" y="3507581"/>
            <a:ext cx="3165602" cy="64244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3E4A57"/>
                </a:solidFill>
                <a:latin typeface="Arial" pitchFamily="34" charset="0"/>
                <a:ea typeface="Arial" pitchFamily="34" charset="-122"/>
                <a:cs typeface="Arial" pitchFamily="34" charset="-120"/>
              </a:rPr>
              <a:t>12 direct user grants across 5 namespaces, counting the cluster scope as one; 3 of them admin or cluster-admin.</a:t>
            </a:r>
            <a:endParaRPr lang="en-US" sz="1200" dirty="0"/>
          </a:p>
        </p:txBody>
      </p:sp>
      <p:sp>
        <p:nvSpPr>
          <p:cNvPr id="13" name="Shape 10"/>
          <p:cNvSpPr/>
          <p:nvPr/>
        </p:nvSpPr>
        <p:spPr>
          <a:xfrm>
            <a:off x="4368800" y="3298527"/>
            <a:ext cx="7010400" cy="527050"/>
          </a:xfrm>
          <a:prstGeom prst="roundRect">
            <a:avLst>
              <a:gd name="adj" fmla="val 14458"/>
            </a:avLst>
          </a:prstGeom>
          <a:solidFill>
            <a:srgbClr val="FFFFFF"/>
          </a:solidFill>
          <a:ln/>
        </p:spPr>
      </p:sp>
      <p:pic>
        <p:nvPicPr>
          <p:cNvPr id="14" name="Image 1" descr="Overview alert: 12 direct user grants across 5 namespaces, 3 granting admin or cluster-admin; these survive offboarding.">    </p:cNvPr>
          <p:cNvPicPr>
            <a:picLocks noChangeAspect="1"/>
          </p:cNvPicPr>
          <p:nvPr/>
        </p:nvPicPr>
        <p:blipFill>
          <a:blip r:embed="rId2"/>
          <a:stretch>
            <a:fillRect/>
          </a:stretch>
        </p:blipFill>
        <p:spPr>
          <a:xfrm>
            <a:off x="4455085" y="3304877"/>
            <a:ext cx="6837829" cy="514350"/>
          </a:xfrm>
          <a:prstGeom prst="rect">
            <a:avLst/>
          </a:prstGeom>
        </p:spPr>
      </p:pic>
      <p:sp>
        <p:nvSpPr>
          <p:cNvPr id="15" name="Shape 11"/>
          <p:cNvSpPr/>
          <p:nvPr/>
        </p:nvSpPr>
        <p:spPr>
          <a:xfrm>
            <a:off x="4371975" y="3301702"/>
            <a:ext cx="7004050" cy="520700"/>
          </a:xfrm>
          <a:prstGeom prst="roundRect">
            <a:avLst>
              <a:gd name="adj" fmla="val 14024"/>
            </a:avLst>
          </a:prstGeom>
          <a:noFill/>
          <a:ln w="6350">
            <a:solidFill>
              <a:srgbClr val="D7DCE3"/>
            </a:solidFill>
            <a:prstDash val="solid"/>
          </a:ln>
        </p:spPr>
      </p:sp>
      <p:sp>
        <p:nvSpPr>
          <p:cNvPr id="16" name="Shape 12"/>
          <p:cNvSpPr/>
          <p:nvPr/>
        </p:nvSpPr>
        <p:spPr>
          <a:xfrm>
            <a:off x="850900" y="4302423"/>
            <a:ext cx="0" cy="1125041"/>
          </a:xfrm>
          <a:prstGeom prst="line">
            <a:avLst/>
          </a:prstGeom>
          <a:noFill/>
          <a:ln w="76200">
            <a:solidFill>
              <a:srgbClr val="B3261E"/>
            </a:solidFill>
            <a:prstDash val="solid"/>
          </a:ln>
        </p:spPr>
      </p:sp>
      <p:sp>
        <p:nvSpPr>
          <p:cNvPr id="17" name="Text 13"/>
          <p:cNvSpPr/>
          <p:nvPr/>
        </p:nvSpPr>
        <p:spPr>
          <a:xfrm>
            <a:off x="1041400" y="4302423"/>
            <a:ext cx="3165602" cy="4826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8212C"/>
                </a:solidFill>
                <a:latin typeface="Arial" pitchFamily="34" charset="0"/>
                <a:ea typeface="Arial" pitchFamily="34" charset="-122"/>
                <a:cs typeface="Arial" pitchFamily="34" charset="-120"/>
              </a:rPr>
              <a:t>A group silently stopped being refreshed</a:t>
            </a:r>
            <a:endParaRPr lang="en-US" sz="1500" dirty="0"/>
          </a:p>
        </p:txBody>
      </p:sp>
      <p:sp>
        <p:nvSpPr>
          <p:cNvPr id="18" name="Text 14"/>
          <p:cNvSpPr/>
          <p:nvPr/>
        </p:nvSpPr>
        <p:spPr>
          <a:xfrm>
            <a:off x="1041400" y="4810423"/>
            <a:ext cx="3165602" cy="64244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3E4A57"/>
                </a:solidFill>
                <a:latin typeface="Arial" pitchFamily="34" charset="0"/>
                <a:ea typeface="Arial" pitchFamily="34" charset="-122"/>
                <a:cs typeface="Arial" pitchFamily="34" charset="-120"/>
              </a:rPr>
              <a:t>ldap-sync overdue on the lab’s 3 mock clusters, whose fixture’s last sync is fixed at 2026-09-14: how a stopped schedule shows.</a:t>
            </a:r>
            <a:endParaRPr lang="en-US" sz="1200" dirty="0"/>
          </a:p>
        </p:txBody>
      </p:sp>
      <p:sp>
        <p:nvSpPr>
          <p:cNvPr id="19" name="Shape 15"/>
          <p:cNvSpPr/>
          <p:nvPr/>
        </p:nvSpPr>
        <p:spPr>
          <a:xfrm>
            <a:off x="4368800" y="4404519"/>
            <a:ext cx="7010400" cy="920750"/>
          </a:xfrm>
          <a:prstGeom prst="roundRect">
            <a:avLst>
              <a:gd name="adj" fmla="val 8276"/>
            </a:avLst>
          </a:prstGeom>
          <a:solidFill>
            <a:srgbClr val="FFFFFF"/>
          </a:solidFill>
          <a:ln/>
        </p:spPr>
      </p:sp>
      <p:pic>
        <p:nvPicPr>
          <p:cNvPr id="20" name="Image 2" descr="Overview alerts: ldap-sync overdue on mock-privateca, mock-selfsigned and mock-trusted; last sync 2026-09-14, the schedule has stopped firing.">    </p:cNvPr>
          <p:cNvPicPr>
            <a:picLocks noChangeAspect="1"/>
          </p:cNvPicPr>
          <p:nvPr/>
        </p:nvPicPr>
        <p:blipFill>
          <a:blip r:embed="rId3"/>
          <a:srcRect l="-466" r="-466" t="0" b="0"/>
          <a:stretch/>
        </p:blipFill>
        <p:spPr>
          <a:xfrm>
            <a:off x="4375150" y="4410869"/>
            <a:ext cx="6997700" cy="908050"/>
          </a:xfrm>
          <a:prstGeom prst="roundRect">
            <a:avLst>
              <a:gd name="adj" fmla="val 7692"/>
            </a:avLst>
          </a:prstGeom>
        </p:spPr>
      </p:pic>
      <p:sp>
        <p:nvSpPr>
          <p:cNvPr id="21" name="Shape 16"/>
          <p:cNvSpPr/>
          <p:nvPr/>
        </p:nvSpPr>
        <p:spPr>
          <a:xfrm>
            <a:off x="4371975" y="4407694"/>
            <a:ext cx="7004050" cy="914400"/>
          </a:xfrm>
          <a:prstGeom prst="roundRect">
            <a:avLst>
              <a:gd name="adj" fmla="val 7986"/>
            </a:avLst>
          </a:prstGeom>
          <a:noFill/>
          <a:ln w="6350">
            <a:solidFill>
              <a:srgbClr val="D7DCE3"/>
            </a:solidFill>
            <a:prstDash val="solid"/>
          </a:ln>
        </p:spPr>
      </p:sp>
      <p:sp>
        <p:nvSpPr>
          <p:cNvPr id="22" name="Text 17"/>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Screenshots: Access granted and Overview, light theme, the lab at 5.8.0 on 2026-10-08</a:t>
            </a:r>
            <a:endParaRPr lang="en-US" sz="1200" dirty="0"/>
          </a:p>
        </p:txBody>
      </p:sp>
      <p:sp>
        <p:nvSpPr>
          <p:cNvPr id="23" name="Text 18"/>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4 / 26</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E6F68"/>
                </a:solidFill>
                <a:latin typeface="Courier New" pitchFamily="49" charset="0"/>
                <a:ea typeface="Courier New" pitchFamily="49" charset="-122"/>
                <a:cs typeface="Courier New" pitchFamily="49" charset="-120"/>
              </a:rPr>
              <a:t>WHY NOW</a:t>
            </a:r>
            <a:endParaRPr lang="en-US" sz="1200" dirty="0"/>
          </a:p>
        </p:txBody>
      </p:sp>
      <p:sp>
        <p:nvSpPr>
          <p:cNvPr id="3" name="Text 1"/>
          <p:cNvSpPr/>
          <p:nvPr/>
        </p:nvSpPr>
        <p:spPr>
          <a:xfrm>
            <a:off x="812800" y="12801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8212C"/>
                </a:solidFill>
                <a:latin typeface="Arial" pitchFamily="34" charset="0"/>
                <a:ea typeface="Arial" pitchFamily="34" charset="-122"/>
                <a:cs typeface="Arial" pitchFamily="34" charset="-120"/>
              </a:rPr>
              <a:t>Two needs, one source of truth</a:t>
            </a:r>
            <a:endParaRPr lang="en-US" sz="3000" dirty="0"/>
          </a:p>
        </p:txBody>
      </p:sp>
      <p:sp>
        <p:nvSpPr>
          <p:cNvPr id="4" name="Shape 2"/>
          <p:cNvSpPr/>
          <p:nvPr/>
        </p:nvSpPr>
        <p:spPr>
          <a:xfrm>
            <a:off x="812800" y="1953220"/>
            <a:ext cx="5156200" cy="1916807"/>
          </a:xfrm>
          <a:prstGeom prst="roundRect">
            <a:avLst>
              <a:gd name="adj" fmla="val 3975"/>
            </a:avLst>
          </a:prstGeom>
          <a:solidFill>
            <a:srgbClr val="FCFCFA"/>
          </a:solidFill>
          <a:ln/>
          <a:effectLst>
            <a:outerShdw sx="100000" sy="100000" kx="0" ky="0" algn="bl" rotWithShape="0" blurRad="6350" dist="0" dir="60000">
              <a:srgbClr val="D7DCE3">
                <a:alpha val="100000"/>
              </a:srgbClr>
            </a:outerShdw>
          </a:effectLst>
        </p:spPr>
      </p:sp>
      <p:sp>
        <p:nvSpPr>
          <p:cNvPr id="5" name="Shape 3"/>
          <p:cNvSpPr/>
          <p:nvPr/>
        </p:nvSpPr>
        <p:spPr>
          <a:xfrm>
            <a:off x="812800" y="1953220"/>
            <a:ext cx="5156200" cy="1916807"/>
          </a:xfrm>
          <a:custGeom>
            <a:avLst/>
            <a:gdLst/>
            <a:ahLst/>
            <a:cxnLst/>
            <a:rect l="l" t="t" r="r" b="b"/>
            <a:pathLst>
              <a:path w="5156200" h="1916807">
                <a:moveTo>
                  <a:pt x="0" y="76200"/>
                </a:moveTo>
                <a:lnTo>
                  <a:pt x="0" y="76200"/>
                </a:lnTo>
                <a:arcTo hR="76200" wR="76200" stAng="10800000" swAng="5400000"/>
                <a:lnTo>
                  <a:pt x="5080000" y="0"/>
                </a:lnTo>
                <a:arcTo hR="76200" wR="76200" stAng="16200000" swAng="5400000"/>
                <a:lnTo>
                  <a:pt x="5156200" y="76200"/>
                </a:lnTo>
                <a:lnTo>
                  <a:pt x="0" y="76200"/>
                </a:lnTo>
                <a:close/>
              </a:path>
            </a:pathLst>
          </a:custGeom>
          <a:solidFill>
            <a:srgbClr val="B3261E"/>
          </a:solidFill>
          <a:ln/>
        </p:spPr>
      </p:sp>
      <p:sp>
        <p:nvSpPr>
          <p:cNvPr id="6" name="Text 4"/>
          <p:cNvSpPr/>
          <p:nvPr/>
        </p:nvSpPr>
        <p:spPr>
          <a:xfrm>
            <a:off x="1016000" y="2232620"/>
            <a:ext cx="489229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Self-service</a:t>
            </a:r>
            <a:endParaRPr lang="en-US" sz="1600" dirty="0"/>
          </a:p>
        </p:txBody>
      </p:sp>
      <p:sp>
        <p:nvSpPr>
          <p:cNvPr id="7" name="Text 5"/>
          <p:cNvSpPr/>
          <p:nvPr/>
        </p:nvSpPr>
        <p:spPr>
          <a:xfrm>
            <a:off x="1016000" y="2552601"/>
            <a:ext cx="4892294"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Everyone can answer “what access do I have, and how did I get it” without a ticket, an oc login with rights they do not have, or a platform engineer.</a:t>
            </a:r>
            <a:endParaRPr lang="en-US" sz="1300" dirty="0"/>
          </a:p>
        </p:txBody>
      </p:sp>
      <p:sp>
        <p:nvSpPr>
          <p:cNvPr id="8" name="Shape 6"/>
          <p:cNvSpPr/>
          <p:nvPr/>
        </p:nvSpPr>
        <p:spPr>
          <a:xfrm>
            <a:off x="6223000" y="1953220"/>
            <a:ext cx="5156200" cy="1916807"/>
          </a:xfrm>
          <a:prstGeom prst="roundRect">
            <a:avLst>
              <a:gd name="adj" fmla="val 3975"/>
            </a:avLst>
          </a:prstGeom>
          <a:solidFill>
            <a:srgbClr val="FCFCFA"/>
          </a:solidFill>
          <a:ln/>
          <a:effectLst>
            <a:outerShdw sx="100000" sy="100000" kx="0" ky="0" algn="bl" rotWithShape="0" blurRad="6350" dist="0" dir="60000">
              <a:srgbClr val="D7DCE3">
                <a:alpha val="100000"/>
              </a:srgbClr>
            </a:outerShdw>
          </a:effectLst>
        </p:spPr>
      </p:sp>
      <p:sp>
        <p:nvSpPr>
          <p:cNvPr id="9" name="Shape 7"/>
          <p:cNvSpPr/>
          <p:nvPr/>
        </p:nvSpPr>
        <p:spPr>
          <a:xfrm>
            <a:off x="6223000" y="1953220"/>
            <a:ext cx="5156200" cy="1916807"/>
          </a:xfrm>
          <a:custGeom>
            <a:avLst/>
            <a:gdLst/>
            <a:ahLst/>
            <a:cxnLst/>
            <a:rect l="l" t="t" r="r" b="b"/>
            <a:pathLst>
              <a:path w="5156200" h="1916807">
                <a:moveTo>
                  <a:pt x="0" y="76200"/>
                </a:moveTo>
                <a:lnTo>
                  <a:pt x="0" y="76200"/>
                </a:lnTo>
                <a:arcTo hR="76200" wR="76200" stAng="10800000" swAng="5400000"/>
                <a:lnTo>
                  <a:pt x="5080000" y="0"/>
                </a:lnTo>
                <a:arcTo hR="76200" wR="76200" stAng="16200000" swAng="5400000"/>
                <a:lnTo>
                  <a:pt x="5156200" y="76200"/>
                </a:lnTo>
                <a:lnTo>
                  <a:pt x="0" y="76200"/>
                </a:lnTo>
                <a:close/>
              </a:path>
            </a:pathLst>
          </a:custGeom>
          <a:solidFill>
            <a:srgbClr val="B3261E"/>
          </a:solidFill>
          <a:ln/>
        </p:spPr>
      </p:sp>
      <p:sp>
        <p:nvSpPr>
          <p:cNvPr id="10" name="Text 8"/>
          <p:cNvSpPr/>
          <p:nvPr/>
        </p:nvSpPr>
        <p:spPr>
          <a:xfrm>
            <a:off x="6426200" y="2232620"/>
            <a:ext cx="489229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Quarterly access review</a:t>
            </a:r>
            <a:endParaRPr lang="en-US" sz="1600" dirty="0"/>
          </a:p>
        </p:txBody>
      </p:sp>
      <p:sp>
        <p:nvSpPr>
          <p:cNvPr id="11" name="Text 9"/>
          <p:cNvSpPr/>
          <p:nvPr/>
        </p:nvSpPr>
        <p:spPr>
          <a:xfrm>
            <a:off x="6426200" y="2552601"/>
            <a:ext cx="4892294" cy="1139627"/>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Auditors need evidence that names the access, the reviewer, the time and the outcome, and shows what changed since the last review. SOC 2, ISO 27001 A.5.18 (which replaced A.9.2.5 of the 2013 edition) and SOX centre on dormant, orphaned and privileged access.</a:t>
            </a:r>
            <a:endParaRPr lang="en-US" sz="1300" dirty="0"/>
          </a:p>
        </p:txBody>
      </p:sp>
      <p:sp>
        <p:nvSpPr>
          <p:cNvPr id="12" name="Text 10"/>
          <p:cNvSpPr/>
          <p:nvPr/>
        </p:nvSpPr>
        <p:spPr>
          <a:xfrm>
            <a:off x="812800" y="4124027"/>
            <a:ext cx="11379200" cy="282575"/>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18212C"/>
                </a:solidFill>
                <a:latin typeface="Arial" pitchFamily="34" charset="0"/>
                <a:ea typeface="Arial" pitchFamily="34" charset="-122"/>
                <a:cs typeface="Arial" pitchFamily="34" charset="-120"/>
              </a:rPr>
              <a:t>The same observed data answers both: one view of access per person, and evidence for the review, drawn from it.</a:t>
            </a:r>
            <a:endParaRPr lang="en-US" sz="1500" dirty="0"/>
          </a:p>
        </p:txBody>
      </p:sp>
      <p:sp>
        <p:nvSpPr>
          <p:cNvPr id="13" name="Text 11"/>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Sources: ACCESS_CONTROL.md (the self tier's purpose) · DESIGN_reporting_service.md (compliance guidance)</a:t>
            </a:r>
            <a:endParaRPr lang="en-US" sz="1200" dirty="0"/>
          </a:p>
        </p:txBody>
      </p:sp>
      <p:sp>
        <p:nvSpPr>
          <p:cNvPr id="14" name="Text 12"/>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5 / 26</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E6F68"/>
                </a:solidFill>
                <a:latin typeface="Courier New" pitchFamily="49" charset="0"/>
                <a:ea typeface="Courier New" pitchFamily="49" charset="-122"/>
                <a:cs typeface="Courier New" pitchFamily="49" charset="-120"/>
              </a:rPr>
              <a:t>THE TOOL</a:t>
            </a:r>
            <a:endParaRPr lang="en-US" sz="1200" dirty="0"/>
          </a:p>
        </p:txBody>
      </p:sp>
      <p:sp>
        <p:nvSpPr>
          <p:cNvPr id="3" name="Text 1"/>
          <p:cNvSpPr/>
          <p:nvPr/>
        </p:nvSpPr>
        <p:spPr>
          <a:xfrm>
            <a:off x="812800" y="12801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8212C"/>
                </a:solidFill>
                <a:latin typeface="Arial" pitchFamily="34" charset="0"/>
                <a:ea typeface="Arial" pitchFamily="34" charset="-122"/>
                <a:cs typeface="Arial" pitchFamily="34" charset="-120"/>
              </a:rPr>
              <a:t>What it is</a:t>
            </a:r>
            <a:endParaRPr lang="en-US" sz="3000" dirty="0"/>
          </a:p>
        </p:txBody>
      </p:sp>
      <p:sp>
        <p:nvSpPr>
          <p:cNvPr id="4" name="Shape 2"/>
          <p:cNvSpPr/>
          <p:nvPr/>
        </p:nvSpPr>
        <p:spPr>
          <a:xfrm>
            <a:off x="812800" y="1953220"/>
            <a:ext cx="5181600" cy="1248271"/>
          </a:xfrm>
          <a:prstGeom prst="roundRect">
            <a:avLst>
              <a:gd name="adj" fmla="val 6104"/>
            </a:avLst>
          </a:prstGeom>
          <a:solidFill>
            <a:srgbClr val="FCFCFA"/>
          </a:solidFill>
          <a:ln/>
          <a:effectLst>
            <a:outerShdw sx="100000" sy="100000" kx="0" ky="0" algn="bl" rotWithShape="0" blurRad="6350" dist="0" dir="60000">
              <a:srgbClr val="D7DCE3">
                <a:alpha val="100000"/>
              </a:srgbClr>
            </a:outerShdw>
          </a:effectLst>
        </p:spPr>
      </p:sp>
      <p:sp>
        <p:nvSpPr>
          <p:cNvPr id="5" name="Shape 3"/>
          <p:cNvSpPr/>
          <p:nvPr/>
        </p:nvSpPr>
        <p:spPr>
          <a:xfrm>
            <a:off x="812800" y="1953220"/>
            <a:ext cx="5181600" cy="1248271"/>
          </a:xfrm>
          <a:custGeom>
            <a:avLst/>
            <a:gdLst/>
            <a:ahLst/>
            <a:cxnLst/>
            <a:rect l="l" t="t" r="r" b="b"/>
            <a:pathLst>
              <a:path w="5181600" h="1248271">
                <a:moveTo>
                  <a:pt x="0" y="76200"/>
                </a:moveTo>
                <a:lnTo>
                  <a:pt x="0" y="76200"/>
                </a:lnTo>
                <a:arcTo hR="76200" wR="76200" stAng="10800000" swAng="5400000"/>
                <a:lnTo>
                  <a:pt x="5105400" y="0"/>
                </a:lnTo>
                <a:arcTo hR="76200" wR="76200" stAng="16200000" swAng="5400000"/>
                <a:lnTo>
                  <a:pt x="5181600" y="76200"/>
                </a:lnTo>
                <a:lnTo>
                  <a:pt x="0" y="76200"/>
                </a:lnTo>
                <a:close/>
              </a:path>
            </a:pathLst>
          </a:custGeom>
          <a:solidFill>
            <a:srgbClr val="0E6F68"/>
          </a:solidFill>
          <a:ln/>
        </p:spPr>
      </p:sp>
      <p:sp>
        <p:nvSpPr>
          <p:cNvPr id="6" name="Text 4"/>
          <p:cNvSpPr/>
          <p:nvPr/>
        </p:nvSpPr>
        <p:spPr>
          <a:xfrm>
            <a:off x="1016000" y="2232620"/>
            <a:ext cx="491845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Read-only</a:t>
            </a:r>
            <a:endParaRPr lang="en-US" sz="1600" dirty="0"/>
          </a:p>
        </p:txBody>
      </p:sp>
      <p:sp>
        <p:nvSpPr>
          <p:cNvPr id="7" name="Text 5"/>
          <p:cNvSpPr/>
          <p:nvPr/>
        </p:nvSpPr>
        <p:spPr>
          <a:xfrm>
            <a:off x="1016000" y="2552601"/>
            <a:ext cx="491845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It observes; it never creates or edits a GroupSync CR, a binding or a group.</a:t>
            </a:r>
            <a:endParaRPr lang="en-US" sz="1300" dirty="0"/>
          </a:p>
        </p:txBody>
      </p:sp>
      <p:sp>
        <p:nvSpPr>
          <p:cNvPr id="8" name="Shape 6"/>
          <p:cNvSpPr/>
          <p:nvPr/>
        </p:nvSpPr>
        <p:spPr>
          <a:xfrm>
            <a:off x="6197600" y="1953220"/>
            <a:ext cx="5181600" cy="1248271"/>
          </a:xfrm>
          <a:prstGeom prst="roundRect">
            <a:avLst>
              <a:gd name="adj" fmla="val 6104"/>
            </a:avLst>
          </a:prstGeom>
          <a:solidFill>
            <a:srgbClr val="FCFCFA"/>
          </a:solidFill>
          <a:ln/>
          <a:effectLst>
            <a:outerShdw sx="100000" sy="100000" kx="0" ky="0" algn="bl" rotWithShape="0" blurRad="6350" dist="0" dir="60000">
              <a:srgbClr val="D7DCE3">
                <a:alpha val="100000"/>
              </a:srgbClr>
            </a:outerShdw>
          </a:effectLst>
        </p:spPr>
      </p:sp>
      <p:sp>
        <p:nvSpPr>
          <p:cNvPr id="9" name="Shape 7"/>
          <p:cNvSpPr/>
          <p:nvPr/>
        </p:nvSpPr>
        <p:spPr>
          <a:xfrm>
            <a:off x="6197600" y="1953220"/>
            <a:ext cx="5181600" cy="1248271"/>
          </a:xfrm>
          <a:custGeom>
            <a:avLst/>
            <a:gdLst/>
            <a:ahLst/>
            <a:cxnLst/>
            <a:rect l="l" t="t" r="r" b="b"/>
            <a:pathLst>
              <a:path w="5181600" h="1248271">
                <a:moveTo>
                  <a:pt x="0" y="76200"/>
                </a:moveTo>
                <a:lnTo>
                  <a:pt x="0" y="76200"/>
                </a:lnTo>
                <a:arcTo hR="76200" wR="76200" stAng="10800000" swAng="5400000"/>
                <a:lnTo>
                  <a:pt x="5105400" y="0"/>
                </a:lnTo>
                <a:arcTo hR="76200" wR="76200" stAng="16200000" swAng="5400000"/>
                <a:lnTo>
                  <a:pt x="5181600" y="76200"/>
                </a:lnTo>
                <a:lnTo>
                  <a:pt x="0" y="76200"/>
                </a:lnTo>
                <a:close/>
              </a:path>
            </a:pathLst>
          </a:custGeom>
          <a:solidFill>
            <a:srgbClr val="0E6F68"/>
          </a:solidFill>
          <a:ln/>
        </p:spPr>
      </p:sp>
      <p:sp>
        <p:nvSpPr>
          <p:cNvPr id="10" name="Text 8"/>
          <p:cNvSpPr/>
          <p:nvPr/>
        </p:nvSpPr>
        <p:spPr>
          <a:xfrm>
            <a:off x="6400800" y="2232620"/>
            <a:ext cx="491845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Every cluster, one view</a:t>
            </a:r>
            <a:endParaRPr lang="en-US" sz="1600" dirty="0"/>
          </a:p>
        </p:txBody>
      </p:sp>
      <p:sp>
        <p:nvSpPr>
          <p:cNvPr id="11" name="Text 9"/>
          <p:cNvSpPr/>
          <p:nvPr/>
        </p:nvSpPr>
        <p:spPr>
          <a:xfrm>
            <a:off x="6400800" y="2552601"/>
            <a:ext cx="491845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One dashboard on the host cluster reads every joined cluster, each with that cluster's own token.</a:t>
            </a:r>
            <a:endParaRPr lang="en-US" sz="1300" dirty="0"/>
          </a:p>
        </p:txBody>
      </p:sp>
      <p:sp>
        <p:nvSpPr>
          <p:cNvPr id="12" name="Shape 10"/>
          <p:cNvSpPr/>
          <p:nvPr/>
        </p:nvSpPr>
        <p:spPr>
          <a:xfrm>
            <a:off x="812800" y="3404691"/>
            <a:ext cx="5181600" cy="1248271"/>
          </a:xfrm>
          <a:prstGeom prst="roundRect">
            <a:avLst>
              <a:gd name="adj" fmla="val 6104"/>
            </a:avLst>
          </a:prstGeom>
          <a:solidFill>
            <a:srgbClr val="FCFCFA"/>
          </a:solidFill>
          <a:ln/>
          <a:effectLst>
            <a:outerShdw sx="100000" sy="100000" kx="0" ky="0" algn="bl" rotWithShape="0" blurRad="6350" dist="0" dir="60000">
              <a:srgbClr val="D7DCE3">
                <a:alpha val="100000"/>
              </a:srgbClr>
            </a:outerShdw>
          </a:effectLst>
        </p:spPr>
      </p:sp>
      <p:sp>
        <p:nvSpPr>
          <p:cNvPr id="13" name="Shape 11"/>
          <p:cNvSpPr/>
          <p:nvPr/>
        </p:nvSpPr>
        <p:spPr>
          <a:xfrm>
            <a:off x="812800" y="3404691"/>
            <a:ext cx="5181600" cy="1248271"/>
          </a:xfrm>
          <a:custGeom>
            <a:avLst/>
            <a:gdLst/>
            <a:ahLst/>
            <a:cxnLst/>
            <a:rect l="l" t="t" r="r" b="b"/>
            <a:pathLst>
              <a:path w="5181600" h="1248271">
                <a:moveTo>
                  <a:pt x="0" y="76200"/>
                </a:moveTo>
                <a:lnTo>
                  <a:pt x="0" y="76200"/>
                </a:lnTo>
                <a:arcTo hR="76200" wR="76200" stAng="10800000" swAng="5400000"/>
                <a:lnTo>
                  <a:pt x="5105400" y="0"/>
                </a:lnTo>
                <a:arcTo hR="76200" wR="76200" stAng="16200000" swAng="5400000"/>
                <a:lnTo>
                  <a:pt x="5181600" y="76200"/>
                </a:lnTo>
                <a:lnTo>
                  <a:pt x="0" y="76200"/>
                </a:lnTo>
                <a:close/>
              </a:path>
            </a:pathLst>
          </a:custGeom>
          <a:solidFill>
            <a:srgbClr val="0E6F68"/>
          </a:solidFill>
          <a:ln/>
        </p:spPr>
      </p:sp>
      <p:sp>
        <p:nvSpPr>
          <p:cNvPr id="14" name="Text 12"/>
          <p:cNvSpPr/>
          <p:nvPr/>
        </p:nvSpPr>
        <p:spPr>
          <a:xfrm>
            <a:off x="1016000" y="3684091"/>
            <a:ext cx="491845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Signed in with OpenShift</a:t>
            </a:r>
            <a:endParaRPr lang="en-US" sz="1600" dirty="0"/>
          </a:p>
        </p:txBody>
      </p:sp>
      <p:sp>
        <p:nvSpPr>
          <p:cNvPr id="15" name="Text 13"/>
          <p:cNvSpPr/>
          <p:nvPr/>
        </p:nvSpPr>
        <p:spPr>
          <a:xfrm>
            <a:off x="1016000" y="4004072"/>
            <a:ext cx="491845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People log in the way they already do; the cluster decides what each person may see.</a:t>
            </a:r>
            <a:endParaRPr lang="en-US" sz="1300" dirty="0"/>
          </a:p>
        </p:txBody>
      </p:sp>
      <p:sp>
        <p:nvSpPr>
          <p:cNvPr id="16" name="Shape 14"/>
          <p:cNvSpPr/>
          <p:nvPr/>
        </p:nvSpPr>
        <p:spPr>
          <a:xfrm>
            <a:off x="6197600" y="3404691"/>
            <a:ext cx="5181600" cy="1248271"/>
          </a:xfrm>
          <a:prstGeom prst="roundRect">
            <a:avLst>
              <a:gd name="adj" fmla="val 6104"/>
            </a:avLst>
          </a:prstGeom>
          <a:solidFill>
            <a:srgbClr val="FCFCFA"/>
          </a:solidFill>
          <a:ln/>
          <a:effectLst>
            <a:outerShdw sx="100000" sy="100000" kx="0" ky="0" algn="bl" rotWithShape="0" blurRad="6350" dist="0" dir="60000">
              <a:srgbClr val="D7DCE3">
                <a:alpha val="100000"/>
              </a:srgbClr>
            </a:outerShdw>
          </a:effectLst>
        </p:spPr>
      </p:sp>
      <p:sp>
        <p:nvSpPr>
          <p:cNvPr id="17" name="Shape 15"/>
          <p:cNvSpPr/>
          <p:nvPr/>
        </p:nvSpPr>
        <p:spPr>
          <a:xfrm>
            <a:off x="6197600" y="3404691"/>
            <a:ext cx="5181600" cy="1248271"/>
          </a:xfrm>
          <a:custGeom>
            <a:avLst/>
            <a:gdLst/>
            <a:ahLst/>
            <a:cxnLst/>
            <a:rect l="l" t="t" r="r" b="b"/>
            <a:pathLst>
              <a:path w="5181600" h="1248271">
                <a:moveTo>
                  <a:pt x="0" y="76200"/>
                </a:moveTo>
                <a:lnTo>
                  <a:pt x="0" y="76200"/>
                </a:lnTo>
                <a:arcTo hR="76200" wR="76200" stAng="10800000" swAng="5400000"/>
                <a:lnTo>
                  <a:pt x="5105400" y="0"/>
                </a:lnTo>
                <a:arcTo hR="76200" wR="76200" stAng="16200000" swAng="5400000"/>
                <a:lnTo>
                  <a:pt x="5181600" y="76200"/>
                </a:lnTo>
                <a:lnTo>
                  <a:pt x="0" y="76200"/>
                </a:lnTo>
                <a:close/>
              </a:path>
            </a:pathLst>
          </a:custGeom>
          <a:solidFill>
            <a:srgbClr val="A55A0B"/>
          </a:solidFill>
          <a:ln/>
        </p:spPr>
      </p:sp>
      <p:sp>
        <p:nvSpPr>
          <p:cNvPr id="18" name="Text 16"/>
          <p:cNvSpPr/>
          <p:nvPr/>
        </p:nvSpPr>
        <p:spPr>
          <a:xfrm>
            <a:off x="6400800" y="3684091"/>
            <a:ext cx="491845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Evidence on demand and on schedule</a:t>
            </a:r>
            <a:endParaRPr lang="en-US" sz="1600" dirty="0"/>
          </a:p>
        </p:txBody>
      </p:sp>
      <p:sp>
        <p:nvSpPr>
          <p:cNvPr id="19" name="Text 17"/>
          <p:cNvSpPr/>
          <p:nvPr/>
        </p:nvSpPr>
        <p:spPr>
          <a:xfrm>
            <a:off x="6400800" y="4004072"/>
            <a:ext cx="491845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Eleven reports as PDF/A, HTML, CSV and JSON, generated by hand or by a schedule.</a:t>
            </a:r>
            <a:endParaRPr lang="en-US" sz="1300" dirty="0"/>
          </a:p>
        </p:txBody>
      </p:sp>
      <p:sp>
        <p:nvSpPr>
          <p:cNvPr id="20" name="Text 18"/>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Source: README · the chart's templates · the reports catalogue</a:t>
            </a:r>
            <a:endParaRPr lang="en-US" sz="1200" dirty="0"/>
          </a:p>
        </p:txBody>
      </p:sp>
      <p:sp>
        <p:nvSpPr>
          <p:cNvPr id="21" name="Text 19"/>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6 / 26</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E6F68"/>
                </a:solidFill>
                <a:latin typeface="Courier New" pitchFamily="49" charset="0"/>
                <a:ea typeface="Courier New" pitchFamily="49" charset="-122"/>
                <a:cs typeface="Courier New" pitchFamily="49" charset="-120"/>
              </a:rPr>
              <a:t>OVERVIEW</a:t>
            </a:r>
            <a:endParaRPr lang="en-US" sz="1200" dirty="0"/>
          </a:p>
        </p:txBody>
      </p:sp>
      <p:sp>
        <p:nvSpPr>
          <p:cNvPr id="3" name="Text 1"/>
          <p:cNvSpPr/>
          <p:nvPr/>
        </p:nvSpPr>
        <p:spPr>
          <a:xfrm>
            <a:off x="812800" y="12801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8212C"/>
                </a:solidFill>
                <a:latin typeface="Arial" pitchFamily="34" charset="0"/>
                <a:ea typeface="Arial" pitchFamily="34" charset="-122"/>
                <a:cs typeface="Arial" pitchFamily="34" charset="-120"/>
              </a:rPr>
              <a:t>Every cluster on one page</a:t>
            </a:r>
            <a:endParaRPr lang="en-US" sz="3000" dirty="0"/>
          </a:p>
        </p:txBody>
      </p:sp>
      <p:sp>
        <p:nvSpPr>
          <p:cNvPr id="4" name="Shape 2"/>
          <p:cNvSpPr/>
          <p:nvPr/>
        </p:nvSpPr>
        <p:spPr>
          <a:xfrm>
            <a:off x="850900" y="1953220"/>
            <a:ext cx="0" cy="668536"/>
          </a:xfrm>
          <a:prstGeom prst="line">
            <a:avLst/>
          </a:prstGeom>
          <a:noFill/>
          <a:ln w="76200">
            <a:solidFill>
              <a:srgbClr val="0E6F68"/>
            </a:solidFill>
            <a:prstDash val="solid"/>
          </a:ln>
        </p:spPr>
      </p:sp>
      <p:sp>
        <p:nvSpPr>
          <p:cNvPr id="5" name="Text 3"/>
          <p:cNvSpPr/>
          <p:nvPr/>
        </p:nvSpPr>
        <p:spPr>
          <a:xfrm>
            <a:off x="1041400" y="1953220"/>
            <a:ext cx="3427222"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One card per joined cluster: reachable or not, its groups, the bindings to review and its oldest sync.</a:t>
            </a:r>
            <a:endParaRPr lang="en-US" sz="1300" dirty="0"/>
          </a:p>
        </p:txBody>
      </p:sp>
      <p:sp>
        <p:nvSpPr>
          <p:cNvPr id="6" name="Shape 4"/>
          <p:cNvSpPr/>
          <p:nvPr/>
        </p:nvSpPr>
        <p:spPr>
          <a:xfrm>
            <a:off x="850900" y="2799556"/>
            <a:ext cx="0" cy="668536"/>
          </a:xfrm>
          <a:prstGeom prst="line">
            <a:avLst/>
          </a:prstGeom>
          <a:noFill/>
          <a:ln w="76200">
            <a:solidFill>
              <a:srgbClr val="B3261E"/>
            </a:solidFill>
            <a:prstDash val="solid"/>
          </a:ln>
        </p:spPr>
      </p:sp>
      <p:sp>
        <p:nvSpPr>
          <p:cNvPr id="7" name="Text 5"/>
          <p:cNvSpPr/>
          <p:nvPr/>
        </p:nvSpPr>
        <p:spPr>
          <a:xfrm>
            <a:off x="1041400" y="2799556"/>
            <a:ext cx="3427222"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Alerts from every cluster in one list, worst first: 12 across 6 clusters, 3 critical, on the lab.</a:t>
            </a:r>
            <a:endParaRPr lang="en-US" sz="1300" dirty="0"/>
          </a:p>
        </p:txBody>
      </p:sp>
      <p:sp>
        <p:nvSpPr>
          <p:cNvPr id="8" name="Shape 6"/>
          <p:cNvSpPr/>
          <p:nvPr/>
        </p:nvSpPr>
        <p:spPr>
          <a:xfrm>
            <a:off x="850900" y="3645892"/>
            <a:ext cx="0" cy="891381"/>
          </a:xfrm>
          <a:prstGeom prst="line">
            <a:avLst/>
          </a:prstGeom>
          <a:noFill/>
          <a:ln w="76200">
            <a:solidFill>
              <a:srgbClr val="0E6F68"/>
            </a:solidFill>
            <a:prstDash val="solid"/>
          </a:ln>
        </p:spPr>
      </p:sp>
      <p:sp>
        <p:nvSpPr>
          <p:cNvPr id="9" name="Text 7"/>
          <p:cNvSpPr/>
          <p:nvPr/>
        </p:nvSpPr>
        <p:spPr>
          <a:xfrm>
            <a:off x="1041400" y="3645892"/>
            <a:ext cx="3427222"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Each alert says why it fired, and some say what to check: “synced with zero members — check the LDAP-side member DNs resolve”.</a:t>
            </a:r>
            <a:endParaRPr lang="en-US" sz="1300" dirty="0"/>
          </a:p>
        </p:txBody>
      </p:sp>
      <p:sp>
        <p:nvSpPr>
          <p:cNvPr id="10" name="Shape 8"/>
          <p:cNvSpPr/>
          <p:nvPr/>
        </p:nvSpPr>
        <p:spPr>
          <a:xfrm>
            <a:off x="4724400" y="1953220"/>
            <a:ext cx="6604000" cy="2654300"/>
          </a:xfrm>
          <a:prstGeom prst="roundRect">
            <a:avLst>
              <a:gd name="adj" fmla="val 2871"/>
            </a:avLst>
          </a:prstGeom>
          <a:solidFill>
            <a:srgbClr val="FFFFFF"/>
          </a:solidFill>
          <a:ln/>
        </p:spPr>
      </p:sp>
      <p:pic>
        <p:nvPicPr>
          <p:cNvPr id="11" name="Image 0" descr="Overview: six cluster cards, each reachable with its groups, bindings to review and oldest last sync; 12 alerts across 6 clusters, 3 critical.">    </p:cNvPr>
          <p:cNvPicPr>
            <a:picLocks noChangeAspect="1"/>
          </p:cNvPicPr>
          <p:nvPr/>
        </p:nvPicPr>
        <p:blipFill>
          <a:blip r:embed="rId1"/>
          <a:srcRect l="-123" r="-123" t="0" b="0"/>
          <a:stretch/>
        </p:blipFill>
        <p:spPr>
          <a:xfrm>
            <a:off x="4730750" y="1959570"/>
            <a:ext cx="6591300" cy="2641600"/>
          </a:xfrm>
          <a:prstGeom prst="roundRect">
            <a:avLst>
              <a:gd name="adj" fmla="val 2644"/>
            </a:avLst>
          </a:prstGeom>
        </p:spPr>
      </p:pic>
      <p:sp>
        <p:nvSpPr>
          <p:cNvPr id="12" name="Shape 9"/>
          <p:cNvSpPr/>
          <p:nvPr/>
        </p:nvSpPr>
        <p:spPr>
          <a:xfrm>
            <a:off x="4727575" y="1956395"/>
            <a:ext cx="6597650" cy="2647950"/>
          </a:xfrm>
          <a:prstGeom prst="roundRect">
            <a:avLst>
              <a:gd name="adj" fmla="val 2758"/>
            </a:avLst>
          </a:prstGeom>
          <a:noFill/>
          <a:ln w="6350">
            <a:solidFill>
              <a:srgbClr val="D7DCE3"/>
            </a:solidFill>
            <a:prstDash val="solid"/>
          </a:ln>
        </p:spPr>
      </p:sp>
      <p:sp>
        <p:nvSpPr>
          <p:cNvPr id="13" name="Text 10"/>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Screenshot: Overview, light theme, the lab at 5.8.0, whose six clusters include three mock API servers</a:t>
            </a:r>
            <a:endParaRPr lang="en-US" sz="1200" dirty="0"/>
          </a:p>
        </p:txBody>
      </p:sp>
      <p:sp>
        <p:nvSpPr>
          <p:cNvPr id="14" name="Text 11"/>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7 / 26</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28005"/>
          </a:xfrm>
          <a:prstGeom prst="rect">
            <a:avLst/>
          </a:prstGeom>
          <a:noFill/>
          <a:ln/>
        </p:spPr>
        <p:txBody>
          <a:bodyPr wrap="square" lIns="0" tIns="0" rIns="0" bIns="0" rtlCol="0" anchor="t">
            <a:normAutofit/>
          </a:bodyPr>
          <a:lstStyle/>
          <a:p>
            <a:pPr algn="l" indent="0" marL="0">
              <a:lnSpc>
                <a:spcPts val="1622"/>
              </a:lnSpc>
              <a:buNone/>
            </a:pPr>
            <a:r>
              <a:rPr lang="en-US" sz="1159" spc="150" kern="0" dirty="0">
                <a:solidFill>
                  <a:srgbClr val="0E6F68"/>
                </a:solidFill>
                <a:latin typeface="Courier New" pitchFamily="49" charset="0"/>
                <a:ea typeface="Courier New" pitchFamily="49" charset="-122"/>
                <a:cs typeface="Courier New" pitchFamily="49" charset="-120"/>
              </a:rPr>
              <a:t>FOR EVERYONE</a:t>
            </a:r>
            <a:endParaRPr lang="en-US" sz="1159" dirty="0"/>
          </a:p>
        </p:txBody>
      </p:sp>
      <p:sp>
        <p:nvSpPr>
          <p:cNvPr id="3" name="Text 1"/>
          <p:cNvSpPr/>
          <p:nvPr/>
        </p:nvSpPr>
        <p:spPr>
          <a:xfrm>
            <a:off x="812800" y="1269405"/>
            <a:ext cx="10883392" cy="423466"/>
          </a:xfrm>
          <a:prstGeom prst="rect">
            <a:avLst/>
          </a:prstGeom>
          <a:noFill/>
          <a:ln/>
        </p:spPr>
        <p:txBody>
          <a:bodyPr wrap="square" lIns="0" tIns="0" rIns="0" bIns="0" rtlCol="0" anchor="t">
            <a:normAutofit/>
          </a:bodyPr>
          <a:lstStyle/>
          <a:p>
            <a:pPr algn="l" indent="0" marL="0">
              <a:lnSpc>
                <a:spcPts val="3166"/>
              </a:lnSpc>
              <a:buNone/>
            </a:pPr>
            <a:r>
              <a:rPr lang="en-US" sz="2878" b="1" dirty="0">
                <a:solidFill>
                  <a:srgbClr val="18212C"/>
                </a:solidFill>
                <a:latin typeface="Arial" pitchFamily="34" charset="0"/>
                <a:ea typeface="Arial" pitchFamily="34" charset="-122"/>
                <a:cs typeface="Arial" pitchFamily="34" charset="-120"/>
              </a:rPr>
              <a:t>Self-service: everyone sees their own access</a:t>
            </a:r>
            <a:endParaRPr lang="en-US" sz="2878" dirty="0"/>
          </a:p>
        </p:txBody>
      </p:sp>
      <p:sp>
        <p:nvSpPr>
          <p:cNvPr id="4" name="Shape 2"/>
          <p:cNvSpPr/>
          <p:nvPr/>
        </p:nvSpPr>
        <p:spPr>
          <a:xfrm>
            <a:off x="850900" y="1921470"/>
            <a:ext cx="0" cy="445691"/>
          </a:xfrm>
          <a:prstGeom prst="line">
            <a:avLst/>
          </a:prstGeom>
          <a:noFill/>
          <a:ln w="76200">
            <a:solidFill>
              <a:srgbClr val="0E6F68"/>
            </a:solidFill>
            <a:prstDash val="solid"/>
          </a:ln>
        </p:spPr>
      </p:sp>
      <p:sp>
        <p:nvSpPr>
          <p:cNvPr id="5" name="Text 3"/>
          <p:cNvSpPr/>
          <p:nvPr/>
        </p:nvSpPr>
        <p:spPr>
          <a:xfrm>
            <a:off x="1041400" y="1921470"/>
            <a:ext cx="3427222" cy="471091"/>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3E4A57"/>
                </a:solidFill>
                <a:latin typeface="Arial" pitchFamily="34" charset="0"/>
                <a:ea typeface="Arial" pitchFamily="34" charset="-122"/>
                <a:cs typeface="Arial" pitchFamily="34" charset="-120"/>
              </a:rPr>
              <a:t>Home</a:t>
            </a:r>
            <a:r>
              <a:rPr lang="en-US" sz="1300" dirty="0">
                <a:solidFill>
                  <a:srgbClr val="3E4A57"/>
                </a:solidFill>
                <a:latin typeface="Arial" pitchFamily="34" charset="0"/>
                <a:ea typeface="Arial" pitchFamily="34" charset="-122"/>
                <a:cs typeface="Arial" pitchFamily="34" charset="-120"/>
              </a:rPr>
              <a:t> is always the reader's own access, administrators included.</a:t>
            </a:r>
            <a:endParaRPr lang="en-US" sz="1300" dirty="0"/>
          </a:p>
        </p:txBody>
      </p:sp>
      <p:sp>
        <p:nvSpPr>
          <p:cNvPr id="6" name="Shape 4"/>
          <p:cNvSpPr/>
          <p:nvPr/>
        </p:nvSpPr>
        <p:spPr>
          <a:xfrm>
            <a:off x="850900" y="2544961"/>
            <a:ext cx="0" cy="668536"/>
          </a:xfrm>
          <a:prstGeom prst="line">
            <a:avLst/>
          </a:prstGeom>
          <a:noFill/>
          <a:ln w="76200">
            <a:solidFill>
              <a:srgbClr val="0E6F68"/>
            </a:solidFill>
            <a:prstDash val="solid"/>
          </a:ln>
        </p:spPr>
      </p:sp>
      <p:sp>
        <p:nvSpPr>
          <p:cNvPr id="7" name="Text 5"/>
          <p:cNvSpPr/>
          <p:nvPr/>
        </p:nvSpPr>
        <p:spPr>
          <a:xfrm>
            <a:off x="1041400" y="2544961"/>
            <a:ext cx="3427222"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It shows the cluster-wide roles, the namespaces they reach and how: through a group, or a grant naming them directly.</a:t>
            </a:r>
            <a:endParaRPr lang="en-US" sz="1300" dirty="0"/>
          </a:p>
        </p:txBody>
      </p:sp>
      <p:sp>
        <p:nvSpPr>
          <p:cNvPr id="8" name="Shape 6"/>
          <p:cNvSpPr/>
          <p:nvPr/>
        </p:nvSpPr>
        <p:spPr>
          <a:xfrm>
            <a:off x="850900" y="3391297"/>
            <a:ext cx="0" cy="668536"/>
          </a:xfrm>
          <a:prstGeom prst="line">
            <a:avLst/>
          </a:prstGeom>
          <a:noFill/>
          <a:ln w="76200">
            <a:solidFill>
              <a:srgbClr val="0E6F68"/>
            </a:solidFill>
            <a:prstDash val="solid"/>
          </a:ln>
        </p:spPr>
      </p:sp>
      <p:sp>
        <p:nvSpPr>
          <p:cNvPr id="9" name="Text 7"/>
          <p:cNvSpPr/>
          <p:nvPr/>
        </p:nvSpPr>
        <p:spPr>
          <a:xfrm>
            <a:off x="1041400" y="3391297"/>
            <a:ext cx="3427222"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A view someone may not open shows a named refusal, never a blank page: an empty audit tab would read as a healthy cluster.</a:t>
            </a:r>
            <a:endParaRPr lang="en-US" sz="1300" dirty="0"/>
          </a:p>
        </p:txBody>
      </p:sp>
      <p:sp>
        <p:nvSpPr>
          <p:cNvPr id="10" name="Shape 8"/>
          <p:cNvSpPr/>
          <p:nvPr/>
        </p:nvSpPr>
        <p:spPr>
          <a:xfrm>
            <a:off x="4724400" y="1921470"/>
            <a:ext cx="6604000" cy="4127500"/>
          </a:xfrm>
          <a:prstGeom prst="roundRect">
            <a:avLst>
              <a:gd name="adj" fmla="val 1846"/>
            </a:avLst>
          </a:prstGeom>
          <a:solidFill>
            <a:srgbClr val="FFFFFF"/>
          </a:solidFill>
          <a:ln/>
        </p:spPr>
      </p:sp>
      <p:pic>
        <p:nvPicPr>
          <p:cNvPr id="11" name="Image 0" descr="The Home tab in the light theme: the signed-in person's access on the cluster, its cluster-wide role, the namespaces they reach and their direct grants.">    </p:cNvPr>
          <p:cNvPicPr>
            <a:picLocks noChangeAspect="1"/>
          </p:cNvPicPr>
          <p:nvPr/>
        </p:nvPicPr>
        <p:blipFill>
          <a:blip r:embed="rId1"/>
          <a:srcRect l="-58" r="-58" t="0" b="0"/>
          <a:stretch/>
        </p:blipFill>
        <p:spPr>
          <a:xfrm>
            <a:off x="4730750" y="1927820"/>
            <a:ext cx="6591300" cy="4114800"/>
          </a:xfrm>
          <a:prstGeom prst="roundRect">
            <a:avLst>
              <a:gd name="adj" fmla="val 1698"/>
            </a:avLst>
          </a:prstGeom>
        </p:spPr>
      </p:pic>
      <p:sp>
        <p:nvSpPr>
          <p:cNvPr id="12" name="Shape 9"/>
          <p:cNvSpPr/>
          <p:nvPr/>
        </p:nvSpPr>
        <p:spPr>
          <a:xfrm>
            <a:off x="4727575" y="1924645"/>
            <a:ext cx="6597650" cy="4121150"/>
          </a:xfrm>
          <a:prstGeom prst="roundRect">
            <a:avLst>
              <a:gd name="adj" fmla="val 1772"/>
            </a:avLst>
          </a:prstGeom>
          <a:noFill/>
          <a:ln w="6350">
            <a:solidFill>
              <a:srgbClr val="D7DCE3"/>
            </a:solidFill>
            <a:prstDash val="solid"/>
          </a:ln>
        </p:spPr>
      </p:sp>
      <p:sp>
        <p:nvSpPr>
          <p:cNvPr id="13" name="Text 10"/>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Screenshot: Home, light theme, the lab at 5.8.0 · ACCESS_CONTROL.md and the README for the refusal rule</a:t>
            </a:r>
            <a:endParaRPr lang="en-US" sz="1200" dirty="0"/>
          </a:p>
        </p:txBody>
      </p:sp>
      <p:sp>
        <p:nvSpPr>
          <p:cNvPr id="14" name="Text 11"/>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8 / 26</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27707"/>
          </a:xfrm>
          <a:prstGeom prst="rect">
            <a:avLst/>
          </a:prstGeom>
          <a:noFill/>
          <a:ln/>
        </p:spPr>
        <p:txBody>
          <a:bodyPr wrap="square" lIns="0" tIns="0" rIns="0" bIns="0" rtlCol="0" anchor="t">
            <a:normAutofit/>
          </a:bodyPr>
          <a:lstStyle/>
          <a:p>
            <a:pPr algn="l" indent="0" marL="0">
              <a:lnSpc>
                <a:spcPts val="1622"/>
              </a:lnSpc>
              <a:buNone/>
            </a:pPr>
            <a:r>
              <a:rPr lang="en-US" sz="1159" spc="150" kern="0" dirty="0">
                <a:solidFill>
                  <a:srgbClr val="0E6F68"/>
                </a:solidFill>
                <a:latin typeface="Courier New" pitchFamily="49" charset="0"/>
                <a:ea typeface="Courier New" pitchFamily="49" charset="-122"/>
                <a:cs typeface="Courier New" pitchFamily="49" charset="-120"/>
              </a:rPr>
              <a:t>SEARCH</a:t>
            </a:r>
            <a:endParaRPr lang="en-US" sz="1159" dirty="0"/>
          </a:p>
        </p:txBody>
      </p:sp>
      <p:sp>
        <p:nvSpPr>
          <p:cNvPr id="3" name="Text 1"/>
          <p:cNvSpPr/>
          <p:nvPr/>
        </p:nvSpPr>
        <p:spPr>
          <a:xfrm>
            <a:off x="812800" y="1269107"/>
            <a:ext cx="10883392" cy="422970"/>
          </a:xfrm>
          <a:prstGeom prst="rect">
            <a:avLst/>
          </a:prstGeom>
          <a:noFill/>
          <a:ln/>
        </p:spPr>
        <p:txBody>
          <a:bodyPr wrap="square" lIns="0" tIns="0" rIns="0" bIns="0" rtlCol="0" anchor="t">
            <a:normAutofit/>
          </a:bodyPr>
          <a:lstStyle/>
          <a:p>
            <a:pPr algn="l" indent="0" marL="0">
              <a:lnSpc>
                <a:spcPts val="3166"/>
              </a:lnSpc>
              <a:buNone/>
            </a:pPr>
            <a:r>
              <a:rPr lang="en-US" sz="2878" b="1" dirty="0">
                <a:solidFill>
                  <a:srgbClr val="18212C"/>
                </a:solidFill>
                <a:latin typeface="Arial" pitchFamily="34" charset="0"/>
                <a:ea typeface="Arial" pitchFamily="34" charset="-122"/>
                <a:cs typeface="Arial" pitchFamily="34" charset="-120"/>
              </a:rPr>
              <a:t>Find anything from one box</a:t>
            </a:r>
            <a:endParaRPr lang="en-US" sz="2878" dirty="0"/>
          </a:p>
        </p:txBody>
      </p:sp>
      <p:sp>
        <p:nvSpPr>
          <p:cNvPr id="4" name="Shape 2"/>
          <p:cNvSpPr/>
          <p:nvPr/>
        </p:nvSpPr>
        <p:spPr>
          <a:xfrm>
            <a:off x="850900" y="1920677"/>
            <a:ext cx="0" cy="668536"/>
          </a:xfrm>
          <a:prstGeom prst="line">
            <a:avLst/>
          </a:prstGeom>
          <a:noFill/>
          <a:ln w="76200">
            <a:solidFill>
              <a:srgbClr val="0E6F68"/>
            </a:solidFill>
            <a:prstDash val="solid"/>
          </a:ln>
        </p:spPr>
      </p:sp>
      <p:sp>
        <p:nvSpPr>
          <p:cNvPr id="5" name="Text 3"/>
          <p:cNvSpPr/>
          <p:nvPr/>
        </p:nvSpPr>
        <p:spPr>
          <a:xfrm>
            <a:off x="1041400" y="1920677"/>
            <a:ext cx="3427222"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One Find box searches groups, users and namespaces together; every word must appear.</a:t>
            </a:r>
            <a:endParaRPr lang="en-US" sz="1300" dirty="0"/>
          </a:p>
        </p:txBody>
      </p:sp>
      <p:sp>
        <p:nvSpPr>
          <p:cNvPr id="6" name="Shape 4"/>
          <p:cNvSpPr/>
          <p:nvPr/>
        </p:nvSpPr>
        <p:spPr>
          <a:xfrm>
            <a:off x="850900" y="2767013"/>
            <a:ext cx="0" cy="445691"/>
          </a:xfrm>
          <a:prstGeom prst="line">
            <a:avLst/>
          </a:prstGeom>
          <a:noFill/>
          <a:ln w="76200">
            <a:solidFill>
              <a:srgbClr val="0E6F68"/>
            </a:solidFill>
            <a:prstDash val="solid"/>
          </a:ln>
        </p:spPr>
      </p:sp>
      <p:sp>
        <p:nvSpPr>
          <p:cNvPr id="7" name="Text 5"/>
          <p:cNvSpPr/>
          <p:nvPr/>
        </p:nvSpPr>
        <p:spPr>
          <a:xfrm>
            <a:off x="1041400" y="2767013"/>
            <a:ext cx="342722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“demo” finds 14 matches: 6 groups and 8 namespaces, each a link to its page.</a:t>
            </a:r>
            <a:endParaRPr lang="en-US" sz="1300" dirty="0"/>
          </a:p>
        </p:txBody>
      </p:sp>
      <p:sp>
        <p:nvSpPr>
          <p:cNvPr id="8" name="Shape 6"/>
          <p:cNvSpPr/>
          <p:nvPr/>
        </p:nvSpPr>
        <p:spPr>
          <a:xfrm>
            <a:off x="850900" y="3390503"/>
            <a:ext cx="0" cy="1114227"/>
          </a:xfrm>
          <a:prstGeom prst="line">
            <a:avLst/>
          </a:prstGeom>
          <a:noFill/>
          <a:ln w="76200">
            <a:solidFill>
              <a:srgbClr val="0E6F68"/>
            </a:solidFill>
            <a:prstDash val="solid"/>
          </a:ln>
        </p:spPr>
      </p:sp>
      <p:sp>
        <p:nvSpPr>
          <p:cNvPr id="9" name="Text 7"/>
          <p:cNvSpPr/>
          <p:nvPr/>
        </p:nvSpPr>
        <p:spPr>
          <a:xfrm>
            <a:off x="1041400" y="3390503"/>
            <a:ext cx="3427222" cy="1139627"/>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Under the results, the cluster’s totals: 66 groups, 61 users, 128 namespaces, as an auditor sees them. A self-tier reader searches only their own groups, their user row and the namespaces their grants reach.</a:t>
            </a:r>
            <a:endParaRPr lang="en-US" sz="1300" dirty="0"/>
          </a:p>
        </p:txBody>
      </p:sp>
      <p:sp>
        <p:nvSpPr>
          <p:cNvPr id="10" name="Shape 8"/>
          <p:cNvSpPr/>
          <p:nvPr/>
        </p:nvSpPr>
        <p:spPr>
          <a:xfrm>
            <a:off x="4724400" y="1920677"/>
            <a:ext cx="5207000" cy="4133850"/>
          </a:xfrm>
          <a:prstGeom prst="roundRect">
            <a:avLst>
              <a:gd name="adj" fmla="val 1843"/>
            </a:avLst>
          </a:prstGeom>
          <a:solidFill>
            <a:srgbClr val="FFFFFF"/>
          </a:solidFill>
          <a:ln/>
        </p:spPr>
      </p:sp>
      <p:pic>
        <p:nvPicPr>
          <p:cNvPr id="11" name="Image 0" descr="Find: 'demo' matches 6 of 66 groups and 8 of 128 namespaces; totals 66 groups, 61 users, 128 namespaces.">    </p:cNvPr>
          <p:cNvPicPr>
            <a:picLocks noChangeAspect="1"/>
          </p:cNvPicPr>
          <p:nvPr/>
        </p:nvPicPr>
        <p:blipFill>
          <a:blip r:embed="rId1"/>
          <a:srcRect l="-29" r="-29" t="0" b="0"/>
          <a:stretch/>
        </p:blipFill>
        <p:spPr>
          <a:xfrm>
            <a:off x="4730750" y="1927027"/>
            <a:ext cx="5194300" cy="4121150"/>
          </a:xfrm>
          <a:prstGeom prst="roundRect">
            <a:avLst>
              <a:gd name="adj" fmla="val 1695"/>
            </a:avLst>
          </a:prstGeom>
        </p:spPr>
      </p:pic>
      <p:sp>
        <p:nvSpPr>
          <p:cNvPr id="12" name="Shape 9"/>
          <p:cNvSpPr/>
          <p:nvPr/>
        </p:nvSpPr>
        <p:spPr>
          <a:xfrm>
            <a:off x="4727575" y="1923852"/>
            <a:ext cx="5200650" cy="4127500"/>
          </a:xfrm>
          <a:prstGeom prst="roundRect">
            <a:avLst>
              <a:gd name="adj" fmla="val 1769"/>
            </a:avLst>
          </a:prstGeom>
          <a:noFill/>
          <a:ln w="6350">
            <a:solidFill>
              <a:srgbClr val="D7DCE3"/>
            </a:solidFill>
            <a:prstDash val="solid"/>
          </a:ln>
        </p:spPr>
      </p:sp>
      <p:sp>
        <p:nvSpPr>
          <p:cNvPr id="13" name="Text 10"/>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Screenshot: the Find box, light theme, the lab at 5.8.0</a:t>
            </a:r>
            <a:endParaRPr lang="en-US" sz="1200" dirty="0"/>
          </a:p>
        </p:txBody>
      </p:sp>
      <p:sp>
        <p:nvSpPr>
          <p:cNvPr id="14" name="Text 11"/>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9 / 26</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28005"/>
          </a:xfrm>
          <a:prstGeom prst="rect">
            <a:avLst/>
          </a:prstGeom>
          <a:noFill/>
          <a:ln/>
        </p:spPr>
        <p:txBody>
          <a:bodyPr wrap="square" lIns="0" tIns="0" rIns="0" bIns="0" rtlCol="0" anchor="t">
            <a:normAutofit/>
          </a:bodyPr>
          <a:lstStyle/>
          <a:p>
            <a:pPr algn="l" indent="0" marL="0">
              <a:lnSpc>
                <a:spcPts val="1622"/>
              </a:lnSpc>
              <a:buNone/>
            </a:pPr>
            <a:r>
              <a:rPr lang="en-US" sz="1159" spc="150" kern="0" dirty="0">
                <a:solidFill>
                  <a:srgbClr val="0E6F68"/>
                </a:solidFill>
                <a:latin typeface="Courier New" pitchFamily="49" charset="0"/>
                <a:ea typeface="Courier New" pitchFamily="49" charset="-122"/>
                <a:cs typeface="Courier New" pitchFamily="49" charset="-120"/>
              </a:rPr>
              <a:t>NAMESPACE AUDIT</a:t>
            </a:r>
            <a:endParaRPr lang="en-US" sz="1159" dirty="0"/>
          </a:p>
        </p:txBody>
      </p:sp>
      <p:sp>
        <p:nvSpPr>
          <p:cNvPr id="3" name="Text 1"/>
          <p:cNvSpPr/>
          <p:nvPr/>
        </p:nvSpPr>
        <p:spPr>
          <a:xfrm>
            <a:off x="812800" y="1269405"/>
            <a:ext cx="10883392" cy="423466"/>
          </a:xfrm>
          <a:prstGeom prst="rect">
            <a:avLst/>
          </a:prstGeom>
          <a:noFill/>
          <a:ln/>
        </p:spPr>
        <p:txBody>
          <a:bodyPr wrap="square" lIns="0" tIns="0" rIns="0" bIns="0" rtlCol="0" anchor="t">
            <a:normAutofit/>
          </a:bodyPr>
          <a:lstStyle/>
          <a:p>
            <a:pPr algn="l" indent="0" marL="0">
              <a:lnSpc>
                <a:spcPts val="3166"/>
              </a:lnSpc>
              <a:buNone/>
            </a:pPr>
            <a:r>
              <a:rPr lang="en-US" sz="2878" b="1" dirty="0">
                <a:solidFill>
                  <a:srgbClr val="18212C"/>
                </a:solidFill>
                <a:latin typeface="Arial" pitchFamily="34" charset="0"/>
                <a:ea typeface="Arial" pitchFamily="34" charset="-122"/>
                <a:cs typeface="Arial" pitchFamily="34" charset="-120"/>
              </a:rPr>
              <a:t>For owners and auditors: what a group review cannot see</a:t>
            </a:r>
            <a:endParaRPr lang="en-US" sz="2878" dirty="0"/>
          </a:p>
        </p:txBody>
      </p:sp>
      <p:sp>
        <p:nvSpPr>
          <p:cNvPr id="4" name="Shape 2"/>
          <p:cNvSpPr/>
          <p:nvPr/>
        </p:nvSpPr>
        <p:spPr>
          <a:xfrm>
            <a:off x="850900" y="1921470"/>
            <a:ext cx="0" cy="668536"/>
          </a:xfrm>
          <a:prstGeom prst="line">
            <a:avLst/>
          </a:prstGeom>
          <a:noFill/>
          <a:ln w="76200">
            <a:solidFill>
              <a:srgbClr val="B3261E"/>
            </a:solidFill>
            <a:prstDash val="solid"/>
          </a:ln>
        </p:spPr>
      </p:sp>
      <p:sp>
        <p:nvSpPr>
          <p:cNvPr id="5" name="Text 3"/>
          <p:cNvSpPr/>
          <p:nvPr/>
        </p:nvSpPr>
        <p:spPr>
          <a:xfrm>
            <a:off x="1041400" y="1921470"/>
            <a:ext cx="3427222"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Grants that name a </a:t>
            </a:r>
            <a:r>
              <a:rPr lang="en-US" sz="1300" b="1" dirty="0">
                <a:solidFill>
                  <a:srgbClr val="3E4A57"/>
                </a:solidFill>
                <a:latin typeface="Arial" pitchFamily="34" charset="0"/>
                <a:ea typeface="Arial" pitchFamily="34" charset="-122"/>
                <a:cs typeface="Arial" pitchFamily="34" charset="-120"/>
              </a:rPr>
              <a:t>person</a:t>
            </a:r>
            <a:r>
              <a:rPr lang="en-US" sz="1300" dirty="0">
                <a:solidFill>
                  <a:srgbClr val="3E4A57"/>
                </a:solidFill>
                <a:latin typeface="Arial" pitchFamily="34" charset="0"/>
                <a:ea typeface="Arial" pitchFamily="34" charset="-122"/>
                <a:cs typeface="Arial" pitchFamily="34" charset="-120"/>
              </a:rPr>
              <a:t> rather than a group survive offboarding, and every group-based review misses them.</a:t>
            </a:r>
            <a:endParaRPr lang="en-US" sz="1300" dirty="0"/>
          </a:p>
        </p:txBody>
      </p:sp>
      <p:sp>
        <p:nvSpPr>
          <p:cNvPr id="6" name="Shape 4"/>
          <p:cNvSpPr/>
          <p:nvPr/>
        </p:nvSpPr>
        <p:spPr>
          <a:xfrm>
            <a:off x="850900" y="2767806"/>
            <a:ext cx="0" cy="445691"/>
          </a:xfrm>
          <a:prstGeom prst="line">
            <a:avLst/>
          </a:prstGeom>
          <a:noFill/>
          <a:ln w="76200">
            <a:solidFill>
              <a:srgbClr val="A55A0B"/>
            </a:solidFill>
            <a:prstDash val="solid"/>
          </a:ln>
        </p:spPr>
      </p:sp>
      <p:sp>
        <p:nvSpPr>
          <p:cNvPr id="7" name="Text 5"/>
          <p:cNvSpPr/>
          <p:nvPr/>
        </p:nvSpPr>
        <p:spPr>
          <a:xfrm>
            <a:off x="1041400" y="2767806"/>
            <a:ext cx="342722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The page ranks namespaces by the worst privilege granted and names who is exposed.</a:t>
            </a:r>
            <a:endParaRPr lang="en-US" sz="1300" dirty="0"/>
          </a:p>
        </p:txBody>
      </p:sp>
      <p:sp>
        <p:nvSpPr>
          <p:cNvPr id="8" name="Shape 6"/>
          <p:cNvSpPr/>
          <p:nvPr/>
        </p:nvSpPr>
        <p:spPr>
          <a:xfrm>
            <a:off x="850900" y="3391297"/>
            <a:ext cx="0" cy="891381"/>
          </a:xfrm>
          <a:prstGeom prst="line">
            <a:avLst/>
          </a:prstGeom>
          <a:noFill/>
          <a:ln w="76200">
            <a:solidFill>
              <a:srgbClr val="0E6F68"/>
            </a:solidFill>
            <a:prstDash val="solid"/>
          </a:ln>
        </p:spPr>
      </p:sp>
      <p:sp>
        <p:nvSpPr>
          <p:cNvPr id="9" name="Text 7"/>
          <p:cNvSpPr/>
          <p:nvPr/>
        </p:nvSpPr>
        <p:spPr>
          <a:xfrm>
            <a:off x="1041400" y="3391297"/>
            <a:ext cx="3427222" cy="916781"/>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3E4A57"/>
                </a:solidFill>
                <a:latin typeface="Arial" pitchFamily="34" charset="0"/>
                <a:ea typeface="Arial" pitchFamily="34" charset="-122"/>
                <a:cs typeface="Arial" pitchFamily="34" charset="-120"/>
              </a:rPr>
              <a:t>Operational goal: zero rows.</a:t>
            </a:r>
            <a:r>
              <a:rPr lang="en-US" sz="1300" dirty="0">
                <a:solidFill>
                  <a:srgbClr val="3E4A57"/>
                </a:solidFill>
                <a:latin typeface="Arial" pitchFamily="34" charset="0"/>
                <a:ea typeface="Arial" pitchFamily="34" charset="-122"/>
                <a:cs typeface="Arial" pitchFamily="34" charset="-120"/>
              </a:rPr>
              <a:t> At zero, one directory change offboards a person from the entire cluster, and an access review that reads clean is clean.</a:t>
            </a:r>
            <a:endParaRPr lang="en-US" sz="1300" dirty="0"/>
          </a:p>
        </p:txBody>
      </p:sp>
      <p:sp>
        <p:nvSpPr>
          <p:cNvPr id="10" name="Shape 8"/>
          <p:cNvSpPr/>
          <p:nvPr/>
        </p:nvSpPr>
        <p:spPr>
          <a:xfrm>
            <a:off x="4724400" y="1921470"/>
            <a:ext cx="6604000" cy="4127500"/>
          </a:xfrm>
          <a:prstGeom prst="roundRect">
            <a:avLst>
              <a:gd name="adj" fmla="val 1846"/>
            </a:avLst>
          </a:prstGeom>
          <a:solidFill>
            <a:srgbClr val="FFFFFF"/>
          </a:solidFill>
          <a:ln/>
        </p:spPr>
      </p:sp>
      <p:pic>
        <p:nvPicPr>
          <p:cNvPr id="11" name="Image 0" descr="The Namespace audit tab in the light theme: high exposure, 5 namespaces at risk, 7 people exposed, 12 grants to migrate, and why each is a risk.">    </p:cNvPr>
          <p:cNvPicPr>
            <a:picLocks noChangeAspect="1"/>
          </p:cNvPicPr>
          <p:nvPr/>
        </p:nvPicPr>
        <p:blipFill>
          <a:blip r:embed="rId1"/>
          <a:srcRect l="-58" r="-58" t="0" b="0"/>
          <a:stretch/>
        </p:blipFill>
        <p:spPr>
          <a:xfrm>
            <a:off x="4730750" y="1927820"/>
            <a:ext cx="6591300" cy="4114800"/>
          </a:xfrm>
          <a:prstGeom prst="roundRect">
            <a:avLst>
              <a:gd name="adj" fmla="val 1698"/>
            </a:avLst>
          </a:prstGeom>
        </p:spPr>
      </p:pic>
      <p:sp>
        <p:nvSpPr>
          <p:cNvPr id="12" name="Shape 9"/>
          <p:cNvSpPr/>
          <p:nvPr/>
        </p:nvSpPr>
        <p:spPr>
          <a:xfrm>
            <a:off x="4727575" y="1924645"/>
            <a:ext cx="6597650" cy="4121150"/>
          </a:xfrm>
          <a:prstGeom prst="roundRect">
            <a:avLst>
              <a:gd name="adj" fmla="val 1772"/>
            </a:avLst>
          </a:prstGeom>
          <a:noFill/>
          <a:ln w="6350">
            <a:solidFill>
              <a:srgbClr val="D7DCE3"/>
            </a:solidFill>
            <a:prstDash val="solid"/>
          </a:ln>
        </p:spPr>
      </p:sp>
      <p:sp>
        <p:nvSpPr>
          <p:cNvPr id="13" name="Text 10"/>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Screenshot: Namespace audit, light theme, the lab at 5.8.0 · the page's own text</a:t>
            </a:r>
            <a:endParaRPr lang="en-US" sz="1200" dirty="0"/>
          </a:p>
        </p:txBody>
      </p:sp>
      <p:sp>
        <p:nvSpPr>
          <p:cNvPr id="14" name="Text 11"/>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10 / 26</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5049"/>
          </a:xfrm>
          <a:prstGeom prst="rect">
            <a:avLst/>
          </a:prstGeom>
          <a:noFill/>
          <a:ln/>
        </p:spPr>
        <p:txBody>
          <a:bodyPr wrap="square" lIns="0" tIns="0" rIns="0" bIns="0" rtlCol="0" anchor="t">
            <a:normAutofit/>
          </a:bodyPr>
          <a:lstStyle/>
          <a:p>
            <a:pPr algn="l" indent="0" marL="0">
              <a:lnSpc>
                <a:spcPts val="1675"/>
              </a:lnSpc>
              <a:buNone/>
            </a:pPr>
            <a:r>
              <a:rPr lang="en-US" sz="1196" spc="150" kern="0" dirty="0">
                <a:solidFill>
                  <a:srgbClr val="0E6F68"/>
                </a:solidFill>
                <a:latin typeface="Courier New" pitchFamily="49" charset="0"/>
                <a:ea typeface="Courier New" pitchFamily="49" charset="-122"/>
                <a:cs typeface="Courier New" pitchFamily="49" charset="-120"/>
              </a:rPr>
              <a:t>LOGINS</a:t>
            </a:r>
            <a:endParaRPr lang="en-US" sz="1196" dirty="0"/>
          </a:p>
        </p:txBody>
      </p:sp>
      <p:sp>
        <p:nvSpPr>
          <p:cNvPr id="3" name="Text 1"/>
          <p:cNvSpPr/>
          <p:nvPr/>
        </p:nvSpPr>
        <p:spPr>
          <a:xfrm>
            <a:off x="812800" y="1276449"/>
            <a:ext cx="10883392" cy="437158"/>
          </a:xfrm>
          <a:prstGeom prst="rect">
            <a:avLst/>
          </a:prstGeom>
          <a:noFill/>
          <a:ln/>
        </p:spPr>
        <p:txBody>
          <a:bodyPr wrap="square" lIns="0" tIns="0" rIns="0" bIns="0" rtlCol="0" anchor="t">
            <a:normAutofit/>
          </a:bodyPr>
          <a:lstStyle/>
          <a:p>
            <a:pPr algn="l" indent="0" marL="0">
              <a:lnSpc>
                <a:spcPts val="3269"/>
              </a:lnSpc>
              <a:buNone/>
            </a:pPr>
            <a:r>
              <a:rPr lang="en-US" sz="2972" b="1" dirty="0">
                <a:solidFill>
                  <a:srgbClr val="18212C"/>
                </a:solidFill>
                <a:latin typeface="Arial" pitchFamily="34" charset="0"/>
                <a:ea typeface="Arial" pitchFamily="34" charset="-122"/>
                <a:cs typeface="Arial" pitchFamily="34" charset="-120"/>
              </a:rPr>
              <a:t>Who signs in, and access nobody can use</a:t>
            </a:r>
            <a:endParaRPr lang="en-US" sz="2972" dirty="0"/>
          </a:p>
        </p:txBody>
      </p:sp>
      <p:sp>
        <p:nvSpPr>
          <p:cNvPr id="4" name="Shape 2"/>
          <p:cNvSpPr/>
          <p:nvPr/>
        </p:nvSpPr>
        <p:spPr>
          <a:xfrm>
            <a:off x="850900" y="1942207"/>
            <a:ext cx="0" cy="668536"/>
          </a:xfrm>
          <a:prstGeom prst="line">
            <a:avLst/>
          </a:prstGeom>
          <a:noFill/>
          <a:ln w="76200">
            <a:solidFill>
              <a:srgbClr val="A55A0B"/>
            </a:solidFill>
            <a:prstDash val="solid"/>
          </a:ln>
        </p:spPr>
      </p:sp>
      <p:sp>
        <p:nvSpPr>
          <p:cNvPr id="5" name="Text 3"/>
          <p:cNvSpPr/>
          <p:nvPr/>
        </p:nvSpPr>
        <p:spPr>
          <a:xfrm>
            <a:off x="1041400" y="1942207"/>
            <a:ext cx="3427222"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Login attempts read from the cluster’s OAuth audit log: 13 distinct users made 779 attempts, and 18 failed.</a:t>
            </a:r>
            <a:endParaRPr lang="en-US" sz="1300" dirty="0"/>
          </a:p>
        </p:txBody>
      </p:sp>
      <p:sp>
        <p:nvSpPr>
          <p:cNvPr id="6" name="Shape 4"/>
          <p:cNvSpPr/>
          <p:nvPr/>
        </p:nvSpPr>
        <p:spPr>
          <a:xfrm>
            <a:off x="850900" y="2788543"/>
            <a:ext cx="0" cy="891381"/>
          </a:xfrm>
          <a:prstGeom prst="line">
            <a:avLst/>
          </a:prstGeom>
          <a:noFill/>
          <a:ln w="76200">
            <a:solidFill>
              <a:srgbClr val="B3261E"/>
            </a:solidFill>
            <a:prstDash val="solid"/>
          </a:ln>
        </p:spPr>
      </p:sp>
      <p:sp>
        <p:nvSpPr>
          <p:cNvPr id="7" name="Text 5"/>
          <p:cNvSpPr/>
          <p:nvPr/>
        </p:nvSpPr>
        <p:spPr>
          <a:xfrm>
            <a:off x="1041400" y="2788543"/>
            <a:ext cx="3427222"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2 people hold access through synced groups but are outside the gate group that allows a login, so they cannot use it: a decision for the review.</a:t>
            </a:r>
            <a:endParaRPr lang="en-US" sz="1300" dirty="0"/>
          </a:p>
        </p:txBody>
      </p:sp>
      <p:sp>
        <p:nvSpPr>
          <p:cNvPr id="8" name="Shape 6"/>
          <p:cNvSpPr/>
          <p:nvPr/>
        </p:nvSpPr>
        <p:spPr>
          <a:xfrm>
            <a:off x="850900" y="3857724"/>
            <a:ext cx="0" cy="668536"/>
          </a:xfrm>
          <a:prstGeom prst="line">
            <a:avLst/>
          </a:prstGeom>
          <a:noFill/>
          <a:ln w="76200">
            <a:solidFill>
              <a:srgbClr val="A55A0B"/>
            </a:solidFill>
            <a:prstDash val="solid"/>
          </a:ln>
        </p:spPr>
      </p:sp>
      <p:sp>
        <p:nvSpPr>
          <p:cNvPr id="9" name="Text 7"/>
          <p:cNvSpPr/>
          <p:nvPr/>
        </p:nvSpPr>
        <p:spPr>
          <a:xfrm>
            <a:off x="1041400" y="3857724"/>
            <a:ext cx="3427222"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Attempts are kept 400 days. Nothing older than the oldest audit file still on the cluster is read, and the page says so.</a:t>
            </a:r>
            <a:endParaRPr lang="en-US" sz="1300" dirty="0"/>
          </a:p>
        </p:txBody>
      </p:sp>
      <p:sp>
        <p:nvSpPr>
          <p:cNvPr id="10" name="Shape 8"/>
          <p:cNvSpPr/>
          <p:nvPr/>
        </p:nvSpPr>
        <p:spPr>
          <a:xfrm>
            <a:off x="4724400" y="1942207"/>
            <a:ext cx="6604000" cy="3968750"/>
          </a:xfrm>
          <a:prstGeom prst="roundRect">
            <a:avLst>
              <a:gd name="adj" fmla="val 1920"/>
            </a:avLst>
          </a:prstGeom>
          <a:solidFill>
            <a:srgbClr val="FFFFFF"/>
          </a:solidFill>
          <a:ln/>
        </p:spPr>
      </p:sp>
      <p:pic>
        <p:nvPicPr>
          <p:cNvPr id="11" name="Image 0" descr="Logins: 779 attempts, 13 distinct users, 761 signed in, 18 failed; 2 people hold access they cannot use, with the groups that grant it.">    </p:cNvPr>
          <p:cNvPicPr>
            <a:picLocks noChangeAspect="1"/>
          </p:cNvPicPr>
          <p:nvPr/>
        </p:nvPicPr>
        <p:blipFill>
          <a:blip r:embed="rId1"/>
          <a:srcRect l="-57" r="-57" t="0" b="0"/>
          <a:stretch/>
        </p:blipFill>
        <p:spPr>
          <a:xfrm>
            <a:off x="4730750" y="1948557"/>
            <a:ext cx="6591300" cy="3956050"/>
          </a:xfrm>
          <a:prstGeom prst="roundRect">
            <a:avLst>
              <a:gd name="adj" fmla="val 1766"/>
            </a:avLst>
          </a:prstGeom>
        </p:spPr>
      </p:pic>
      <p:sp>
        <p:nvSpPr>
          <p:cNvPr id="12" name="Shape 9"/>
          <p:cNvSpPr/>
          <p:nvPr/>
        </p:nvSpPr>
        <p:spPr>
          <a:xfrm>
            <a:off x="4727575" y="1945382"/>
            <a:ext cx="6597650" cy="3962400"/>
          </a:xfrm>
          <a:prstGeom prst="roundRect">
            <a:avLst>
              <a:gd name="adj" fmla="val 1843"/>
            </a:avLst>
          </a:prstGeom>
          <a:noFill/>
          <a:ln w="6350">
            <a:solidFill>
              <a:srgbClr val="D7DCE3"/>
            </a:solidFill>
            <a:prstDash val="solid"/>
          </a:ln>
        </p:spPr>
      </p:sp>
      <p:sp>
        <p:nvSpPr>
          <p:cNvPr id="13" name="Text 10"/>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Screenshot: Logins, light theme, the lab at 5.8.0 · values.yaml (login retention)</a:t>
            </a:r>
            <a:endParaRPr lang="en-US" sz="1200" dirty="0"/>
          </a:p>
        </p:txBody>
      </p:sp>
      <p:sp>
        <p:nvSpPr>
          <p:cNvPr id="14" name="Text 11"/>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11 / 26</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28005"/>
          </a:xfrm>
          <a:prstGeom prst="rect">
            <a:avLst/>
          </a:prstGeom>
          <a:noFill/>
          <a:ln/>
        </p:spPr>
        <p:txBody>
          <a:bodyPr wrap="square" lIns="0" tIns="0" rIns="0" bIns="0" rtlCol="0" anchor="t">
            <a:normAutofit/>
          </a:bodyPr>
          <a:lstStyle/>
          <a:p>
            <a:pPr algn="l" indent="0" marL="0">
              <a:lnSpc>
                <a:spcPts val="1622"/>
              </a:lnSpc>
              <a:buNone/>
            </a:pPr>
            <a:r>
              <a:rPr lang="en-US" sz="1159" spc="150" kern="0" dirty="0">
                <a:solidFill>
                  <a:srgbClr val="0E6F68"/>
                </a:solidFill>
                <a:latin typeface="Courier New" pitchFamily="49" charset="0"/>
                <a:ea typeface="Courier New" pitchFamily="49" charset="-122"/>
                <a:cs typeface="Courier New" pitchFamily="49" charset="-120"/>
              </a:rPr>
              <a:t>EVIDENCE</a:t>
            </a:r>
            <a:endParaRPr lang="en-US" sz="1159" dirty="0"/>
          </a:p>
        </p:txBody>
      </p:sp>
      <p:sp>
        <p:nvSpPr>
          <p:cNvPr id="3" name="Text 1"/>
          <p:cNvSpPr/>
          <p:nvPr/>
        </p:nvSpPr>
        <p:spPr>
          <a:xfrm>
            <a:off x="812800" y="1269405"/>
            <a:ext cx="10883392" cy="423466"/>
          </a:xfrm>
          <a:prstGeom prst="rect">
            <a:avLst/>
          </a:prstGeom>
          <a:noFill/>
          <a:ln/>
        </p:spPr>
        <p:txBody>
          <a:bodyPr wrap="square" lIns="0" tIns="0" rIns="0" bIns="0" rtlCol="0" anchor="t">
            <a:normAutofit/>
          </a:bodyPr>
          <a:lstStyle/>
          <a:p>
            <a:pPr algn="l" indent="0" marL="0">
              <a:lnSpc>
                <a:spcPts val="3166"/>
              </a:lnSpc>
              <a:buNone/>
            </a:pPr>
            <a:r>
              <a:rPr lang="en-US" sz="2878" b="1" dirty="0">
                <a:solidFill>
                  <a:srgbClr val="18212C"/>
                </a:solidFill>
                <a:latin typeface="Arial" pitchFamily="34" charset="0"/>
                <a:ea typeface="Arial" pitchFamily="34" charset="-122"/>
                <a:cs typeface="Arial" pitchFamily="34" charset="-120"/>
              </a:rPr>
              <a:t>Eleven reports, one per review question</a:t>
            </a:r>
            <a:endParaRPr lang="en-US" sz="2878" dirty="0"/>
          </a:p>
        </p:txBody>
      </p:sp>
      <p:sp>
        <p:nvSpPr>
          <p:cNvPr id="4" name="Shape 2"/>
          <p:cNvSpPr/>
          <p:nvPr/>
        </p:nvSpPr>
        <p:spPr>
          <a:xfrm>
            <a:off x="850900" y="1921470"/>
            <a:ext cx="0" cy="445691"/>
          </a:xfrm>
          <a:prstGeom prst="line">
            <a:avLst/>
          </a:prstGeom>
          <a:noFill/>
          <a:ln w="76200">
            <a:solidFill>
              <a:srgbClr val="A55A0B"/>
            </a:solidFill>
            <a:prstDash val="solid"/>
          </a:ln>
        </p:spPr>
      </p:sp>
      <p:sp>
        <p:nvSpPr>
          <p:cNvPr id="5" name="Text 3"/>
          <p:cNvSpPr/>
          <p:nvPr/>
        </p:nvSpPr>
        <p:spPr>
          <a:xfrm>
            <a:off x="1041400" y="1921470"/>
            <a:ext cx="342722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Who can reach each namespace; the access matrix; privileged access; binding findings.</a:t>
            </a:r>
            <a:endParaRPr lang="en-US" sz="1300" dirty="0"/>
          </a:p>
        </p:txBody>
      </p:sp>
      <p:sp>
        <p:nvSpPr>
          <p:cNvPr id="6" name="Shape 4"/>
          <p:cNvSpPr/>
          <p:nvPr/>
        </p:nvSpPr>
        <p:spPr>
          <a:xfrm>
            <a:off x="850900" y="2544961"/>
            <a:ext cx="0" cy="445691"/>
          </a:xfrm>
          <a:prstGeom prst="line">
            <a:avLst/>
          </a:prstGeom>
          <a:noFill/>
          <a:ln w="76200">
            <a:solidFill>
              <a:srgbClr val="A55A0B"/>
            </a:solidFill>
            <a:prstDash val="solid"/>
          </a:ln>
        </p:spPr>
      </p:sp>
      <p:sp>
        <p:nvSpPr>
          <p:cNvPr id="7" name="Text 5"/>
          <p:cNvSpPr/>
          <p:nvPr/>
        </p:nvSpPr>
        <p:spPr>
          <a:xfrm>
            <a:off x="1041400" y="2544961"/>
            <a:ext cx="342722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Groups and their changes; users; login activity; dormant access; sync health.</a:t>
            </a:r>
            <a:endParaRPr lang="en-US" sz="1300" dirty="0"/>
          </a:p>
        </p:txBody>
      </p:sp>
      <p:sp>
        <p:nvSpPr>
          <p:cNvPr id="8" name="Shape 6"/>
          <p:cNvSpPr/>
          <p:nvPr/>
        </p:nvSpPr>
        <p:spPr>
          <a:xfrm>
            <a:off x="850900" y="3168452"/>
            <a:ext cx="0" cy="445691"/>
          </a:xfrm>
          <a:prstGeom prst="line">
            <a:avLst/>
          </a:prstGeom>
          <a:noFill/>
          <a:ln w="76200">
            <a:solidFill>
              <a:srgbClr val="A55A0B"/>
            </a:solidFill>
            <a:prstDash val="solid"/>
          </a:ln>
        </p:spPr>
      </p:sp>
      <p:sp>
        <p:nvSpPr>
          <p:cNvPr id="9" name="Text 7"/>
          <p:cNvSpPr/>
          <p:nvPr/>
        </p:nvSpPr>
        <p:spPr>
          <a:xfrm>
            <a:off x="1041400" y="3168452"/>
            <a:ext cx="342722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A one-page compliance snapshot, and an access certification pack for sign-off.</a:t>
            </a:r>
            <a:endParaRPr lang="en-US" sz="1300" dirty="0"/>
          </a:p>
        </p:txBody>
      </p:sp>
      <p:sp>
        <p:nvSpPr>
          <p:cNvPr id="10" name="Shape 8"/>
          <p:cNvSpPr/>
          <p:nvPr/>
        </p:nvSpPr>
        <p:spPr>
          <a:xfrm>
            <a:off x="850900" y="3791942"/>
            <a:ext cx="0" cy="668536"/>
          </a:xfrm>
          <a:prstGeom prst="line">
            <a:avLst/>
          </a:prstGeom>
          <a:noFill/>
          <a:ln w="76200">
            <a:solidFill>
              <a:srgbClr val="A55A0B"/>
            </a:solidFill>
            <a:prstDash val="solid"/>
          </a:ln>
        </p:spPr>
      </p:sp>
      <p:sp>
        <p:nvSpPr>
          <p:cNvPr id="11" name="Text 9"/>
          <p:cNvSpPr/>
          <p:nvPr/>
        </p:nvSpPr>
        <p:spPr>
          <a:xfrm>
            <a:off x="1041400" y="3791942"/>
            <a:ext cx="3427222"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Every document carries the sha256 of its data, the snapshot it was built from, and who generated it.</a:t>
            </a:r>
            <a:endParaRPr lang="en-US" sz="1300" dirty="0"/>
          </a:p>
        </p:txBody>
      </p:sp>
      <p:sp>
        <p:nvSpPr>
          <p:cNvPr id="12" name="Shape 10"/>
          <p:cNvSpPr/>
          <p:nvPr/>
        </p:nvSpPr>
        <p:spPr>
          <a:xfrm>
            <a:off x="4724400" y="1921470"/>
            <a:ext cx="6604000" cy="4127500"/>
          </a:xfrm>
          <a:prstGeom prst="roundRect">
            <a:avLst>
              <a:gd name="adj" fmla="val 1846"/>
            </a:avLst>
          </a:prstGeom>
          <a:solidFill>
            <a:srgbClr val="FFFFFF"/>
          </a:solidFill>
          <a:ln/>
        </p:spPr>
      </p:sp>
      <p:pic>
        <p:nvPicPr>
          <p:cNvPr id="13" name="Image 0" descr="The Reports catalogue in the light theme: 11 reports, each with what it shows.">    </p:cNvPr>
          <p:cNvPicPr>
            <a:picLocks noChangeAspect="1"/>
          </p:cNvPicPr>
          <p:nvPr/>
        </p:nvPicPr>
        <p:blipFill>
          <a:blip r:embed="rId1"/>
          <a:srcRect l="-58" r="-58" t="0" b="0"/>
          <a:stretch/>
        </p:blipFill>
        <p:spPr>
          <a:xfrm>
            <a:off x="4730750" y="1927820"/>
            <a:ext cx="6591300" cy="4114800"/>
          </a:xfrm>
          <a:prstGeom prst="roundRect">
            <a:avLst>
              <a:gd name="adj" fmla="val 1698"/>
            </a:avLst>
          </a:prstGeom>
        </p:spPr>
      </p:pic>
      <p:sp>
        <p:nvSpPr>
          <p:cNvPr id="14" name="Shape 11"/>
          <p:cNvSpPr/>
          <p:nvPr/>
        </p:nvSpPr>
        <p:spPr>
          <a:xfrm>
            <a:off x="4727575" y="1924645"/>
            <a:ext cx="6597650" cy="4121150"/>
          </a:xfrm>
          <a:prstGeom prst="roundRect">
            <a:avLst>
              <a:gd name="adj" fmla="val 1772"/>
            </a:avLst>
          </a:prstGeom>
          <a:noFill/>
          <a:ln w="6350">
            <a:solidFill>
              <a:srgbClr val="D7DCE3"/>
            </a:solidFill>
            <a:prstDash val="solid"/>
          </a:ln>
        </p:spPr>
      </p:sp>
      <p:sp>
        <p:nvSpPr>
          <p:cNvPr id="15" name="Text 12"/>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Screenshot: Reports, light theme, the lab at 5.8.0 · docs/reports/README.md</a:t>
            </a:r>
            <a:endParaRPr lang="en-US" sz="1200" dirty="0"/>
          </a:p>
        </p:txBody>
      </p:sp>
      <p:sp>
        <p:nvSpPr>
          <p:cNvPr id="16" name="Text 13"/>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12 / 26</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28005"/>
          </a:xfrm>
          <a:prstGeom prst="rect">
            <a:avLst/>
          </a:prstGeom>
          <a:noFill/>
          <a:ln/>
        </p:spPr>
        <p:txBody>
          <a:bodyPr wrap="square" lIns="0" tIns="0" rIns="0" bIns="0" rtlCol="0" anchor="t">
            <a:normAutofit/>
          </a:bodyPr>
          <a:lstStyle/>
          <a:p>
            <a:pPr algn="l" indent="0" marL="0">
              <a:lnSpc>
                <a:spcPts val="1622"/>
              </a:lnSpc>
              <a:buNone/>
            </a:pPr>
            <a:r>
              <a:rPr lang="en-US" sz="1159" spc="150" kern="0" dirty="0">
                <a:solidFill>
                  <a:srgbClr val="0E6F68"/>
                </a:solidFill>
                <a:latin typeface="Courier New" pitchFamily="49" charset="0"/>
                <a:ea typeface="Courier New" pitchFamily="49" charset="-122"/>
                <a:cs typeface="Courier New" pitchFamily="49" charset="-120"/>
              </a:rPr>
              <a:t>QUARTERLY REVIEW</a:t>
            </a:r>
            <a:endParaRPr lang="en-US" sz="1159" dirty="0"/>
          </a:p>
        </p:txBody>
      </p:sp>
      <p:sp>
        <p:nvSpPr>
          <p:cNvPr id="3" name="Text 1"/>
          <p:cNvSpPr/>
          <p:nvPr/>
        </p:nvSpPr>
        <p:spPr>
          <a:xfrm>
            <a:off x="812800" y="1269405"/>
            <a:ext cx="10883392" cy="423466"/>
          </a:xfrm>
          <a:prstGeom prst="rect">
            <a:avLst/>
          </a:prstGeom>
          <a:noFill/>
          <a:ln/>
        </p:spPr>
        <p:txBody>
          <a:bodyPr wrap="square" lIns="0" tIns="0" rIns="0" bIns="0" rtlCol="0" anchor="t">
            <a:normAutofit/>
          </a:bodyPr>
          <a:lstStyle/>
          <a:p>
            <a:pPr algn="l" indent="0" marL="0">
              <a:lnSpc>
                <a:spcPts val="3166"/>
              </a:lnSpc>
              <a:buNone/>
            </a:pPr>
            <a:r>
              <a:rPr lang="en-US" sz="2878" b="1" dirty="0">
                <a:solidFill>
                  <a:srgbClr val="18212C"/>
                </a:solidFill>
                <a:latin typeface="Arial" pitchFamily="34" charset="0"/>
                <a:ea typeface="Arial" pitchFamily="34" charset="-122"/>
                <a:cs typeface="Arial" pitchFamily="34" charset="-120"/>
              </a:rPr>
              <a:t>The certification pack: approve or revoke, line by line</a:t>
            </a:r>
            <a:endParaRPr lang="en-US" sz="2878" dirty="0"/>
          </a:p>
        </p:txBody>
      </p:sp>
      <p:sp>
        <p:nvSpPr>
          <p:cNvPr id="4" name="Shape 2"/>
          <p:cNvSpPr/>
          <p:nvPr/>
        </p:nvSpPr>
        <p:spPr>
          <a:xfrm>
            <a:off x="850900" y="1921470"/>
            <a:ext cx="0" cy="222845"/>
          </a:xfrm>
          <a:prstGeom prst="line">
            <a:avLst/>
          </a:prstGeom>
          <a:noFill/>
          <a:ln w="76200">
            <a:solidFill>
              <a:srgbClr val="A55A0B"/>
            </a:solidFill>
            <a:prstDash val="solid"/>
          </a:ln>
        </p:spPr>
      </p:sp>
      <p:sp>
        <p:nvSpPr>
          <p:cNvPr id="5" name="Text 3"/>
          <p:cNvSpPr/>
          <p:nvPr/>
        </p:nvSpPr>
        <p:spPr>
          <a:xfrm>
            <a:off x="1041400" y="1921470"/>
            <a:ext cx="5258562"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A campaign with a due date and a named reviewer.</a:t>
            </a:r>
            <a:endParaRPr lang="en-US" sz="1300" dirty="0"/>
          </a:p>
        </p:txBody>
      </p:sp>
      <p:sp>
        <p:nvSpPr>
          <p:cNvPr id="6" name="Shape 4"/>
          <p:cNvSpPr/>
          <p:nvPr/>
        </p:nvSpPr>
        <p:spPr>
          <a:xfrm>
            <a:off x="850900" y="2322116"/>
            <a:ext cx="0" cy="668536"/>
          </a:xfrm>
          <a:prstGeom prst="line">
            <a:avLst/>
          </a:prstGeom>
          <a:noFill/>
          <a:ln w="76200">
            <a:solidFill>
              <a:srgbClr val="A55A0B"/>
            </a:solidFill>
            <a:prstDash val="solid"/>
          </a:ln>
        </p:spPr>
      </p:sp>
      <p:sp>
        <p:nvSpPr>
          <p:cNvPr id="7" name="Text 5"/>
          <p:cNvSpPr/>
          <p:nvPr/>
        </p:nvSpPr>
        <p:spPr>
          <a:xfrm>
            <a:off x="1041400" y="2322116"/>
            <a:ext cx="5258562"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Every group's bindings, and every grant naming a person directly, with empty </a:t>
            </a:r>
            <a:r>
              <a:rPr lang="en-US" sz="1300" b="1" dirty="0">
                <a:solidFill>
                  <a:srgbClr val="0E6F68"/>
                </a:solidFill>
                <a:latin typeface="Arial" pitchFamily="34" charset="0"/>
                <a:ea typeface="Arial" pitchFamily="34" charset="-122"/>
                <a:cs typeface="Arial" pitchFamily="34" charset="-120"/>
              </a:rPr>
              <a:t>Approve</a:t>
            </a:r>
            <a:r>
              <a:rPr lang="en-US" sz="1300" dirty="0">
                <a:solidFill>
                  <a:srgbClr val="3E4A57"/>
                </a:solidFill>
                <a:latin typeface="Arial" pitchFamily="34" charset="0"/>
                <a:ea typeface="Arial" pitchFamily="34" charset="-122"/>
                <a:cs typeface="Arial" pitchFamily="34" charset="-120"/>
              </a:rPr>
              <a:t>, </a:t>
            </a:r>
            <a:r>
              <a:rPr lang="en-US" sz="1300" b="1" dirty="0">
                <a:solidFill>
                  <a:srgbClr val="B3261E"/>
                </a:solidFill>
                <a:latin typeface="Arial" pitchFamily="34" charset="0"/>
                <a:ea typeface="Arial" pitchFamily="34" charset="-122"/>
                <a:cs typeface="Arial" pitchFamily="34" charset="-120"/>
              </a:rPr>
              <a:t>Revoke</a:t>
            </a:r>
            <a:r>
              <a:rPr lang="en-US" sz="1300" dirty="0">
                <a:solidFill>
                  <a:srgbClr val="3E4A57"/>
                </a:solidFill>
                <a:latin typeface="Arial" pitchFamily="34" charset="0"/>
                <a:ea typeface="Arial" pitchFamily="34" charset="-122"/>
                <a:cs typeface="Arial" pitchFamily="34" charset="-120"/>
              </a:rPr>
              <a:t> and </a:t>
            </a:r>
            <a:r>
              <a:rPr lang="en-US" sz="1300" b="1" dirty="0">
                <a:solidFill>
                  <a:srgbClr val="3E4A57"/>
                </a:solidFill>
                <a:latin typeface="Arial" pitchFamily="34" charset="0"/>
                <a:ea typeface="Arial" pitchFamily="34" charset="-122"/>
                <a:cs typeface="Arial" pitchFamily="34" charset="-120"/>
              </a:rPr>
              <a:t>Comment</a:t>
            </a:r>
            <a:r>
              <a:rPr lang="en-US" sz="1300" dirty="0">
                <a:solidFill>
                  <a:srgbClr val="3E4A57"/>
                </a:solidFill>
                <a:latin typeface="Arial" pitchFamily="34" charset="0"/>
                <a:ea typeface="Arial" pitchFamily="34" charset="-122"/>
                <a:cs typeface="Arial" pitchFamily="34" charset="-120"/>
              </a:rPr>
              <a:t> columns, and the members behind each group.</a:t>
            </a:r>
            <a:endParaRPr lang="en-US" sz="1300" dirty="0"/>
          </a:p>
        </p:txBody>
      </p:sp>
      <p:sp>
        <p:nvSpPr>
          <p:cNvPr id="8" name="Shape 6"/>
          <p:cNvSpPr/>
          <p:nvPr/>
        </p:nvSpPr>
        <p:spPr>
          <a:xfrm>
            <a:off x="850900" y="3168452"/>
            <a:ext cx="0" cy="445691"/>
          </a:xfrm>
          <a:prstGeom prst="line">
            <a:avLst/>
          </a:prstGeom>
          <a:noFill/>
          <a:ln w="76200">
            <a:solidFill>
              <a:srgbClr val="A55A0B"/>
            </a:solidFill>
            <a:prstDash val="solid"/>
          </a:ln>
        </p:spPr>
      </p:sp>
      <p:sp>
        <p:nvSpPr>
          <p:cNvPr id="9" name="Text 7"/>
          <p:cNvSpPr/>
          <p:nvPr/>
        </p:nvSpPr>
        <p:spPr>
          <a:xfrm>
            <a:off x="1041400" y="3168452"/>
            <a:ext cx="525856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“This pack records the state the dashboard observed; it does not change anything.” The reviewer signs the last page.</a:t>
            </a:r>
            <a:endParaRPr lang="en-US" sz="1300" dirty="0"/>
          </a:p>
        </p:txBody>
      </p:sp>
      <p:sp>
        <p:nvSpPr>
          <p:cNvPr id="10" name="Shape 8"/>
          <p:cNvSpPr/>
          <p:nvPr/>
        </p:nvSpPr>
        <p:spPr>
          <a:xfrm>
            <a:off x="6502400" y="1921470"/>
            <a:ext cx="4826000" cy="4127500"/>
          </a:xfrm>
          <a:prstGeom prst="roundRect">
            <a:avLst>
              <a:gd name="adj" fmla="val 1846"/>
            </a:avLst>
          </a:prstGeom>
          <a:solidFill>
            <a:srgbClr val="FFFFFF"/>
          </a:solidFill>
          <a:ln/>
        </p:spPr>
      </p:sp>
      <p:pic>
        <p:nvPicPr>
          <p:cNvPr id="11" name="Image 0" descr="The access certification pack: campaign E2E walk 2026-10-08, due 2026-11-07, reviewer kubeadmin; each group's bindings with Approve, Revoke and Comment columns, and its members.">    </p:cNvPr>
          <p:cNvPicPr>
            <a:picLocks noChangeAspect="1"/>
          </p:cNvPicPr>
          <p:nvPr/>
        </p:nvPicPr>
        <p:blipFill>
          <a:blip r:embed="rId1"/>
          <a:stretch>
            <a:fillRect/>
          </a:stretch>
        </p:blipFill>
        <p:spPr>
          <a:xfrm>
            <a:off x="6679096" y="1927820"/>
            <a:ext cx="4472609" cy="4114800"/>
          </a:xfrm>
          <a:prstGeom prst="rect">
            <a:avLst/>
          </a:prstGeom>
        </p:spPr>
      </p:pic>
      <p:sp>
        <p:nvSpPr>
          <p:cNvPr id="12" name="Shape 9"/>
          <p:cNvSpPr/>
          <p:nvPr/>
        </p:nvSpPr>
        <p:spPr>
          <a:xfrm>
            <a:off x="6505575" y="1924645"/>
            <a:ext cx="4819650" cy="4121150"/>
          </a:xfrm>
          <a:prstGeom prst="roundRect">
            <a:avLst>
              <a:gd name="adj" fmla="val 1772"/>
            </a:avLst>
          </a:prstGeom>
          <a:noFill/>
          <a:ln w="6350">
            <a:solidFill>
              <a:srgbClr val="D7DCE3"/>
            </a:solidFill>
            <a:prstDash val="solid"/>
          </a:ln>
        </p:spPr>
      </p:sp>
      <p:sp>
        <p:nvSpPr>
          <p:cNvPr id="13" name="Text 10"/>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Screenshot: the access-certification report as HTML, generated on the lab at 5.8.0</a:t>
            </a:r>
            <a:endParaRPr lang="en-US" sz="1200" dirty="0"/>
          </a:p>
        </p:txBody>
      </p:sp>
      <p:sp>
        <p:nvSpPr>
          <p:cNvPr id="14" name="Text 11"/>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13 / 26</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E6F68"/>
                </a:solidFill>
                <a:latin typeface="Courier New" pitchFamily="49" charset="0"/>
                <a:ea typeface="Courier New" pitchFamily="49" charset="-122"/>
                <a:cs typeface="Courier New" pitchFamily="49" charset="-120"/>
              </a:rPr>
              <a:t>QUARTERLY REVIEW</a:t>
            </a:r>
            <a:endParaRPr lang="en-US" sz="1200" dirty="0"/>
          </a:p>
        </p:txBody>
      </p:sp>
      <p:sp>
        <p:nvSpPr>
          <p:cNvPr id="3" name="Text 1"/>
          <p:cNvSpPr/>
          <p:nvPr/>
        </p:nvSpPr>
        <p:spPr>
          <a:xfrm>
            <a:off x="812800" y="12801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8212C"/>
                </a:solidFill>
                <a:latin typeface="Arial" pitchFamily="34" charset="0"/>
                <a:ea typeface="Arial" pitchFamily="34" charset="-122"/>
                <a:cs typeface="Arial" pitchFamily="34" charset="-120"/>
              </a:rPr>
              <a:t>A review, start to finish</a:t>
            </a:r>
            <a:endParaRPr lang="en-US" sz="3000" dirty="0"/>
          </a:p>
        </p:txBody>
      </p:sp>
      <p:sp>
        <p:nvSpPr>
          <p:cNvPr id="4" name="Shape 2"/>
          <p:cNvSpPr/>
          <p:nvPr/>
        </p:nvSpPr>
        <p:spPr>
          <a:xfrm>
            <a:off x="812800" y="1953220"/>
            <a:ext cx="1991320" cy="2288381"/>
          </a:xfrm>
          <a:prstGeom prst="roundRect">
            <a:avLst>
              <a:gd name="adj" fmla="val 3827"/>
            </a:avLst>
          </a:prstGeom>
          <a:solidFill>
            <a:srgbClr val="FCFCFA"/>
          </a:solidFill>
          <a:ln/>
          <a:effectLst>
            <a:outerShdw sx="100000" sy="100000" kx="0" ky="0" algn="bl" rotWithShape="0" blurRad="6350" dist="0" dir="60000">
              <a:srgbClr val="D7DCE3">
                <a:alpha val="100000"/>
              </a:srgbClr>
            </a:outerShdw>
          </a:effectLst>
        </p:spPr>
      </p:sp>
      <p:sp>
        <p:nvSpPr>
          <p:cNvPr id="5" name="Shape 3"/>
          <p:cNvSpPr/>
          <p:nvPr/>
        </p:nvSpPr>
        <p:spPr>
          <a:xfrm>
            <a:off x="812800" y="1953220"/>
            <a:ext cx="1991320" cy="2288381"/>
          </a:xfrm>
          <a:custGeom>
            <a:avLst/>
            <a:gdLst/>
            <a:ahLst/>
            <a:cxnLst/>
            <a:rect l="l" t="t" r="r" b="b"/>
            <a:pathLst>
              <a:path w="1991320" h="2288381">
                <a:moveTo>
                  <a:pt x="0" y="76200"/>
                </a:moveTo>
                <a:lnTo>
                  <a:pt x="0" y="76200"/>
                </a:lnTo>
                <a:arcTo hR="76200" wR="76200" stAng="10800000" swAng="5400000"/>
                <a:lnTo>
                  <a:pt x="1915120" y="0"/>
                </a:lnTo>
                <a:arcTo hR="76200" wR="76200" stAng="16200000" swAng="5400000"/>
                <a:lnTo>
                  <a:pt x="1991320" y="76200"/>
                </a:lnTo>
                <a:lnTo>
                  <a:pt x="0" y="76200"/>
                </a:lnTo>
                <a:close/>
              </a:path>
            </a:pathLst>
          </a:custGeom>
          <a:solidFill>
            <a:srgbClr val="A55A0B"/>
          </a:solidFill>
          <a:ln/>
        </p:spPr>
      </p:sp>
      <p:sp>
        <p:nvSpPr>
          <p:cNvPr id="6" name="Text 4"/>
          <p:cNvSpPr/>
          <p:nvPr/>
        </p:nvSpPr>
        <p:spPr>
          <a:xfrm>
            <a:off x="990600" y="2207220"/>
            <a:ext cx="1686520"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A55A0B"/>
                </a:solidFill>
                <a:latin typeface="Arial" pitchFamily="34" charset="0"/>
                <a:ea typeface="Arial" pitchFamily="34" charset="-122"/>
                <a:cs typeface="Arial" pitchFamily="34" charset="-120"/>
              </a:rPr>
              <a:t>1</a:t>
            </a:r>
            <a:endParaRPr lang="en-US" sz="2800" dirty="0"/>
          </a:p>
        </p:txBody>
      </p:sp>
      <p:sp>
        <p:nvSpPr>
          <p:cNvPr id="7" name="Text 5"/>
          <p:cNvSpPr/>
          <p:nvPr/>
        </p:nvSpPr>
        <p:spPr>
          <a:xfrm>
            <a:off x="990600" y="2639020"/>
            <a:ext cx="181352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8212C"/>
                </a:solidFill>
                <a:latin typeface="Arial" pitchFamily="34" charset="0"/>
                <a:ea typeface="Arial" pitchFamily="34" charset="-122"/>
                <a:cs typeface="Arial" pitchFamily="34" charset="-120"/>
              </a:rPr>
              <a:t>The pack is made</a:t>
            </a:r>
            <a:endParaRPr lang="en-US" sz="1500" dirty="0"/>
          </a:p>
        </p:txBody>
      </p:sp>
      <p:sp>
        <p:nvSpPr>
          <p:cNvPr id="8" name="Text 6"/>
          <p:cNvSpPr/>
          <p:nvPr/>
        </p:nvSpPr>
        <p:spPr>
          <a:xfrm>
            <a:off x="990600" y="2943820"/>
            <a:ext cx="1686520" cy="1139627"/>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from Reports at the quarter’s start, with the campaign, the reviewer and the due date.</a:t>
            </a:r>
            <a:endParaRPr lang="en-US" sz="1300" dirty="0"/>
          </a:p>
        </p:txBody>
      </p:sp>
      <p:sp>
        <p:nvSpPr>
          <p:cNvPr id="9" name="Shape 7"/>
          <p:cNvSpPr/>
          <p:nvPr/>
        </p:nvSpPr>
        <p:spPr>
          <a:xfrm>
            <a:off x="2956520" y="1953220"/>
            <a:ext cx="1991420" cy="2288381"/>
          </a:xfrm>
          <a:prstGeom prst="roundRect">
            <a:avLst>
              <a:gd name="adj" fmla="val 3826"/>
            </a:avLst>
          </a:prstGeom>
          <a:solidFill>
            <a:srgbClr val="FCFCFA"/>
          </a:solidFill>
          <a:ln/>
          <a:effectLst>
            <a:outerShdw sx="100000" sy="100000" kx="0" ky="0" algn="bl" rotWithShape="0" blurRad="6350" dist="0" dir="60000">
              <a:srgbClr val="D7DCE3">
                <a:alpha val="100000"/>
              </a:srgbClr>
            </a:outerShdw>
          </a:effectLst>
        </p:spPr>
      </p:sp>
      <p:sp>
        <p:nvSpPr>
          <p:cNvPr id="10" name="Shape 8"/>
          <p:cNvSpPr/>
          <p:nvPr/>
        </p:nvSpPr>
        <p:spPr>
          <a:xfrm>
            <a:off x="2956520" y="1953220"/>
            <a:ext cx="1991420" cy="2288381"/>
          </a:xfrm>
          <a:custGeom>
            <a:avLst/>
            <a:gdLst/>
            <a:ahLst/>
            <a:cxnLst/>
            <a:rect l="l" t="t" r="r" b="b"/>
            <a:pathLst>
              <a:path w="1991420" h="2288381">
                <a:moveTo>
                  <a:pt x="0" y="76200"/>
                </a:moveTo>
                <a:lnTo>
                  <a:pt x="0" y="76200"/>
                </a:lnTo>
                <a:arcTo hR="76200" wR="76200" stAng="10800000" swAng="5400000"/>
                <a:lnTo>
                  <a:pt x="1915220" y="0"/>
                </a:lnTo>
                <a:arcTo hR="76200" wR="76200" stAng="16200000" swAng="5400000"/>
                <a:lnTo>
                  <a:pt x="1991420" y="76200"/>
                </a:lnTo>
                <a:lnTo>
                  <a:pt x="0" y="76200"/>
                </a:lnTo>
                <a:close/>
              </a:path>
            </a:pathLst>
          </a:custGeom>
          <a:solidFill>
            <a:srgbClr val="A55A0B"/>
          </a:solidFill>
          <a:ln/>
        </p:spPr>
      </p:sp>
      <p:sp>
        <p:nvSpPr>
          <p:cNvPr id="11" name="Text 9"/>
          <p:cNvSpPr/>
          <p:nvPr/>
        </p:nvSpPr>
        <p:spPr>
          <a:xfrm>
            <a:off x="3134320" y="2207220"/>
            <a:ext cx="1686620"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A55A0B"/>
                </a:solidFill>
                <a:latin typeface="Arial" pitchFamily="34" charset="0"/>
                <a:ea typeface="Arial" pitchFamily="34" charset="-122"/>
                <a:cs typeface="Arial" pitchFamily="34" charset="-120"/>
              </a:rPr>
              <a:t>2</a:t>
            </a:r>
            <a:endParaRPr lang="en-US" sz="2800" dirty="0"/>
          </a:p>
        </p:txBody>
      </p:sp>
      <p:sp>
        <p:nvSpPr>
          <p:cNvPr id="12" name="Text 10"/>
          <p:cNvSpPr/>
          <p:nvPr/>
        </p:nvSpPr>
        <p:spPr>
          <a:xfrm>
            <a:off x="3134320" y="2639020"/>
            <a:ext cx="1686620" cy="4826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8212C"/>
                </a:solidFill>
                <a:latin typeface="Arial" pitchFamily="34" charset="0"/>
                <a:ea typeface="Arial" pitchFamily="34" charset="-122"/>
                <a:cs typeface="Arial" pitchFamily="34" charset="-120"/>
              </a:rPr>
              <a:t>The reviewer decides</a:t>
            </a:r>
            <a:endParaRPr lang="en-US" sz="1500" dirty="0"/>
          </a:p>
        </p:txBody>
      </p:sp>
      <p:sp>
        <p:nvSpPr>
          <p:cNvPr id="13" name="Text 11"/>
          <p:cNvSpPr/>
          <p:nvPr/>
        </p:nvSpPr>
        <p:spPr>
          <a:xfrm>
            <a:off x="3134320" y="3172420"/>
            <a:ext cx="1686620"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Approve or Revoke on each line, and signs the last page.</a:t>
            </a:r>
            <a:endParaRPr lang="en-US" sz="1300" dirty="0"/>
          </a:p>
        </p:txBody>
      </p:sp>
      <p:sp>
        <p:nvSpPr>
          <p:cNvPr id="14" name="Shape 12"/>
          <p:cNvSpPr/>
          <p:nvPr/>
        </p:nvSpPr>
        <p:spPr>
          <a:xfrm>
            <a:off x="5100340" y="1953220"/>
            <a:ext cx="1991320" cy="2288381"/>
          </a:xfrm>
          <a:prstGeom prst="roundRect">
            <a:avLst>
              <a:gd name="adj" fmla="val 3827"/>
            </a:avLst>
          </a:prstGeom>
          <a:solidFill>
            <a:srgbClr val="FCFCFA"/>
          </a:solidFill>
          <a:ln/>
          <a:effectLst>
            <a:outerShdw sx="100000" sy="100000" kx="0" ky="0" algn="bl" rotWithShape="0" blurRad="6350" dist="0" dir="60000">
              <a:srgbClr val="D7DCE3">
                <a:alpha val="100000"/>
              </a:srgbClr>
            </a:outerShdw>
          </a:effectLst>
        </p:spPr>
      </p:sp>
      <p:sp>
        <p:nvSpPr>
          <p:cNvPr id="15" name="Shape 13"/>
          <p:cNvSpPr/>
          <p:nvPr/>
        </p:nvSpPr>
        <p:spPr>
          <a:xfrm>
            <a:off x="5100340" y="1953220"/>
            <a:ext cx="1991320" cy="2288381"/>
          </a:xfrm>
          <a:custGeom>
            <a:avLst/>
            <a:gdLst/>
            <a:ahLst/>
            <a:cxnLst/>
            <a:rect l="l" t="t" r="r" b="b"/>
            <a:pathLst>
              <a:path w="1991320" h="2288381">
                <a:moveTo>
                  <a:pt x="0" y="76200"/>
                </a:moveTo>
                <a:lnTo>
                  <a:pt x="0" y="76200"/>
                </a:lnTo>
                <a:arcTo hR="76200" wR="76200" stAng="10800000" swAng="5400000"/>
                <a:lnTo>
                  <a:pt x="1915120" y="0"/>
                </a:lnTo>
                <a:arcTo hR="76200" wR="76200" stAng="16200000" swAng="5400000"/>
                <a:lnTo>
                  <a:pt x="1991320" y="76200"/>
                </a:lnTo>
                <a:lnTo>
                  <a:pt x="0" y="76200"/>
                </a:lnTo>
                <a:close/>
              </a:path>
            </a:pathLst>
          </a:custGeom>
          <a:solidFill>
            <a:srgbClr val="A55A0B"/>
          </a:solidFill>
          <a:ln/>
        </p:spPr>
      </p:sp>
      <p:sp>
        <p:nvSpPr>
          <p:cNvPr id="16" name="Text 14"/>
          <p:cNvSpPr/>
          <p:nvPr/>
        </p:nvSpPr>
        <p:spPr>
          <a:xfrm>
            <a:off x="5278140" y="2207220"/>
            <a:ext cx="1686520"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A55A0B"/>
                </a:solidFill>
                <a:latin typeface="Arial" pitchFamily="34" charset="0"/>
                <a:ea typeface="Arial" pitchFamily="34" charset="-122"/>
                <a:cs typeface="Arial" pitchFamily="34" charset="-120"/>
              </a:rPr>
              <a:t>3</a:t>
            </a:r>
            <a:endParaRPr lang="en-US" sz="2800" dirty="0"/>
          </a:p>
        </p:txBody>
      </p:sp>
      <p:sp>
        <p:nvSpPr>
          <p:cNvPr id="17" name="Text 15"/>
          <p:cNvSpPr/>
          <p:nvPr/>
        </p:nvSpPr>
        <p:spPr>
          <a:xfrm>
            <a:off x="5278140" y="2639020"/>
            <a:ext cx="1686520" cy="4826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8212C"/>
                </a:solidFill>
                <a:latin typeface="Arial" pitchFamily="34" charset="0"/>
                <a:ea typeface="Arial" pitchFamily="34" charset="-122"/>
                <a:cs typeface="Arial" pitchFamily="34" charset="-120"/>
              </a:rPr>
              <a:t>The owner revokes</a:t>
            </a:r>
            <a:endParaRPr lang="en-US" sz="1500" dirty="0"/>
          </a:p>
        </p:txBody>
      </p:sp>
      <p:sp>
        <p:nvSpPr>
          <p:cNvPr id="18" name="Text 16"/>
          <p:cNvSpPr/>
          <p:nvPr/>
        </p:nvSpPr>
        <p:spPr>
          <a:xfrm>
            <a:off x="5278140" y="3172420"/>
            <a:ext cx="1686520"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The mnemonic owner removes the person from the group in the central LDAP.</a:t>
            </a:r>
            <a:endParaRPr lang="en-US" sz="1300" dirty="0"/>
          </a:p>
        </p:txBody>
      </p:sp>
      <p:sp>
        <p:nvSpPr>
          <p:cNvPr id="19" name="Shape 17"/>
          <p:cNvSpPr/>
          <p:nvPr/>
        </p:nvSpPr>
        <p:spPr>
          <a:xfrm>
            <a:off x="7244060" y="1953220"/>
            <a:ext cx="1991420" cy="2288381"/>
          </a:xfrm>
          <a:prstGeom prst="roundRect">
            <a:avLst>
              <a:gd name="adj" fmla="val 3826"/>
            </a:avLst>
          </a:prstGeom>
          <a:solidFill>
            <a:srgbClr val="FCFCFA"/>
          </a:solidFill>
          <a:ln/>
          <a:effectLst>
            <a:outerShdw sx="100000" sy="100000" kx="0" ky="0" algn="bl" rotWithShape="0" blurRad="6350" dist="0" dir="60000">
              <a:srgbClr val="D7DCE3">
                <a:alpha val="100000"/>
              </a:srgbClr>
            </a:outerShdw>
          </a:effectLst>
        </p:spPr>
      </p:sp>
      <p:sp>
        <p:nvSpPr>
          <p:cNvPr id="20" name="Shape 18"/>
          <p:cNvSpPr/>
          <p:nvPr/>
        </p:nvSpPr>
        <p:spPr>
          <a:xfrm>
            <a:off x="7244060" y="1953220"/>
            <a:ext cx="1991420" cy="2288381"/>
          </a:xfrm>
          <a:custGeom>
            <a:avLst/>
            <a:gdLst/>
            <a:ahLst/>
            <a:cxnLst/>
            <a:rect l="l" t="t" r="r" b="b"/>
            <a:pathLst>
              <a:path w="1991420" h="2288381">
                <a:moveTo>
                  <a:pt x="0" y="76200"/>
                </a:moveTo>
                <a:lnTo>
                  <a:pt x="0" y="76200"/>
                </a:lnTo>
                <a:arcTo hR="76200" wR="76200" stAng="10800000" swAng="5400000"/>
                <a:lnTo>
                  <a:pt x="1915220" y="0"/>
                </a:lnTo>
                <a:arcTo hR="76200" wR="76200" stAng="16200000" swAng="5400000"/>
                <a:lnTo>
                  <a:pt x="1991420" y="76200"/>
                </a:lnTo>
                <a:lnTo>
                  <a:pt x="0" y="76200"/>
                </a:lnTo>
                <a:close/>
              </a:path>
            </a:pathLst>
          </a:custGeom>
          <a:solidFill>
            <a:srgbClr val="A55A0B"/>
          </a:solidFill>
          <a:ln/>
        </p:spPr>
      </p:sp>
      <p:sp>
        <p:nvSpPr>
          <p:cNvPr id="21" name="Text 19"/>
          <p:cNvSpPr/>
          <p:nvPr/>
        </p:nvSpPr>
        <p:spPr>
          <a:xfrm>
            <a:off x="7421860" y="2207220"/>
            <a:ext cx="1686620"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A55A0B"/>
                </a:solidFill>
                <a:latin typeface="Arial" pitchFamily="34" charset="0"/>
                <a:ea typeface="Arial" pitchFamily="34" charset="-122"/>
                <a:cs typeface="Arial" pitchFamily="34" charset="-120"/>
              </a:rPr>
              <a:t>4</a:t>
            </a:r>
            <a:endParaRPr lang="en-US" sz="2800" dirty="0"/>
          </a:p>
        </p:txBody>
      </p:sp>
      <p:sp>
        <p:nvSpPr>
          <p:cNvPr id="22" name="Text 20"/>
          <p:cNvSpPr/>
          <p:nvPr/>
        </p:nvSpPr>
        <p:spPr>
          <a:xfrm>
            <a:off x="7421860" y="2639020"/>
            <a:ext cx="181362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8212C"/>
                </a:solidFill>
                <a:latin typeface="Arial" pitchFamily="34" charset="0"/>
                <a:ea typeface="Arial" pitchFamily="34" charset="-122"/>
                <a:cs typeface="Arial" pitchFamily="34" charset="-120"/>
              </a:rPr>
              <a:t>GroupSync syncs</a:t>
            </a:r>
            <a:endParaRPr lang="en-US" sz="1500" dirty="0"/>
          </a:p>
        </p:txBody>
      </p:sp>
      <p:sp>
        <p:nvSpPr>
          <p:cNvPr id="23" name="Text 21"/>
          <p:cNvSpPr/>
          <p:nvPr/>
        </p:nvSpPr>
        <p:spPr>
          <a:xfrm>
            <a:off x="7421860" y="2943820"/>
            <a:ext cx="1686620" cy="1139627"/>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On its next run the operator rewrites the OpenShift group from LDAP, which removes them.</a:t>
            </a:r>
            <a:endParaRPr lang="en-US" sz="1300" dirty="0"/>
          </a:p>
        </p:txBody>
      </p:sp>
      <p:sp>
        <p:nvSpPr>
          <p:cNvPr id="24" name="Shape 22"/>
          <p:cNvSpPr/>
          <p:nvPr/>
        </p:nvSpPr>
        <p:spPr>
          <a:xfrm>
            <a:off x="9387880" y="1953220"/>
            <a:ext cx="1991320" cy="2288381"/>
          </a:xfrm>
          <a:prstGeom prst="roundRect">
            <a:avLst>
              <a:gd name="adj" fmla="val 3827"/>
            </a:avLst>
          </a:prstGeom>
          <a:solidFill>
            <a:srgbClr val="FCFCFA"/>
          </a:solidFill>
          <a:ln/>
          <a:effectLst>
            <a:outerShdw sx="100000" sy="100000" kx="0" ky="0" algn="bl" rotWithShape="0" blurRad="6350" dist="0" dir="60000">
              <a:srgbClr val="D7DCE3">
                <a:alpha val="100000"/>
              </a:srgbClr>
            </a:outerShdw>
          </a:effectLst>
        </p:spPr>
      </p:sp>
      <p:sp>
        <p:nvSpPr>
          <p:cNvPr id="25" name="Shape 23"/>
          <p:cNvSpPr/>
          <p:nvPr/>
        </p:nvSpPr>
        <p:spPr>
          <a:xfrm>
            <a:off x="9387880" y="1953220"/>
            <a:ext cx="1991320" cy="2288381"/>
          </a:xfrm>
          <a:custGeom>
            <a:avLst/>
            <a:gdLst/>
            <a:ahLst/>
            <a:cxnLst/>
            <a:rect l="l" t="t" r="r" b="b"/>
            <a:pathLst>
              <a:path w="1991320" h="2288381">
                <a:moveTo>
                  <a:pt x="0" y="76200"/>
                </a:moveTo>
                <a:lnTo>
                  <a:pt x="0" y="76200"/>
                </a:lnTo>
                <a:arcTo hR="76200" wR="76200" stAng="10800000" swAng="5400000"/>
                <a:lnTo>
                  <a:pt x="1915120" y="0"/>
                </a:lnTo>
                <a:arcTo hR="76200" wR="76200" stAng="16200000" swAng="5400000"/>
                <a:lnTo>
                  <a:pt x="1991320" y="76200"/>
                </a:lnTo>
                <a:lnTo>
                  <a:pt x="0" y="76200"/>
                </a:lnTo>
                <a:close/>
              </a:path>
            </a:pathLst>
          </a:custGeom>
          <a:solidFill>
            <a:srgbClr val="A55A0B"/>
          </a:solidFill>
          <a:ln/>
        </p:spPr>
      </p:sp>
      <p:sp>
        <p:nvSpPr>
          <p:cNvPr id="26" name="Text 24"/>
          <p:cNvSpPr/>
          <p:nvPr/>
        </p:nvSpPr>
        <p:spPr>
          <a:xfrm>
            <a:off x="9565680" y="2207220"/>
            <a:ext cx="1686520"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A55A0B"/>
                </a:solidFill>
                <a:latin typeface="Arial" pitchFamily="34" charset="0"/>
                <a:ea typeface="Arial" pitchFamily="34" charset="-122"/>
                <a:cs typeface="Arial" pitchFamily="34" charset="-120"/>
              </a:rPr>
              <a:t>5</a:t>
            </a:r>
            <a:endParaRPr lang="en-US" sz="2800" dirty="0"/>
          </a:p>
        </p:txBody>
      </p:sp>
      <p:sp>
        <p:nvSpPr>
          <p:cNvPr id="27" name="Text 25"/>
          <p:cNvSpPr/>
          <p:nvPr/>
        </p:nvSpPr>
        <p:spPr>
          <a:xfrm>
            <a:off x="9565680" y="2639020"/>
            <a:ext cx="1686520" cy="4826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8212C"/>
                </a:solidFill>
                <a:latin typeface="Arial" pitchFamily="34" charset="0"/>
                <a:ea typeface="Arial" pitchFamily="34" charset="-122"/>
                <a:cs typeface="Arial" pitchFamily="34" charset="-120"/>
              </a:rPr>
              <a:t>The dashboard shows it</a:t>
            </a:r>
            <a:endParaRPr lang="en-US" sz="1500" dirty="0"/>
          </a:p>
        </p:txBody>
      </p:sp>
      <p:sp>
        <p:nvSpPr>
          <p:cNvPr id="28" name="Text 26"/>
          <p:cNvSpPr/>
          <p:nvPr/>
        </p:nvSpPr>
        <p:spPr>
          <a:xfrm>
            <a:off x="9565680" y="3172420"/>
            <a:ext cx="1686520"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on its next poll; a report diff of the next pack against this one shows the change.</a:t>
            </a:r>
            <a:endParaRPr lang="en-US" sz="1300" dirty="0"/>
          </a:p>
        </p:txBody>
      </p:sp>
      <p:sp>
        <p:nvSpPr>
          <p:cNvPr id="29" name="Shape 27"/>
          <p:cNvSpPr/>
          <p:nvPr/>
        </p:nvSpPr>
        <p:spPr>
          <a:xfrm>
            <a:off x="812800" y="4495602"/>
            <a:ext cx="10566400" cy="1041301"/>
          </a:xfrm>
          <a:prstGeom prst="roundRect">
            <a:avLst>
              <a:gd name="adj" fmla="val 7318"/>
            </a:avLst>
          </a:prstGeom>
          <a:solidFill>
            <a:srgbClr val="FBEDEC"/>
          </a:solidFill>
          <a:ln/>
        </p:spPr>
      </p:sp>
      <p:sp>
        <p:nvSpPr>
          <p:cNvPr id="30" name="Shape 28"/>
          <p:cNvSpPr/>
          <p:nvPr/>
        </p:nvSpPr>
        <p:spPr>
          <a:xfrm>
            <a:off x="812800" y="4495602"/>
            <a:ext cx="10566400" cy="1041301"/>
          </a:xfrm>
          <a:custGeom>
            <a:avLst/>
            <a:gdLst/>
            <a:ahLst/>
            <a:cxnLst/>
            <a:rect l="l" t="t" r="r" b="b"/>
            <a:pathLst>
              <a:path w="10566400" h="1041301">
                <a:moveTo>
                  <a:pt x="76200" y="1041301"/>
                </a:moveTo>
                <a:lnTo>
                  <a:pt x="76200" y="1041301"/>
                </a:lnTo>
                <a:arcTo hR="76200" wR="76200" stAng="5400000" swAng="5400000"/>
                <a:lnTo>
                  <a:pt x="0" y="76200"/>
                </a:lnTo>
                <a:arcTo hR="76200" wR="76200" stAng="10800000" swAng="5400000"/>
                <a:lnTo>
                  <a:pt x="76200" y="0"/>
                </a:lnTo>
                <a:lnTo>
                  <a:pt x="76200" y="1041301"/>
                </a:lnTo>
                <a:close/>
              </a:path>
            </a:pathLst>
          </a:custGeom>
          <a:solidFill>
            <a:srgbClr val="B3261E"/>
          </a:solidFill>
          <a:ln/>
        </p:spPr>
      </p:sp>
      <p:sp>
        <p:nvSpPr>
          <p:cNvPr id="31" name="Text 29"/>
          <p:cNvSpPr/>
          <p:nvPr/>
        </p:nvSpPr>
        <p:spPr>
          <a:xfrm>
            <a:off x="1092200" y="4648002"/>
            <a:ext cx="10386314" cy="26541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18212C"/>
                </a:solidFill>
                <a:latin typeface="Arial" pitchFamily="34" charset="0"/>
                <a:ea typeface="Arial" pitchFamily="34" charset="-122"/>
                <a:cs typeface="Arial" pitchFamily="34" charset="-120"/>
              </a:rPr>
              <a:t>A grant naming a person directly is not in LDAP, so step 3 cannot remove it.</a:t>
            </a:r>
            <a:endParaRPr lang="en-US" sz="1400" dirty="0"/>
          </a:p>
        </p:txBody>
      </p:sp>
      <p:sp>
        <p:nvSpPr>
          <p:cNvPr id="32" name="Text 30"/>
          <p:cNvSpPr/>
          <p:nvPr/>
        </p:nvSpPr>
        <p:spPr>
          <a:xfrm>
            <a:off x="1092200" y="4938812"/>
            <a:ext cx="10386314"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Revoked: delete the binding on the cluster. Approved: add the person to the right LDAP group, wait one sync, then delete the binding. The Namespace audit lists every one.</a:t>
            </a:r>
            <a:endParaRPr lang="en-US" sz="1300" dirty="0"/>
          </a:p>
        </p:txBody>
      </p:sp>
      <p:sp>
        <p:nvSpPr>
          <p:cNvPr id="33" name="Text 31"/>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Sources: reference-architecture.md §1a · the certification report · the lab's GroupSync CRs (every 30 min to 2 h) · SPEC_F3</a:t>
            </a:r>
            <a:endParaRPr lang="en-US" sz="1200" dirty="0"/>
          </a:p>
        </p:txBody>
      </p:sp>
      <p:sp>
        <p:nvSpPr>
          <p:cNvPr id="34" name="Text 32"/>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14 / 26</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28005"/>
          </a:xfrm>
          <a:prstGeom prst="rect">
            <a:avLst/>
          </a:prstGeom>
          <a:noFill/>
          <a:ln/>
        </p:spPr>
        <p:txBody>
          <a:bodyPr wrap="square" lIns="0" tIns="0" rIns="0" bIns="0" rtlCol="0" anchor="t">
            <a:normAutofit/>
          </a:bodyPr>
          <a:lstStyle/>
          <a:p>
            <a:pPr algn="l" indent="0" marL="0">
              <a:lnSpc>
                <a:spcPts val="1622"/>
              </a:lnSpc>
              <a:buNone/>
            </a:pPr>
            <a:r>
              <a:rPr lang="en-US" sz="1159" spc="150" kern="0" dirty="0">
                <a:solidFill>
                  <a:srgbClr val="0E6F68"/>
                </a:solidFill>
                <a:latin typeface="Courier New" pitchFamily="49" charset="0"/>
                <a:ea typeface="Courier New" pitchFamily="49" charset="-122"/>
                <a:cs typeface="Courier New" pitchFamily="49" charset="-120"/>
              </a:rPr>
              <a:t>PROVENANCE</a:t>
            </a:r>
            <a:endParaRPr lang="en-US" sz="1159" dirty="0"/>
          </a:p>
        </p:txBody>
      </p:sp>
      <p:sp>
        <p:nvSpPr>
          <p:cNvPr id="3" name="Text 1"/>
          <p:cNvSpPr/>
          <p:nvPr/>
        </p:nvSpPr>
        <p:spPr>
          <a:xfrm>
            <a:off x="812800" y="1269405"/>
            <a:ext cx="10883392" cy="423466"/>
          </a:xfrm>
          <a:prstGeom prst="rect">
            <a:avLst/>
          </a:prstGeom>
          <a:noFill/>
          <a:ln/>
        </p:spPr>
        <p:txBody>
          <a:bodyPr wrap="square" lIns="0" tIns="0" rIns="0" bIns="0" rtlCol="0" anchor="t">
            <a:normAutofit/>
          </a:bodyPr>
          <a:lstStyle/>
          <a:p>
            <a:pPr algn="l" indent="0" marL="0">
              <a:lnSpc>
                <a:spcPts val="3166"/>
              </a:lnSpc>
              <a:buNone/>
            </a:pPr>
            <a:r>
              <a:rPr lang="en-US" sz="2878" b="1" dirty="0">
                <a:solidFill>
                  <a:srgbClr val="18212C"/>
                </a:solidFill>
                <a:latin typeface="Arial" pitchFamily="34" charset="0"/>
                <a:ea typeface="Arial" pitchFamily="34" charset="-122"/>
                <a:cs typeface="Arial" pitchFamily="34" charset="-120"/>
              </a:rPr>
              <a:t>Evidence an auditor can trust</a:t>
            </a:r>
            <a:endParaRPr lang="en-US" sz="2878" dirty="0"/>
          </a:p>
        </p:txBody>
      </p:sp>
      <p:sp>
        <p:nvSpPr>
          <p:cNvPr id="4" name="Shape 2"/>
          <p:cNvSpPr/>
          <p:nvPr/>
        </p:nvSpPr>
        <p:spPr>
          <a:xfrm>
            <a:off x="850900" y="1921470"/>
            <a:ext cx="0" cy="445691"/>
          </a:xfrm>
          <a:prstGeom prst="line">
            <a:avLst/>
          </a:prstGeom>
          <a:noFill/>
          <a:ln w="76200">
            <a:solidFill>
              <a:srgbClr val="A55A0B"/>
            </a:solidFill>
            <a:prstDash val="solid"/>
          </a:ln>
        </p:spPr>
      </p:sp>
      <p:sp>
        <p:nvSpPr>
          <p:cNvPr id="5" name="Text 3"/>
          <p:cNvSpPr/>
          <p:nvPr/>
        </p:nvSpPr>
        <p:spPr>
          <a:xfrm>
            <a:off x="1041400" y="1921470"/>
            <a:ext cx="565099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The sha256 of the report's data, the snapshot it was read from, and its schema.</a:t>
            </a:r>
            <a:endParaRPr lang="en-US" sz="1300" dirty="0"/>
          </a:p>
        </p:txBody>
      </p:sp>
      <p:sp>
        <p:nvSpPr>
          <p:cNvPr id="6" name="Shape 4"/>
          <p:cNvSpPr/>
          <p:nvPr/>
        </p:nvSpPr>
        <p:spPr>
          <a:xfrm>
            <a:off x="850900" y="2544961"/>
            <a:ext cx="0" cy="445691"/>
          </a:xfrm>
          <a:prstGeom prst="line">
            <a:avLst/>
          </a:prstGeom>
          <a:noFill/>
          <a:ln w="76200">
            <a:solidFill>
              <a:srgbClr val="A55A0B"/>
            </a:solidFill>
            <a:prstDash val="solid"/>
          </a:ln>
        </p:spPr>
      </p:sp>
      <p:sp>
        <p:nvSpPr>
          <p:cNvPr id="7" name="Text 5"/>
          <p:cNvSpPr/>
          <p:nvPr/>
        </p:nvSpPr>
        <p:spPr>
          <a:xfrm>
            <a:off x="1041400" y="2544961"/>
            <a:ext cx="565099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Who generated it (a person verified by the OpenShift login, or the schedule by name) and when.</a:t>
            </a:r>
            <a:endParaRPr lang="en-US" sz="1300" dirty="0"/>
          </a:p>
        </p:txBody>
      </p:sp>
      <p:sp>
        <p:nvSpPr>
          <p:cNvPr id="8" name="Shape 6"/>
          <p:cNvSpPr/>
          <p:nvPr/>
        </p:nvSpPr>
        <p:spPr>
          <a:xfrm>
            <a:off x="850900" y="3168452"/>
            <a:ext cx="0" cy="445691"/>
          </a:xfrm>
          <a:prstGeom prst="line">
            <a:avLst/>
          </a:prstGeom>
          <a:noFill/>
          <a:ln w="76200">
            <a:solidFill>
              <a:srgbClr val="A55A0B"/>
            </a:solidFill>
            <a:prstDash val="solid"/>
          </a:ln>
        </p:spPr>
      </p:sp>
      <p:sp>
        <p:nvSpPr>
          <p:cNvPr id="9" name="Text 7"/>
          <p:cNvSpPr/>
          <p:nvPr/>
        </p:nvSpPr>
        <p:spPr>
          <a:xfrm>
            <a:off x="1041400" y="3168452"/>
            <a:ext cx="565099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PDF/A-2b for archiving; a report diff answers “what changed since the last review”.</a:t>
            </a:r>
            <a:endParaRPr lang="en-US" sz="1300" dirty="0"/>
          </a:p>
        </p:txBody>
      </p:sp>
      <p:sp>
        <p:nvSpPr>
          <p:cNvPr id="10" name="Shape 8"/>
          <p:cNvSpPr/>
          <p:nvPr/>
        </p:nvSpPr>
        <p:spPr>
          <a:xfrm>
            <a:off x="850900" y="3791942"/>
            <a:ext cx="0" cy="445691"/>
          </a:xfrm>
          <a:prstGeom prst="line">
            <a:avLst/>
          </a:prstGeom>
          <a:noFill/>
          <a:ln w="76200">
            <a:solidFill>
              <a:srgbClr val="A55A0B"/>
            </a:solidFill>
            <a:prstDash val="solid"/>
          </a:ln>
        </p:spPr>
      </p:sp>
      <p:sp>
        <p:nvSpPr>
          <p:cNvPr id="11" name="Text 9"/>
          <p:cNvSpPr/>
          <p:nvPr/>
        </p:nvSpPr>
        <p:spPr>
          <a:xfrm>
            <a:off x="1041400" y="3791942"/>
            <a:ext cx="565099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Login attempts are kept 400 days, so a year-over-year review still sees the previous cycle.</a:t>
            </a:r>
            <a:endParaRPr lang="en-US" sz="1300" dirty="0"/>
          </a:p>
        </p:txBody>
      </p:sp>
      <p:sp>
        <p:nvSpPr>
          <p:cNvPr id="12" name="Shape 10"/>
          <p:cNvSpPr/>
          <p:nvPr/>
        </p:nvSpPr>
        <p:spPr>
          <a:xfrm>
            <a:off x="6883400" y="1921470"/>
            <a:ext cx="4445000" cy="4127500"/>
          </a:xfrm>
          <a:prstGeom prst="roundRect">
            <a:avLst>
              <a:gd name="adj" fmla="val 1846"/>
            </a:avLst>
          </a:prstGeom>
          <a:solidFill>
            <a:srgbClr val="FFFFFF"/>
          </a:solidFill>
          <a:ln/>
        </p:spPr>
      </p:sp>
      <p:pic>
        <p:nvPicPr>
          <p:cNvPr id="13" name="Image 0" descr="The provenance block of a report: handling marking, cluster, generated at, generated by, run id, report service 5.8.0, the data snapshot, the last poll and the coverage notes.">    </p:cNvPr>
          <p:cNvPicPr>
            <a:picLocks noChangeAspect="1"/>
          </p:cNvPicPr>
          <p:nvPr/>
        </p:nvPicPr>
        <p:blipFill>
          <a:blip r:embed="rId1"/>
          <a:stretch>
            <a:fillRect/>
          </a:stretch>
        </p:blipFill>
        <p:spPr>
          <a:xfrm>
            <a:off x="7290547" y="1927820"/>
            <a:ext cx="3630706" cy="4114800"/>
          </a:xfrm>
          <a:prstGeom prst="rect">
            <a:avLst/>
          </a:prstGeom>
        </p:spPr>
      </p:pic>
      <p:sp>
        <p:nvSpPr>
          <p:cNvPr id="14" name="Shape 11"/>
          <p:cNvSpPr/>
          <p:nvPr/>
        </p:nvSpPr>
        <p:spPr>
          <a:xfrm>
            <a:off x="6886575" y="1924645"/>
            <a:ext cx="4438650" cy="4121150"/>
          </a:xfrm>
          <a:prstGeom prst="roundRect">
            <a:avLst>
              <a:gd name="adj" fmla="val 1772"/>
            </a:avLst>
          </a:prstGeom>
          <a:noFill/>
          <a:ln w="6350">
            <a:solidFill>
              <a:srgbClr val="D7DCE3"/>
            </a:solidFill>
            <a:prstDash val="solid"/>
          </a:ln>
        </p:spPr>
      </p:sp>
      <p:sp>
        <p:nvSpPr>
          <p:cNvPr id="15" name="Text 12"/>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Screenshot: the report's provenance, the lab at 5.8.0 · values.yaml (login retention) · SPEC_F3 (report diff)</a:t>
            </a:r>
            <a:endParaRPr lang="en-US" sz="1200" dirty="0"/>
          </a:p>
        </p:txBody>
      </p:sp>
      <p:sp>
        <p:nvSpPr>
          <p:cNvPr id="16" name="Text 13"/>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15 / 26</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5049"/>
          </a:xfrm>
          <a:prstGeom prst="rect">
            <a:avLst/>
          </a:prstGeom>
          <a:noFill/>
          <a:ln/>
        </p:spPr>
        <p:txBody>
          <a:bodyPr wrap="square" lIns="0" tIns="0" rIns="0" bIns="0" rtlCol="0" anchor="t">
            <a:normAutofit/>
          </a:bodyPr>
          <a:lstStyle/>
          <a:p>
            <a:pPr algn="l" indent="0" marL="0">
              <a:lnSpc>
                <a:spcPts val="1675"/>
              </a:lnSpc>
              <a:buNone/>
            </a:pPr>
            <a:r>
              <a:rPr lang="en-US" sz="1196" spc="150" kern="0" dirty="0">
                <a:solidFill>
                  <a:srgbClr val="0E6F68"/>
                </a:solidFill>
                <a:latin typeface="Courier New" pitchFamily="49" charset="0"/>
                <a:ea typeface="Courier New" pitchFamily="49" charset="-122"/>
                <a:cs typeface="Courier New" pitchFamily="49" charset="-120"/>
              </a:rPr>
              <a:t>EVERY QUARTER</a:t>
            </a:r>
            <a:endParaRPr lang="en-US" sz="1196" dirty="0"/>
          </a:p>
        </p:txBody>
      </p:sp>
      <p:sp>
        <p:nvSpPr>
          <p:cNvPr id="3" name="Text 1"/>
          <p:cNvSpPr/>
          <p:nvPr/>
        </p:nvSpPr>
        <p:spPr>
          <a:xfrm>
            <a:off x="812800" y="1276449"/>
            <a:ext cx="10883392" cy="437158"/>
          </a:xfrm>
          <a:prstGeom prst="rect">
            <a:avLst/>
          </a:prstGeom>
          <a:noFill/>
          <a:ln/>
        </p:spPr>
        <p:txBody>
          <a:bodyPr wrap="square" lIns="0" tIns="0" rIns="0" bIns="0" rtlCol="0" anchor="t">
            <a:normAutofit/>
          </a:bodyPr>
          <a:lstStyle/>
          <a:p>
            <a:pPr algn="l" indent="0" marL="0">
              <a:lnSpc>
                <a:spcPts val="3269"/>
              </a:lnSpc>
              <a:buNone/>
            </a:pPr>
            <a:r>
              <a:rPr lang="en-US" sz="2972" b="1" dirty="0">
                <a:solidFill>
                  <a:srgbClr val="18212C"/>
                </a:solidFill>
                <a:latin typeface="Arial" pitchFamily="34" charset="0"/>
                <a:ea typeface="Arial" pitchFamily="34" charset="-122"/>
                <a:cs typeface="Arial" pitchFamily="34" charset="-120"/>
              </a:rPr>
              <a:t>Scheduled, not remembered</a:t>
            </a:r>
            <a:endParaRPr lang="en-US" sz="2972" dirty="0"/>
          </a:p>
        </p:txBody>
      </p:sp>
      <p:sp>
        <p:nvSpPr>
          <p:cNvPr id="4" name="Shape 2"/>
          <p:cNvSpPr/>
          <p:nvPr/>
        </p:nvSpPr>
        <p:spPr>
          <a:xfrm>
            <a:off x="812800" y="1942207"/>
            <a:ext cx="3810000" cy="2034282"/>
          </a:xfrm>
          <a:prstGeom prst="roundRect">
            <a:avLst>
              <a:gd name="adj" fmla="val 4994"/>
            </a:avLst>
          </a:prstGeom>
          <a:solidFill>
            <a:srgbClr val="14202B"/>
          </a:solidFill>
          <a:ln/>
        </p:spPr>
      </p:sp>
      <p:sp>
        <p:nvSpPr>
          <p:cNvPr id="5" name="Text 3"/>
          <p:cNvSpPr/>
          <p:nvPr/>
        </p:nvSpPr>
        <p:spPr>
          <a:xfrm>
            <a:off x="1041400" y="2170807"/>
            <a:ext cx="3453384"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FCFC0"/>
                </a:solidFill>
                <a:latin typeface="Courier New" pitchFamily="49" charset="0"/>
                <a:ea typeface="Courier New" pitchFamily="49" charset="-122"/>
                <a:cs typeface="Courier New" pitchFamily="49" charset="-120"/>
              </a:rPr>
              <a:t>quarterly-compliance</a:t>
            </a:r>
            <a:endParaRPr lang="en-US" sz="1300" dirty="0"/>
          </a:p>
        </p:txBody>
      </p:sp>
      <p:sp>
        <p:nvSpPr>
          <p:cNvPr id="6" name="Text 4"/>
          <p:cNvSpPr/>
          <p:nvPr/>
        </p:nvSpPr>
        <p:spPr>
          <a:xfrm>
            <a:off x="1041400" y="2478088"/>
            <a:ext cx="3453384" cy="327620"/>
          </a:xfrm>
          <a:prstGeom prst="rect">
            <a:avLst/>
          </a:prstGeom>
          <a:noFill/>
          <a:ln/>
        </p:spPr>
        <p:txBody>
          <a:bodyPr wrap="square" lIns="0" tIns="0" rIns="0" bIns="0" rtlCol="0" anchor="t">
            <a:normAutofit/>
          </a:bodyPr>
          <a:lstStyle/>
          <a:p>
            <a:pPr algn="l" indent="0" marL="0">
              <a:lnSpc>
                <a:spcPts val="2380"/>
              </a:lnSpc>
              <a:buNone/>
            </a:pPr>
            <a:r>
              <a:rPr lang="en-US" sz="1700" dirty="0">
                <a:solidFill>
                  <a:srgbClr val="F5F6F8"/>
                </a:solidFill>
                <a:latin typeface="Courier New" pitchFamily="49" charset="0"/>
                <a:ea typeface="Courier New" pitchFamily="49" charset="-122"/>
                <a:cs typeface="Courier New" pitchFamily="49" charset="-120"/>
              </a:rPr>
              <a:t>0 5 1 1,4,7,10 *</a:t>
            </a:r>
            <a:endParaRPr lang="en-US" sz="1700" dirty="0"/>
          </a:p>
        </p:txBody>
      </p:sp>
      <p:sp>
        <p:nvSpPr>
          <p:cNvPr id="7" name="Text 5"/>
          <p:cNvSpPr/>
          <p:nvPr/>
        </p:nvSpPr>
        <p:spPr>
          <a:xfrm>
            <a:off x="1041400" y="2856508"/>
            <a:ext cx="3453384"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BFC8D2"/>
                </a:solidFill>
                <a:latin typeface="Arial" pitchFamily="34" charset="0"/>
                <a:ea typeface="Arial" pitchFamily="34" charset="-122"/>
                <a:cs typeface="Arial" pitchFamily="34" charset="-120"/>
              </a:rPr>
              <a:t>05:00 New York time on 1 January, April, July and October; every run kept 2,555 days, about seven years, and the newest 12 per cluster beyond that.</a:t>
            </a:r>
            <a:endParaRPr lang="en-US" sz="1300" dirty="0"/>
          </a:p>
        </p:txBody>
      </p:sp>
      <p:sp>
        <p:nvSpPr>
          <p:cNvPr id="8" name="Shape 6"/>
          <p:cNvSpPr/>
          <p:nvPr/>
        </p:nvSpPr>
        <p:spPr>
          <a:xfrm>
            <a:off x="850900" y="4128889"/>
            <a:ext cx="0" cy="445691"/>
          </a:xfrm>
          <a:prstGeom prst="line">
            <a:avLst/>
          </a:prstGeom>
          <a:noFill/>
          <a:ln w="76200">
            <a:solidFill>
              <a:srgbClr val="0E6F68"/>
            </a:solidFill>
            <a:prstDash val="solid"/>
          </a:ln>
        </p:spPr>
      </p:sp>
      <p:sp>
        <p:nvSpPr>
          <p:cNvPr id="9" name="Text 7"/>
          <p:cNvSpPr/>
          <p:nvPr/>
        </p:nvSpPr>
        <p:spPr>
          <a:xfrm>
            <a:off x="1041400" y="4128889"/>
            <a:ext cx="368884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Each scheduled run can send one CloudEvent to a webhook.</a:t>
            </a:r>
            <a:endParaRPr lang="en-US" sz="1300" dirty="0"/>
          </a:p>
        </p:txBody>
      </p:sp>
      <p:sp>
        <p:nvSpPr>
          <p:cNvPr id="10" name="Shape 8"/>
          <p:cNvSpPr/>
          <p:nvPr/>
        </p:nvSpPr>
        <p:spPr>
          <a:xfrm>
            <a:off x="850900" y="4726980"/>
            <a:ext cx="0" cy="222845"/>
          </a:xfrm>
          <a:prstGeom prst="line">
            <a:avLst/>
          </a:prstGeom>
          <a:noFill/>
          <a:ln w="76200">
            <a:solidFill>
              <a:srgbClr val="B3261E"/>
            </a:solidFill>
            <a:prstDash val="solid"/>
          </a:ln>
        </p:spPr>
      </p:sp>
      <p:sp>
        <p:nvSpPr>
          <p:cNvPr id="11" name="Text 9"/>
          <p:cNvSpPr/>
          <p:nvPr/>
        </p:nvSpPr>
        <p:spPr>
          <a:xfrm>
            <a:off x="1041400" y="4726980"/>
            <a:ext cx="3688842"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An alert fires when a schedule runs late.</a:t>
            </a:r>
            <a:endParaRPr lang="en-US" sz="1300" dirty="0"/>
          </a:p>
        </p:txBody>
      </p:sp>
      <p:sp>
        <p:nvSpPr>
          <p:cNvPr id="12" name="Shape 10"/>
          <p:cNvSpPr/>
          <p:nvPr/>
        </p:nvSpPr>
        <p:spPr>
          <a:xfrm>
            <a:off x="4978400" y="1942207"/>
            <a:ext cx="6350000" cy="3968750"/>
          </a:xfrm>
          <a:prstGeom prst="roundRect">
            <a:avLst>
              <a:gd name="adj" fmla="val 1920"/>
            </a:avLst>
          </a:prstGeom>
          <a:solidFill>
            <a:srgbClr val="FFFFFF"/>
          </a:solidFill>
          <a:ln/>
        </p:spPr>
      </p:sp>
      <p:pic>
        <p:nvPicPr>
          <p:cNvPr id="13" name="Image 0" descr="The Library tab in the light theme: 24 runs, 4 schedules, 2 paused; each schedule's runs by cluster, with their files and how long each is kept.">    </p:cNvPr>
          <p:cNvPicPr>
            <a:picLocks noChangeAspect="1"/>
          </p:cNvPicPr>
          <p:nvPr/>
        </p:nvPicPr>
        <p:blipFill>
          <a:blip r:embed="rId1"/>
          <a:srcRect l="-60" r="-60" t="0" b="0"/>
          <a:stretch/>
        </p:blipFill>
        <p:spPr>
          <a:xfrm>
            <a:off x="4984750" y="1948557"/>
            <a:ext cx="6337300" cy="3956050"/>
          </a:xfrm>
          <a:prstGeom prst="roundRect">
            <a:avLst>
              <a:gd name="adj" fmla="val 1766"/>
            </a:avLst>
          </a:prstGeom>
        </p:spPr>
      </p:pic>
      <p:sp>
        <p:nvSpPr>
          <p:cNvPr id="14" name="Shape 11"/>
          <p:cNvSpPr/>
          <p:nvPr/>
        </p:nvSpPr>
        <p:spPr>
          <a:xfrm>
            <a:off x="4981575" y="1945382"/>
            <a:ext cx="6343650" cy="3962400"/>
          </a:xfrm>
          <a:prstGeom prst="roundRect">
            <a:avLst>
              <a:gd name="adj" fmla="val 1843"/>
            </a:avLst>
          </a:prstGeom>
          <a:noFill/>
          <a:ln w="6350">
            <a:solidFill>
              <a:srgbClr val="D7DCE3"/>
            </a:solidFill>
            <a:prstDash val="solid"/>
          </a:ln>
        </p:spPr>
      </p:sp>
      <p:sp>
        <p:nvSpPr>
          <p:cNvPr id="15" name="Text 12"/>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Screenshot: Library, light theme, the lab at 5.8.0 · environments/crc.yaml (the quarterly schedule)</a:t>
            </a:r>
            <a:endParaRPr lang="en-US" sz="1200" dirty="0"/>
          </a:p>
        </p:txBody>
      </p:sp>
      <p:sp>
        <p:nvSpPr>
          <p:cNvPr id="16" name="Text 13"/>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16 / 26</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02B"/>
        </a:solidFill>
      </p:bgPr>
    </p:bg>
    <p:spTree>
      <p:nvGrpSpPr>
        <p:cNvPr id="1" name=""/>
        <p:cNvGrpSpPr/>
        <p:nvPr/>
      </p:nvGrpSpPr>
      <p:grpSpPr>
        <a:xfrm>
          <a:off x="0" y="0"/>
          <a:ext cx="0" cy="0"/>
          <a:chOff x="0" y="0"/>
          <a:chExt cx="0" cy="0"/>
        </a:xfrm>
      </p:grpSpPr>
      <p:sp>
        <p:nvSpPr>
          <p:cNvPr id="2" name="Text 0"/>
          <p:cNvSpPr/>
          <p:nvPr/>
        </p:nvSpPr>
        <p:spPr>
          <a:xfrm>
            <a:off x="812800" y="250825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spc="200" kern="0" dirty="0">
                <a:solidFill>
                  <a:srgbClr val="3FCFC0"/>
                </a:solidFill>
                <a:latin typeface="Courier New" pitchFamily="49" charset="0"/>
                <a:ea typeface="Courier New" pitchFamily="49" charset="-122"/>
                <a:cs typeface="Courier New" pitchFamily="49" charset="-120"/>
              </a:rPr>
              <a:t>PART 2</a:t>
            </a:r>
            <a:endParaRPr lang="en-US" sz="1400" dirty="0"/>
          </a:p>
        </p:txBody>
      </p:sp>
      <p:sp>
        <p:nvSpPr>
          <p:cNvPr id="3" name="Text 1"/>
          <p:cNvSpPr/>
          <p:nvPr/>
        </p:nvSpPr>
        <p:spPr>
          <a:xfrm>
            <a:off x="812800" y="2960291"/>
            <a:ext cx="10883392" cy="665460"/>
          </a:xfrm>
          <a:prstGeom prst="rect">
            <a:avLst/>
          </a:prstGeom>
          <a:noFill/>
          <a:ln/>
        </p:spPr>
        <p:txBody>
          <a:bodyPr wrap="square" lIns="0" tIns="0" rIns="0" bIns="0" rtlCol="0" anchor="t">
            <a:normAutofit/>
          </a:bodyPr>
          <a:lstStyle/>
          <a:p>
            <a:pPr algn="l" indent="0" marL="0">
              <a:lnSpc>
                <a:spcPts val="5040"/>
              </a:lnSpc>
              <a:buNone/>
            </a:pPr>
            <a:r>
              <a:rPr lang="en-US" sz="4800" b="1" dirty="0">
                <a:solidFill>
                  <a:srgbClr val="F5F6F8"/>
                </a:solidFill>
                <a:latin typeface="Arial" pitchFamily="34" charset="0"/>
                <a:ea typeface="Arial" pitchFamily="34" charset="-122"/>
                <a:cs typeface="Arial" pitchFamily="34" charset="-120"/>
              </a:rPr>
              <a:t>How it works</a:t>
            </a:r>
            <a:endParaRPr lang="en-US" sz="4800" dirty="0"/>
          </a:p>
        </p:txBody>
      </p:sp>
      <p:sp>
        <p:nvSpPr>
          <p:cNvPr id="4" name="Text 2"/>
          <p:cNvSpPr/>
          <p:nvPr/>
        </p:nvSpPr>
        <p:spPr>
          <a:xfrm>
            <a:off x="812800" y="3803551"/>
            <a:ext cx="10883392" cy="3683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BFC8D2"/>
                </a:solidFill>
                <a:latin typeface="Arial" pitchFamily="34" charset="0"/>
                <a:ea typeface="Arial" pitchFamily="34" charset="-122"/>
                <a:cs typeface="Arial" pitchFamily="34" charset="-120"/>
              </a:rPr>
              <a:t>Read-only by design: it reads clusters, and it never changes anyone's access.</a:t>
            </a:r>
            <a:endParaRPr lang="en-US" sz="2000" dirty="0"/>
          </a:p>
        </p:txBody>
      </p:sp>
      <p:sp>
        <p:nvSpPr>
          <p:cNvPr id="5" name="Text 3"/>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E5E9EF"/>
                </a:solidFill>
                <a:latin typeface="Arial" pitchFamily="34" charset="0"/>
                <a:ea typeface="Arial" pitchFamily="34" charset="-122"/>
                <a:cs typeface="Arial" pitchFamily="34" charset="-120"/>
              </a:rPr>
              <a:t>17 / 26</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E6F68"/>
                </a:solidFill>
                <a:latin typeface="Courier New" pitchFamily="49" charset="0"/>
                <a:ea typeface="Courier New" pitchFamily="49" charset="-122"/>
                <a:cs typeface="Courier New" pitchFamily="49" charset="-120"/>
              </a:rPr>
              <a:t>ACCESS TIERS</a:t>
            </a:r>
            <a:endParaRPr lang="en-US" sz="1200" dirty="0"/>
          </a:p>
        </p:txBody>
      </p:sp>
      <p:sp>
        <p:nvSpPr>
          <p:cNvPr id="3" name="Text 1"/>
          <p:cNvSpPr/>
          <p:nvPr/>
        </p:nvSpPr>
        <p:spPr>
          <a:xfrm>
            <a:off x="812800" y="12801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8212C"/>
                </a:solidFill>
                <a:latin typeface="Arial" pitchFamily="34" charset="0"/>
                <a:ea typeface="Arial" pitchFamily="34" charset="-122"/>
                <a:cs typeface="Arial" pitchFamily="34" charset="-120"/>
              </a:rPr>
              <a:t>Who sees what: the cluster decides</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65920"/>
          <a:ext cx="10553700" cy="2676327"/>
        </p:xfrm>
        <a:graphic>
          <a:graphicData uri="http://schemas.openxmlformats.org/drawingml/2006/table">
            <a:tbl>
              <a:tblPr/>
              <a:tblGrid>
                <a:gridCol w="2110740"/>
                <a:gridCol w="4010406"/>
                <a:gridCol w="4432554"/>
              </a:tblGrid>
              <a:tr h="385961">
                <a:tc>
                  <a:txBody>
                    <a:bodyPr/>
                    <a:lstStyle/>
                    <a:p>
                      <a:pPr indent="0" marL="0">
                        <a:lnSpc>
                          <a:spcPts val="1960"/>
                        </a:lnSpc>
                        <a:buNone/>
                      </a:pPr>
                      <a:r>
                        <a:rPr lang="en-US" sz="1400" b="1" dirty="0">
                          <a:solidFill>
                            <a:srgbClr val="18212C"/>
                          </a:solidFill>
                          <a:latin typeface="Arial" pitchFamily="34" charset="0"/>
                          <a:ea typeface="Arial" pitchFamily="34" charset="-122"/>
                          <a:cs typeface="Arial" pitchFamily="34" charset="-120"/>
                        </a:rPr>
                        <a:t>Tier</a:t>
                      </a:r>
                      <a:endParaRPr lang="en-US" sz="1400" dirty="0">
                        <a:latin typeface="Arial" charset="0"/>
                        <a:ea typeface="Arial" charset="0"/>
                        <a:cs typeface="Arial" charset="0"/>
                      </a:endParaRPr>
                    </a:p>
                  </a:txBody>
                  <a:tcPr marL="62230" marR="62230" marT="62230" marB="62230" anchor="t">
                    <a:lnL w="12700" cap="flat" cmpd="sng" algn="ctr">
                      <a:solidFill>
                        <a:srgbClr val="C4C4C6"/>
                      </a:solidFill>
                      <a:prstDash val="solid"/>
                      <a:round/>
                      <a:headEnd type="none" w="med" len="med"/>
                      <a:tailEnd type="none" w="med" len="med"/>
                    </a:lnL>
                    <a:lnR w="12700" cap="flat" cmpd="sng" algn="ctr">
                      <a:solidFill>
                        <a:srgbClr val="B5B6B8"/>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B5B6B8"/>
                      </a:solidFill>
                      <a:prstDash val="solid"/>
                      <a:round/>
                      <a:headEnd type="none" w="med" len="med"/>
                      <a:tailEnd type="none" w="med" len="med"/>
                    </a:lnB>
                    <a:solidFill>
                      <a:srgbClr val="E3E4E6"/>
                    </a:solidFill>
                  </a:tcPr>
                </a:tc>
                <a:tc>
                  <a:txBody>
                    <a:bodyPr/>
                    <a:lstStyle/>
                    <a:p>
                      <a:pPr indent="0" marL="0">
                        <a:lnSpc>
                          <a:spcPts val="1960"/>
                        </a:lnSpc>
                        <a:buNone/>
                      </a:pPr>
                      <a:r>
                        <a:rPr lang="en-US" sz="1400" b="1" dirty="0">
                          <a:solidFill>
                            <a:srgbClr val="18212C"/>
                          </a:solidFill>
                          <a:latin typeface="Arial" pitchFamily="34" charset="0"/>
                          <a:ea typeface="Arial" pitchFamily="34" charset="-122"/>
                          <a:cs typeface="Arial" pitchFamily="34" charset="-120"/>
                        </a:rPr>
                        <a:t>Who has it</a:t>
                      </a:r>
                      <a:endParaRPr lang="en-US" sz="1400" dirty="0">
                        <a:latin typeface="Arial" charset="0"/>
                        <a:ea typeface="Arial" charset="0"/>
                        <a:cs typeface="Arial" charset="0"/>
                      </a:endParaRPr>
                    </a:p>
                  </a:txBody>
                  <a:tcPr marL="62230" marR="62230" marT="62230" marB="62230" anchor="t">
                    <a:lnL w="12700" cap="flat" cmpd="sng" algn="ctr">
                      <a:solidFill>
                        <a:srgbClr val="B5B6B8"/>
                      </a:solidFill>
                      <a:prstDash val="solid"/>
                      <a:round/>
                      <a:headEnd type="none" w="med" len="med"/>
                      <a:tailEnd type="none" w="med" len="med"/>
                    </a:lnL>
                    <a:lnR w="12700" cap="flat" cmpd="sng" algn="ctr">
                      <a:solidFill>
                        <a:srgbClr val="B5B6B8"/>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B5B6B8"/>
                      </a:solidFill>
                      <a:prstDash val="solid"/>
                      <a:round/>
                      <a:headEnd type="none" w="med" len="med"/>
                      <a:tailEnd type="none" w="med" len="med"/>
                    </a:lnB>
                    <a:solidFill>
                      <a:srgbClr val="E3E4E6"/>
                    </a:solidFill>
                  </a:tcPr>
                </a:tc>
                <a:tc>
                  <a:txBody>
                    <a:bodyPr/>
                    <a:lstStyle/>
                    <a:p>
                      <a:pPr indent="0" marL="0">
                        <a:lnSpc>
                          <a:spcPts val="1960"/>
                        </a:lnSpc>
                        <a:buNone/>
                      </a:pPr>
                      <a:r>
                        <a:rPr lang="en-US" sz="1400" b="1" dirty="0">
                          <a:solidFill>
                            <a:srgbClr val="18212C"/>
                          </a:solidFill>
                          <a:latin typeface="Arial" pitchFamily="34" charset="0"/>
                          <a:ea typeface="Arial" pitchFamily="34" charset="-122"/>
                          <a:cs typeface="Arial" pitchFamily="34" charset="-120"/>
                        </a:rPr>
                        <a:t>What they see</a:t>
                      </a:r>
                      <a:endParaRPr lang="en-US" sz="1400" dirty="0">
                        <a:latin typeface="Arial" charset="0"/>
                        <a:ea typeface="Arial" charset="0"/>
                        <a:cs typeface="Arial" charset="0"/>
                      </a:endParaRPr>
                    </a:p>
                  </a:txBody>
                  <a:tcPr marL="62230" marR="62230" marT="62230" marB="62230" anchor="t">
                    <a:lnL w="12700" cap="flat" cmpd="sng" algn="ctr">
                      <a:solidFill>
                        <a:srgbClr val="B5B6B8"/>
                      </a:solidFill>
                      <a:prstDash val="solid"/>
                      <a:round/>
                      <a:headEnd type="none" w="med" len="med"/>
                      <a:tailEnd type="none" w="med" len="med"/>
                    </a:lnL>
                    <a:lnR w="12700" cap="flat" cmpd="sng" algn="ctr">
                      <a:solidFill>
                        <a:srgbClr val="B5B6B8"/>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B5B6B8"/>
                      </a:solidFill>
                      <a:prstDash val="solid"/>
                      <a:round/>
                      <a:headEnd type="none" w="med" len="med"/>
                      <a:tailEnd type="none" w="med" len="med"/>
                    </a:lnB>
                    <a:solidFill>
                      <a:srgbClr val="E3E4E6"/>
                    </a:solidFill>
                  </a:tcPr>
                </a:tc>
              </a:tr>
              <a:tr h="385961">
                <a:tc>
                  <a:txBody>
                    <a:bodyPr/>
                    <a:lstStyle/>
                    <a:p>
                      <a:pPr indent="0" marL="0">
                        <a:lnSpc>
                          <a:spcPts val="1960"/>
                        </a:lnSpc>
                        <a:buNone/>
                      </a:pPr>
                      <a:r>
                        <a:rPr lang="en-US" sz="1400" dirty="0">
                          <a:solidFill>
                            <a:srgbClr val="0E6F68"/>
                          </a:solidFill>
                          <a:latin typeface="Arial" pitchFamily="34" charset="0"/>
                          <a:ea typeface="Arial" pitchFamily="34" charset="-122"/>
                          <a:cs typeface="Arial" pitchFamily="34" charset="-120"/>
                        </a:rPr>
                        <a:t>Self</a:t>
                      </a:r>
                      <a:endParaRPr lang="en-US" sz="1400" dirty="0">
                        <a:latin typeface="Arial" charset="0"/>
                        <a:ea typeface="Arial" charset="0"/>
                        <a:cs typeface="Arial" charset="0"/>
                      </a:endParaRPr>
                    </a:p>
                  </a:txBody>
                  <a:tcPr marL="62230" marR="62230" marT="62230" marB="62230" anchor="t">
                    <a:lnL w="12700" cap="flat" cmpd="sng" algn="ctr">
                      <a:solidFill>
                        <a:srgbClr val="C4C4C6"/>
                      </a:solidFill>
                      <a:prstDash val="solid"/>
                      <a:round/>
                      <a:headEnd type="none" w="med" len="med"/>
                      <a:tailEnd type="none" w="med" len="med"/>
                    </a:lnL>
                    <a:lnR w="12700" cap="flat" cmpd="sng" algn="ctr">
                      <a:solidFill>
                        <a:srgbClr val="C4C4C6"/>
                      </a:solidFill>
                      <a:prstDash val="solid"/>
                      <a:round/>
                      <a:headEnd type="none" w="med" len="med"/>
                      <a:tailEnd type="none" w="med" len="med"/>
                    </a:lnR>
                    <a:lnT w="12700" cap="flat" cmpd="sng" algn="ctr">
                      <a:solidFill>
                        <a:srgbClr val="B5B6B8"/>
                      </a:solidFill>
                      <a:prstDash val="solid"/>
                      <a:round/>
                      <a:headEnd type="none" w="med" len="med"/>
                      <a:tailEnd type="none" w="med" len="med"/>
                    </a:lnT>
                    <a:lnB w="12700" cap="flat" cmpd="sng" algn="ctr">
                      <a:solidFill>
                        <a:srgbClr val="C4C4C6"/>
                      </a:solidFill>
                      <a:prstDash val="solid"/>
                      <a:round/>
                      <a:headEnd type="none" w="med" len="med"/>
                      <a:tailEnd type="none" w="med" len="med"/>
                    </a:lnB>
                  </a:tcPr>
                </a:tc>
                <a:tc>
                  <a:txBody>
                    <a:bodyPr/>
                    <a:lstStyle/>
                    <a:p>
                      <a:pPr indent="0" marL="0">
                        <a:lnSpc>
                          <a:spcPts val="1960"/>
                        </a:lnSpc>
                        <a:buNone/>
                      </a:pPr>
                      <a:r>
                        <a:rPr lang="en-US" sz="1400" dirty="0">
                          <a:solidFill>
                            <a:srgbClr val="18212C"/>
                          </a:solidFill>
                          <a:latin typeface="Arial" pitchFamily="34" charset="0"/>
                          <a:ea typeface="Arial" pitchFamily="34" charset="-122"/>
                          <a:cs typeface="Arial" pitchFamily="34" charset="-120"/>
                        </a:rPr>
                        <a:t>Everyone who can sign in</a:t>
                      </a:r>
                      <a:endParaRPr lang="en-US" sz="1400" dirty="0">
                        <a:latin typeface="Arial" charset="0"/>
                        <a:ea typeface="Arial" charset="0"/>
                        <a:cs typeface="Arial" charset="0"/>
                      </a:endParaRPr>
                    </a:p>
                  </a:txBody>
                  <a:tcPr marL="62230" marR="62230" marT="62230" marB="62230" anchor="t">
                    <a:lnL w="12700" cap="flat" cmpd="sng" algn="ctr">
                      <a:solidFill>
                        <a:srgbClr val="C4C4C6"/>
                      </a:solidFill>
                      <a:prstDash val="solid"/>
                      <a:round/>
                      <a:headEnd type="none" w="med" len="med"/>
                      <a:tailEnd type="none" w="med" len="med"/>
                    </a:lnL>
                    <a:lnR w="12700" cap="flat" cmpd="sng" algn="ctr">
                      <a:solidFill>
                        <a:srgbClr val="C4C4C6"/>
                      </a:solidFill>
                      <a:prstDash val="solid"/>
                      <a:round/>
                      <a:headEnd type="none" w="med" len="med"/>
                      <a:tailEnd type="none" w="med" len="med"/>
                    </a:lnR>
                    <a:lnT w="12700" cap="flat" cmpd="sng" algn="ctr">
                      <a:solidFill>
                        <a:srgbClr val="B5B6B8"/>
                      </a:solidFill>
                      <a:prstDash val="solid"/>
                      <a:round/>
                      <a:headEnd type="none" w="med" len="med"/>
                      <a:tailEnd type="none" w="med" len="med"/>
                    </a:lnT>
                    <a:lnB w="12700" cap="flat" cmpd="sng" algn="ctr">
                      <a:solidFill>
                        <a:srgbClr val="C4C4C6"/>
                      </a:solidFill>
                      <a:prstDash val="solid"/>
                      <a:round/>
                      <a:headEnd type="none" w="med" len="med"/>
                      <a:tailEnd type="none" w="med" len="med"/>
                    </a:lnB>
                  </a:tcPr>
                </a:tc>
                <a:tc>
                  <a:txBody>
                    <a:bodyPr/>
                    <a:lstStyle/>
                    <a:p>
                      <a:pPr indent="0" marL="0">
                        <a:lnSpc>
                          <a:spcPts val="1960"/>
                        </a:lnSpc>
                        <a:buNone/>
                      </a:pPr>
                      <a:r>
                        <a:rPr lang="en-US" sz="1400" dirty="0">
                          <a:solidFill>
                            <a:srgbClr val="18212C"/>
                          </a:solidFill>
                          <a:latin typeface="Arial" pitchFamily="34" charset="0"/>
                          <a:ea typeface="Arial" pitchFamily="34" charset="-122"/>
                          <a:cs typeface="Arial" pitchFamily="34" charset="-120"/>
                        </a:rPr>
                        <a:t>Their own access: Home, and their own rows</a:t>
                      </a:r>
                      <a:endParaRPr lang="en-US" sz="1400" dirty="0">
                        <a:latin typeface="Arial" charset="0"/>
                        <a:ea typeface="Arial" charset="0"/>
                        <a:cs typeface="Arial" charset="0"/>
                      </a:endParaRPr>
                    </a:p>
                  </a:txBody>
                  <a:tcPr marL="62230" marR="62230" marT="62230" marB="62230" anchor="t">
                    <a:lnL w="12700" cap="flat" cmpd="sng" algn="ctr">
                      <a:solidFill>
                        <a:srgbClr val="C4C4C6"/>
                      </a:solidFill>
                      <a:prstDash val="solid"/>
                      <a:round/>
                      <a:headEnd type="none" w="med" len="med"/>
                      <a:tailEnd type="none" w="med" len="med"/>
                    </a:lnL>
                    <a:lnR w="12700" cap="flat" cmpd="sng" algn="ctr">
                      <a:solidFill>
                        <a:srgbClr val="C4C4C6"/>
                      </a:solidFill>
                      <a:prstDash val="solid"/>
                      <a:round/>
                      <a:headEnd type="none" w="med" len="med"/>
                      <a:tailEnd type="none" w="med" len="med"/>
                    </a:lnR>
                    <a:lnT w="12700" cap="flat" cmpd="sng" algn="ctr">
                      <a:solidFill>
                        <a:srgbClr val="B5B6B8"/>
                      </a:solidFill>
                      <a:prstDash val="solid"/>
                      <a:round/>
                      <a:headEnd type="none" w="med" len="med"/>
                      <a:tailEnd type="none" w="med" len="med"/>
                    </a:lnT>
                    <a:lnB w="12700" cap="flat" cmpd="sng" algn="ctr">
                      <a:solidFill>
                        <a:srgbClr val="C4C4C6"/>
                      </a:solidFill>
                      <a:prstDash val="solid"/>
                      <a:round/>
                      <a:headEnd type="none" w="med" len="med"/>
                      <a:tailEnd type="none" w="med" len="med"/>
                    </a:lnB>
                  </a:tcPr>
                </a:tc>
              </a:tr>
              <a:tr h="634802">
                <a:tc>
                  <a:txBody>
                    <a:bodyPr/>
                    <a:lstStyle/>
                    <a:p>
                      <a:pPr indent="0" marL="0">
                        <a:lnSpc>
                          <a:spcPts val="1960"/>
                        </a:lnSpc>
                        <a:buNone/>
                      </a:pPr>
                      <a:r>
                        <a:rPr lang="en-US" sz="1400" dirty="0">
                          <a:solidFill>
                            <a:srgbClr val="A55A0B"/>
                          </a:solidFill>
                          <a:latin typeface="Arial" pitchFamily="34" charset="0"/>
                          <a:ea typeface="Arial" pitchFamily="34" charset="-122"/>
                          <a:cs typeface="Arial" pitchFamily="34" charset="-120"/>
                        </a:rPr>
                        <a:t>Auditor</a:t>
                      </a:r>
                      <a:endParaRPr lang="en-US" sz="1400" dirty="0">
                        <a:latin typeface="Arial" charset="0"/>
                        <a:ea typeface="Arial" charset="0"/>
                        <a:cs typeface="Arial" charset="0"/>
                      </a:endParaRPr>
                    </a:p>
                  </a:txBody>
                  <a:tcPr marL="62230" marR="62230" marT="62230" marB="62230" anchor="t">
                    <a:lnL w="12700" cap="flat" cmpd="sng" algn="ctr">
                      <a:solidFill>
                        <a:srgbClr val="C4C4C6"/>
                      </a:solidFill>
                      <a:prstDash val="solid"/>
                      <a:round/>
                      <a:headEnd type="none" w="med" len="med"/>
                      <a:tailEnd type="none" w="med" len="med"/>
                    </a:lnL>
                    <a:lnR w="12700" cap="flat" cmpd="sng" algn="ctr">
                      <a:solidFill>
                        <a:srgbClr val="BEC0C2"/>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BEC0C2"/>
                      </a:solidFill>
                      <a:prstDash val="solid"/>
                      <a:round/>
                      <a:headEnd type="none" w="med" len="med"/>
                      <a:tailEnd type="none" w="med" len="med"/>
                    </a:lnB>
                    <a:solidFill>
                      <a:srgbClr val="EEF0F3"/>
                    </a:solidFill>
                  </a:tcPr>
                </a:tc>
                <a:tc>
                  <a:txBody>
                    <a:bodyPr/>
                    <a:lstStyle/>
                    <a:p>
                      <a:pPr indent="0" marL="0">
                        <a:lnSpc>
                          <a:spcPts val="1960"/>
                        </a:lnSpc>
                        <a:buNone/>
                      </a:pPr>
                      <a:r>
                        <a:rPr lang="en-US" sz="1400" dirty="0">
                          <a:solidFill>
                            <a:srgbClr val="18212C"/>
                          </a:solidFill>
                          <a:latin typeface="Arial" pitchFamily="34" charset="0"/>
                          <a:ea typeface="Arial" pitchFamily="34" charset="-122"/>
                          <a:cs typeface="Arial" pitchFamily="34" charset="-120"/>
                        </a:rPr>
                        <a:t>Can list clusterrolebindings, for example through an auditor group</a:t>
                      </a:r>
                      <a:endParaRPr lang="en-US" sz="1400" dirty="0">
                        <a:latin typeface="Arial" charset="0"/>
                        <a:ea typeface="Arial" charset="0"/>
                        <a:cs typeface="Arial" charset="0"/>
                      </a:endParaRPr>
                    </a:p>
                  </a:txBody>
                  <a:tcPr marL="62230" marR="62230" marT="62230" marB="62230" anchor="t">
                    <a:lnL w="12700" cap="flat" cmpd="sng" algn="ctr">
                      <a:solidFill>
                        <a:srgbClr val="BEC0C2"/>
                      </a:solidFill>
                      <a:prstDash val="solid"/>
                      <a:round/>
                      <a:headEnd type="none" w="med" len="med"/>
                      <a:tailEnd type="none" w="med" len="med"/>
                    </a:lnL>
                    <a:lnR w="12700" cap="flat" cmpd="sng" algn="ctr">
                      <a:solidFill>
                        <a:srgbClr val="BEC0C2"/>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BEC0C2"/>
                      </a:solidFill>
                      <a:prstDash val="solid"/>
                      <a:round/>
                      <a:headEnd type="none" w="med" len="med"/>
                      <a:tailEnd type="none" w="med" len="med"/>
                    </a:lnB>
                    <a:solidFill>
                      <a:srgbClr val="EEF0F3"/>
                    </a:solidFill>
                  </a:tcPr>
                </a:tc>
                <a:tc>
                  <a:txBody>
                    <a:bodyPr/>
                    <a:lstStyle/>
                    <a:p>
                      <a:pPr indent="0" marL="0">
                        <a:lnSpc>
                          <a:spcPts val="1960"/>
                        </a:lnSpc>
                        <a:buNone/>
                      </a:pPr>
                      <a:r>
                        <a:rPr lang="en-US" sz="1400" dirty="0">
                          <a:solidFill>
                            <a:srgbClr val="18212C"/>
                          </a:solidFill>
                          <a:latin typeface="Arial" pitchFamily="34" charset="0"/>
                          <a:ea typeface="Arial" pitchFamily="34" charset="-122"/>
                          <a:cs typeface="Arial" pitchFamily="34" charset="-120"/>
                        </a:rPr>
                        <a:t>Every cluster-wide audit view, Reports and Library; Usage stays their own</a:t>
                      </a:r>
                      <a:endParaRPr lang="en-US" sz="1400" dirty="0">
                        <a:latin typeface="Arial" charset="0"/>
                        <a:ea typeface="Arial" charset="0"/>
                        <a:cs typeface="Arial" charset="0"/>
                      </a:endParaRPr>
                    </a:p>
                  </a:txBody>
                  <a:tcPr marL="62230" marR="62230" marT="62230" marB="62230" anchor="t">
                    <a:lnL w="12700" cap="flat" cmpd="sng" algn="ctr">
                      <a:solidFill>
                        <a:srgbClr val="BEC0C2"/>
                      </a:solidFill>
                      <a:prstDash val="solid"/>
                      <a:round/>
                      <a:headEnd type="none" w="med" len="med"/>
                      <a:tailEnd type="none" w="med" len="med"/>
                    </a:lnL>
                    <a:lnR w="12700" cap="flat" cmpd="sng" algn="ctr">
                      <a:solidFill>
                        <a:srgbClr val="BEC0C2"/>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BEC0C2"/>
                      </a:solidFill>
                      <a:prstDash val="solid"/>
                      <a:round/>
                      <a:headEnd type="none" w="med" len="med"/>
                      <a:tailEnd type="none" w="med" len="med"/>
                    </a:lnB>
                    <a:solidFill>
                      <a:srgbClr val="EEF0F3"/>
                    </a:solidFill>
                  </a:tcPr>
                </a:tc>
              </a:tr>
              <a:tr h="634802">
                <a:tc>
                  <a:txBody>
                    <a:bodyPr/>
                    <a:lstStyle/>
                    <a:p>
                      <a:pPr indent="0" marL="0">
                        <a:lnSpc>
                          <a:spcPts val="1960"/>
                        </a:lnSpc>
                        <a:buNone/>
                      </a:pPr>
                      <a:r>
                        <a:rPr lang="en-US" sz="1400" dirty="0">
                          <a:solidFill>
                            <a:srgbClr val="18212C"/>
                          </a:solidFill>
                          <a:latin typeface="Arial" pitchFamily="34" charset="0"/>
                          <a:ea typeface="Arial" pitchFamily="34" charset="-122"/>
                          <a:cs typeface="Arial" pitchFamily="34" charset="-120"/>
                        </a:rPr>
                        <a:t>Usage</a:t>
                      </a:r>
                      <a:endParaRPr lang="en-US" sz="1400" dirty="0">
                        <a:latin typeface="Arial" charset="0"/>
                        <a:ea typeface="Arial" charset="0"/>
                        <a:cs typeface="Arial" charset="0"/>
                      </a:endParaRPr>
                    </a:p>
                  </a:txBody>
                  <a:tcPr marL="62230" marR="62230" marT="62230" marB="62230" anchor="t">
                    <a:lnL w="12700" cap="flat" cmpd="sng" algn="ctr">
                      <a:solidFill>
                        <a:srgbClr val="C4C4C6"/>
                      </a:solidFill>
                      <a:prstDash val="solid"/>
                      <a:round/>
                      <a:headEnd type="none" w="med" len="med"/>
                      <a:tailEnd type="none" w="med" len="med"/>
                    </a:lnL>
                    <a:lnR w="12700" cap="flat" cmpd="sng" algn="ctr">
                      <a:solidFill>
                        <a:srgbClr val="C4C4C6"/>
                      </a:solidFill>
                      <a:prstDash val="solid"/>
                      <a:round/>
                      <a:headEnd type="none" w="med" len="med"/>
                      <a:tailEnd type="none" w="med" len="med"/>
                    </a:lnR>
                    <a:lnT w="12700" cap="flat" cmpd="sng" algn="ctr">
                      <a:solidFill>
                        <a:srgbClr val="BEC0C2"/>
                      </a:solidFill>
                      <a:prstDash val="solid"/>
                      <a:round/>
                      <a:headEnd type="none" w="med" len="med"/>
                      <a:tailEnd type="none" w="med" len="med"/>
                    </a:lnT>
                    <a:lnB w="12700" cap="flat" cmpd="sng" algn="ctr">
                      <a:solidFill>
                        <a:srgbClr val="C4C4C6"/>
                      </a:solidFill>
                      <a:prstDash val="solid"/>
                      <a:round/>
                      <a:headEnd type="none" w="med" len="med"/>
                      <a:tailEnd type="none" w="med" len="med"/>
                    </a:lnB>
                  </a:tcPr>
                </a:tc>
                <a:tc>
                  <a:txBody>
                    <a:bodyPr/>
                    <a:lstStyle/>
                    <a:p>
                      <a:pPr indent="0" marL="0">
                        <a:lnSpc>
                          <a:spcPts val="1960"/>
                        </a:lnSpc>
                        <a:buNone/>
                      </a:pPr>
                      <a:r>
                        <a:rPr lang="en-US" sz="1400" dirty="0">
                          <a:solidFill>
                            <a:srgbClr val="18212C"/>
                          </a:solidFill>
                          <a:latin typeface="Arial" pitchFamily="34" charset="0"/>
                          <a:ea typeface="Arial" pitchFamily="34" charset="-122"/>
                          <a:cs typeface="Arial" pitchFamily="34" charset="-120"/>
                        </a:rPr>
                        <a:t>Passes the usage question; by default the same one as Cluster-admin</a:t>
                      </a:r>
                      <a:endParaRPr lang="en-US" sz="1400" dirty="0">
                        <a:latin typeface="Arial" charset="0"/>
                        <a:ea typeface="Arial" charset="0"/>
                        <a:cs typeface="Arial" charset="0"/>
                      </a:endParaRPr>
                    </a:p>
                  </a:txBody>
                  <a:tcPr marL="62230" marR="62230" marT="62230" marB="62230" anchor="t">
                    <a:lnL w="12700" cap="flat" cmpd="sng" algn="ctr">
                      <a:solidFill>
                        <a:srgbClr val="C4C4C6"/>
                      </a:solidFill>
                      <a:prstDash val="solid"/>
                      <a:round/>
                      <a:headEnd type="none" w="med" len="med"/>
                      <a:tailEnd type="none" w="med" len="med"/>
                    </a:lnL>
                    <a:lnR w="12700" cap="flat" cmpd="sng" algn="ctr">
                      <a:solidFill>
                        <a:srgbClr val="C4C4C6"/>
                      </a:solidFill>
                      <a:prstDash val="solid"/>
                      <a:round/>
                      <a:headEnd type="none" w="med" len="med"/>
                      <a:tailEnd type="none" w="med" len="med"/>
                    </a:lnR>
                    <a:lnT w="12700" cap="flat" cmpd="sng" algn="ctr">
                      <a:solidFill>
                        <a:srgbClr val="BEC0C2"/>
                      </a:solidFill>
                      <a:prstDash val="solid"/>
                      <a:round/>
                      <a:headEnd type="none" w="med" len="med"/>
                      <a:tailEnd type="none" w="med" len="med"/>
                    </a:lnT>
                    <a:lnB w="12700" cap="flat" cmpd="sng" algn="ctr">
                      <a:solidFill>
                        <a:srgbClr val="C4C4C6"/>
                      </a:solidFill>
                      <a:prstDash val="solid"/>
                      <a:round/>
                      <a:headEnd type="none" w="med" len="med"/>
                      <a:tailEnd type="none" w="med" len="med"/>
                    </a:lnB>
                  </a:tcPr>
                </a:tc>
                <a:tc>
                  <a:txBody>
                    <a:bodyPr/>
                    <a:lstStyle/>
                    <a:p>
                      <a:pPr indent="0" marL="0">
                        <a:lnSpc>
                          <a:spcPts val="1960"/>
                        </a:lnSpc>
                        <a:buNone/>
                      </a:pPr>
                      <a:r>
                        <a:rPr lang="en-US" sz="1400" dirty="0">
                          <a:solidFill>
                            <a:srgbClr val="18212C"/>
                          </a:solidFill>
                          <a:latin typeface="Arial" pitchFamily="34" charset="0"/>
                          <a:ea typeface="Arial" pitchFamily="34" charset="-122"/>
                          <a:cs typeface="Arial" pitchFamily="34" charset="-120"/>
                        </a:rPr>
                        <a:t>The Usage tab: everyone's activity</a:t>
                      </a:r>
                      <a:endParaRPr lang="en-US" sz="1400" dirty="0">
                        <a:latin typeface="Arial" charset="0"/>
                        <a:ea typeface="Arial" charset="0"/>
                        <a:cs typeface="Arial" charset="0"/>
                      </a:endParaRPr>
                    </a:p>
                  </a:txBody>
                  <a:tcPr marL="62230" marR="62230" marT="62230" marB="62230" anchor="t">
                    <a:lnL w="12700" cap="flat" cmpd="sng" algn="ctr">
                      <a:solidFill>
                        <a:srgbClr val="C4C4C6"/>
                      </a:solidFill>
                      <a:prstDash val="solid"/>
                      <a:round/>
                      <a:headEnd type="none" w="med" len="med"/>
                      <a:tailEnd type="none" w="med" len="med"/>
                    </a:lnL>
                    <a:lnR w="12700" cap="flat" cmpd="sng" algn="ctr">
                      <a:solidFill>
                        <a:srgbClr val="C4C4C6"/>
                      </a:solidFill>
                      <a:prstDash val="solid"/>
                      <a:round/>
                      <a:headEnd type="none" w="med" len="med"/>
                      <a:tailEnd type="none" w="med" len="med"/>
                    </a:lnR>
                    <a:lnT w="12700" cap="flat" cmpd="sng" algn="ctr">
                      <a:solidFill>
                        <a:srgbClr val="BEC0C2"/>
                      </a:solidFill>
                      <a:prstDash val="solid"/>
                      <a:round/>
                      <a:headEnd type="none" w="med" len="med"/>
                      <a:tailEnd type="none" w="med" len="med"/>
                    </a:lnT>
                    <a:lnB w="12700" cap="flat" cmpd="sng" algn="ctr">
                      <a:solidFill>
                        <a:srgbClr val="C4C4C6"/>
                      </a:solidFill>
                      <a:prstDash val="solid"/>
                      <a:round/>
                      <a:headEnd type="none" w="med" len="med"/>
                      <a:tailEnd type="none" w="med" len="med"/>
                    </a:lnB>
                  </a:tcPr>
                </a:tc>
              </a:tr>
              <a:tr h="634802">
                <a:tc>
                  <a:txBody>
                    <a:bodyPr/>
                    <a:lstStyle/>
                    <a:p>
                      <a:pPr indent="0" marL="0">
                        <a:lnSpc>
                          <a:spcPts val="1960"/>
                        </a:lnSpc>
                        <a:buNone/>
                      </a:pPr>
                      <a:r>
                        <a:rPr lang="en-US" sz="1400" dirty="0">
                          <a:solidFill>
                            <a:srgbClr val="18212C"/>
                          </a:solidFill>
                          <a:latin typeface="Arial" pitchFamily="34" charset="0"/>
                          <a:ea typeface="Arial" pitchFamily="34" charset="-122"/>
                          <a:cs typeface="Arial" pitchFamily="34" charset="-120"/>
                        </a:rPr>
                        <a:t>Cluster-admin</a:t>
                      </a:r>
                      <a:endParaRPr lang="en-US" sz="1400" dirty="0">
                        <a:latin typeface="Arial" charset="0"/>
                        <a:ea typeface="Arial" charset="0"/>
                        <a:cs typeface="Arial" charset="0"/>
                      </a:endParaRPr>
                    </a:p>
                  </a:txBody>
                  <a:tcPr marL="62230" marR="62230" marT="62230" marB="62230" anchor="t">
                    <a:lnL w="12700" cap="flat" cmpd="sng" algn="ctr">
                      <a:solidFill>
                        <a:srgbClr val="C4C4C6"/>
                      </a:solidFill>
                      <a:prstDash val="solid"/>
                      <a:round/>
                      <a:headEnd type="none" w="med" len="med"/>
                      <a:tailEnd type="none" w="med" len="med"/>
                    </a:lnL>
                    <a:lnR w="12700" cap="flat" cmpd="sng" algn="ctr">
                      <a:solidFill>
                        <a:srgbClr val="BEC0C2"/>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BEC0C2"/>
                      </a:solidFill>
                      <a:prstDash val="solid"/>
                      <a:round/>
                      <a:headEnd type="none" w="med" len="med"/>
                      <a:tailEnd type="none" w="med" len="med"/>
                    </a:lnB>
                    <a:solidFill>
                      <a:srgbClr val="EEF0F3"/>
                    </a:solidFill>
                  </a:tcPr>
                </a:tc>
                <a:tc>
                  <a:txBody>
                    <a:bodyPr/>
                    <a:lstStyle/>
                    <a:p>
                      <a:pPr indent="0" marL="0">
                        <a:lnSpc>
                          <a:spcPts val="1960"/>
                        </a:lnSpc>
                        <a:buNone/>
                      </a:pPr>
                      <a:r>
                        <a:rPr lang="en-US" sz="1400" dirty="0">
                          <a:solidFill>
                            <a:srgbClr val="18212C"/>
                          </a:solidFill>
                          <a:latin typeface="Arial" pitchFamily="34" charset="0"/>
                          <a:ea typeface="Arial" pitchFamily="34" charset="-122"/>
                          <a:cs typeface="Arial" pitchFamily="34" charset="-120"/>
                        </a:rPr>
                        <a:t>Can update clusterrolebindings</a:t>
                      </a:r>
                      <a:endParaRPr lang="en-US" sz="1400" dirty="0">
                        <a:latin typeface="Arial" charset="0"/>
                        <a:ea typeface="Arial" charset="0"/>
                        <a:cs typeface="Arial" charset="0"/>
                      </a:endParaRPr>
                    </a:p>
                  </a:txBody>
                  <a:tcPr marL="62230" marR="62230" marT="62230" marB="62230" anchor="t">
                    <a:lnL w="12700" cap="flat" cmpd="sng" algn="ctr">
                      <a:solidFill>
                        <a:srgbClr val="BEC0C2"/>
                      </a:solidFill>
                      <a:prstDash val="solid"/>
                      <a:round/>
                      <a:headEnd type="none" w="med" len="med"/>
                      <a:tailEnd type="none" w="med" len="med"/>
                    </a:lnL>
                    <a:lnR w="12700" cap="flat" cmpd="sng" algn="ctr">
                      <a:solidFill>
                        <a:srgbClr val="BEC0C2"/>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BEC0C2"/>
                      </a:solidFill>
                      <a:prstDash val="solid"/>
                      <a:round/>
                      <a:headEnd type="none" w="med" len="med"/>
                      <a:tailEnd type="none" w="med" len="med"/>
                    </a:lnB>
                    <a:solidFill>
                      <a:srgbClr val="EEF0F3"/>
                    </a:solidFill>
                  </a:tcPr>
                </a:tc>
                <a:tc>
                  <a:txBody>
                    <a:bodyPr/>
                    <a:lstStyle/>
                    <a:p>
                      <a:pPr indent="0" marL="0">
                        <a:lnSpc>
                          <a:spcPts val="1960"/>
                        </a:lnSpc>
                        <a:buNone/>
                      </a:pPr>
                      <a:r>
                        <a:rPr lang="en-US" sz="1400" dirty="0">
                          <a:solidFill>
                            <a:srgbClr val="18212C"/>
                          </a:solidFill>
                          <a:latin typeface="Arial" pitchFamily="34" charset="0"/>
                          <a:ea typeface="Arial" pitchFamily="34" charset="-122"/>
                          <a:cs typeface="Arial" pitchFamily="34" charset="-120"/>
                        </a:rPr>
                        <a:t>KPIs and Cluster Configurations, plus all of the above</a:t>
                      </a:r>
                      <a:endParaRPr lang="en-US" sz="1400" dirty="0">
                        <a:latin typeface="Arial" charset="0"/>
                        <a:ea typeface="Arial" charset="0"/>
                        <a:cs typeface="Arial" charset="0"/>
                      </a:endParaRPr>
                    </a:p>
                  </a:txBody>
                  <a:tcPr marL="62230" marR="62230" marT="62230" marB="62230" anchor="t">
                    <a:lnL w="12700" cap="flat" cmpd="sng" algn="ctr">
                      <a:solidFill>
                        <a:srgbClr val="BEC0C2"/>
                      </a:solidFill>
                      <a:prstDash val="solid"/>
                      <a:round/>
                      <a:headEnd type="none" w="med" len="med"/>
                      <a:tailEnd type="none" w="med" len="med"/>
                    </a:lnL>
                    <a:lnR w="12700" cap="flat" cmpd="sng" algn="ctr">
                      <a:solidFill>
                        <a:srgbClr val="BEC0C2"/>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BEC0C2"/>
                      </a:solidFill>
                      <a:prstDash val="solid"/>
                      <a:round/>
                      <a:headEnd type="none" w="med" len="med"/>
                      <a:tailEnd type="none" w="med" len="med"/>
                    </a:lnB>
                    <a:solidFill>
                      <a:srgbClr val="EEF0F3"/>
                    </a:solidFill>
                  </a:tcPr>
                </a:tc>
              </a:tr>
            </a:tbl>
          </a:graphicData>
        </a:graphic>
      </p:graphicFrame>
      <p:sp>
        <p:nvSpPr>
          <p:cNvPr id="5" name="Text 2"/>
          <p:cNvSpPr/>
          <p:nvPr/>
        </p:nvSpPr>
        <p:spPr>
          <a:xfrm>
            <a:off x="812800" y="4896247"/>
            <a:ext cx="10883392" cy="26541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18212C"/>
                </a:solidFill>
                <a:latin typeface="Arial" pitchFamily="34" charset="0"/>
                <a:ea typeface="Arial" pitchFamily="34" charset="-122"/>
                <a:cs typeface="Arial" pitchFamily="34" charset="-120"/>
              </a:rPr>
              <a:t>A SubjectAccessReview on the cluster decides each tier; the answer is cached 60 s, and any failure falls back to Self.</a:t>
            </a:r>
            <a:endParaRPr lang="en-US" sz="1400" dirty="0"/>
          </a:p>
        </p:txBody>
      </p:sp>
      <p:sp>
        <p:nvSpPr>
          <p:cNvPr id="6" name="Text 3"/>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Sources: ACCESS_CONTROL.md · values.yaml (adminSar, usageAdminSar, clusterAdminSar) · kube.py TierResolver</a:t>
            </a:r>
            <a:endParaRPr lang="en-US" sz="1200" dirty="0"/>
          </a:p>
        </p:txBody>
      </p:sp>
      <p:sp>
        <p:nvSpPr>
          <p:cNvPr id="7" name="Text 4"/>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18 / 26</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5347"/>
          </a:xfrm>
          <a:prstGeom prst="rect">
            <a:avLst/>
          </a:prstGeom>
          <a:noFill/>
          <a:ln/>
        </p:spPr>
        <p:txBody>
          <a:bodyPr wrap="square" lIns="0" tIns="0" rIns="0" bIns="0" rtlCol="0" anchor="t">
            <a:normAutofit/>
          </a:bodyPr>
          <a:lstStyle/>
          <a:p>
            <a:pPr algn="l" indent="0" marL="0">
              <a:lnSpc>
                <a:spcPts val="1675"/>
              </a:lnSpc>
              <a:buNone/>
            </a:pPr>
            <a:r>
              <a:rPr lang="en-US" sz="1196" spc="150" kern="0" dirty="0">
                <a:solidFill>
                  <a:srgbClr val="0E6F68"/>
                </a:solidFill>
                <a:latin typeface="Courier New" pitchFamily="49" charset="0"/>
                <a:ea typeface="Courier New" pitchFamily="49" charset="-122"/>
                <a:cs typeface="Courier New" pitchFamily="49" charset="-120"/>
              </a:rPr>
              <a:t>ARCHITECTURE</a:t>
            </a:r>
            <a:endParaRPr lang="en-US" sz="1196" dirty="0"/>
          </a:p>
        </p:txBody>
      </p:sp>
      <p:sp>
        <p:nvSpPr>
          <p:cNvPr id="3" name="Text 1"/>
          <p:cNvSpPr/>
          <p:nvPr/>
        </p:nvSpPr>
        <p:spPr>
          <a:xfrm>
            <a:off x="812800" y="1225947"/>
            <a:ext cx="10883392" cy="437952"/>
          </a:xfrm>
          <a:prstGeom prst="rect">
            <a:avLst/>
          </a:prstGeom>
          <a:noFill/>
          <a:ln/>
        </p:spPr>
        <p:txBody>
          <a:bodyPr wrap="square" lIns="0" tIns="0" rIns="0" bIns="0" rtlCol="0" anchor="t">
            <a:normAutofit/>
          </a:bodyPr>
          <a:lstStyle/>
          <a:p>
            <a:pPr algn="l" indent="0" marL="0">
              <a:lnSpc>
                <a:spcPts val="3269"/>
              </a:lnSpc>
              <a:buNone/>
            </a:pPr>
            <a:r>
              <a:rPr lang="en-US" sz="2972" b="1" dirty="0">
                <a:solidFill>
                  <a:srgbClr val="18212C"/>
                </a:solidFill>
                <a:latin typeface="Arial" pitchFamily="34" charset="0"/>
                <a:ea typeface="Arial" pitchFamily="34" charset="-122"/>
                <a:cs typeface="Arial" pitchFamily="34" charset="-120"/>
              </a:rPr>
              <a:t>Architecture at a glance</a:t>
            </a:r>
            <a:endParaRPr lang="en-US" sz="2972" dirty="0"/>
          </a:p>
        </p:txBody>
      </p:sp>
      <p:sp>
        <p:nvSpPr>
          <p:cNvPr id="4" name="Shape 2"/>
          <p:cNvSpPr/>
          <p:nvPr/>
        </p:nvSpPr>
        <p:spPr>
          <a:xfrm>
            <a:off x="2603500" y="1841698"/>
            <a:ext cx="6985000" cy="4064000"/>
          </a:xfrm>
          <a:prstGeom prst="roundRect">
            <a:avLst>
              <a:gd name="adj" fmla="val 1875"/>
            </a:avLst>
          </a:prstGeom>
          <a:solidFill>
            <a:srgbClr val="FFFFFF"/>
          </a:solidFill>
          <a:ln/>
        </p:spPr>
      </p:sp>
      <p:pic>
        <p:nvPicPr>
          <p:cNvPr id="5" name="Image 0" descr="The whole system: the browser through the Route and the oauth-proxy to the dashboard; the report pod and the two volumes; CronJobs; the host API and remote clusters read; Prometheus; the webhook.">    </p:cNvPr>
          <p:cNvPicPr>
            <a:picLocks noChangeAspect="1"/>
          </p:cNvPicPr>
          <p:nvPr/>
        </p:nvPicPr>
        <p:blipFill>
          <a:blip r:embed="rId1"/>
          <a:stretch>
            <a:fillRect/>
          </a:stretch>
        </p:blipFill>
        <p:spPr>
          <a:xfrm>
            <a:off x="3293351" y="1848048"/>
            <a:ext cx="5605298" cy="4051300"/>
          </a:xfrm>
          <a:prstGeom prst="rect">
            <a:avLst/>
          </a:prstGeom>
        </p:spPr>
      </p:pic>
      <p:sp>
        <p:nvSpPr>
          <p:cNvPr id="6" name="Shape 3"/>
          <p:cNvSpPr/>
          <p:nvPr/>
        </p:nvSpPr>
        <p:spPr>
          <a:xfrm>
            <a:off x="2606675" y="1844873"/>
            <a:ext cx="6978650" cy="4057650"/>
          </a:xfrm>
          <a:prstGeom prst="roundRect">
            <a:avLst>
              <a:gd name="adj" fmla="val 1800"/>
            </a:avLst>
          </a:prstGeom>
          <a:noFill/>
          <a:ln w="6350">
            <a:solidFill>
              <a:srgbClr val="D7DCE3"/>
            </a:solidFill>
            <a:prstDash val="solid"/>
          </a:ln>
        </p:spPr>
      </p:sp>
      <p:sp>
        <p:nvSpPr>
          <p:cNvPr id="7" name="Text 4"/>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Figure 1 of docs/guides/architecture-overview.md, drawn from the code at 5.8.0</a:t>
            </a:r>
            <a:endParaRPr lang="en-US" sz="1200" dirty="0"/>
          </a:p>
        </p:txBody>
      </p:sp>
      <p:sp>
        <p:nvSpPr>
          <p:cNvPr id="8" name="Text 5"/>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19 / 26</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5347"/>
          </a:xfrm>
          <a:prstGeom prst="rect">
            <a:avLst/>
          </a:prstGeom>
          <a:noFill/>
          <a:ln/>
        </p:spPr>
        <p:txBody>
          <a:bodyPr wrap="square" lIns="0" tIns="0" rIns="0" bIns="0" rtlCol="0" anchor="t">
            <a:normAutofit/>
          </a:bodyPr>
          <a:lstStyle/>
          <a:p>
            <a:pPr algn="l" indent="0" marL="0">
              <a:lnSpc>
                <a:spcPts val="1675"/>
              </a:lnSpc>
              <a:buNone/>
            </a:pPr>
            <a:r>
              <a:rPr lang="en-US" sz="1196" spc="150" kern="0" dirty="0">
                <a:solidFill>
                  <a:srgbClr val="0E6F68"/>
                </a:solidFill>
                <a:latin typeface="Courier New" pitchFamily="49" charset="0"/>
                <a:ea typeface="Courier New" pitchFamily="49" charset="-122"/>
                <a:cs typeface="Courier New" pitchFamily="49" charset="-120"/>
              </a:rPr>
              <a:t>ARCHITECTURE</a:t>
            </a:r>
            <a:endParaRPr lang="en-US" sz="1196" dirty="0"/>
          </a:p>
        </p:txBody>
      </p:sp>
      <p:sp>
        <p:nvSpPr>
          <p:cNvPr id="3" name="Text 1"/>
          <p:cNvSpPr/>
          <p:nvPr/>
        </p:nvSpPr>
        <p:spPr>
          <a:xfrm>
            <a:off x="812800" y="1225947"/>
            <a:ext cx="10883392" cy="437952"/>
          </a:xfrm>
          <a:prstGeom prst="rect">
            <a:avLst/>
          </a:prstGeom>
          <a:noFill/>
          <a:ln/>
        </p:spPr>
        <p:txBody>
          <a:bodyPr wrap="square" lIns="0" tIns="0" rIns="0" bIns="0" rtlCol="0" anchor="t">
            <a:normAutofit/>
          </a:bodyPr>
          <a:lstStyle/>
          <a:p>
            <a:pPr algn="l" indent="0" marL="0">
              <a:lnSpc>
                <a:spcPts val="3269"/>
              </a:lnSpc>
              <a:buNone/>
            </a:pPr>
            <a:r>
              <a:rPr lang="en-US" sz="2972" b="1" dirty="0">
                <a:solidFill>
                  <a:srgbClr val="18212C"/>
                </a:solidFill>
                <a:latin typeface="Arial" pitchFamily="34" charset="0"/>
                <a:ea typeface="Arial" pitchFamily="34" charset="-122"/>
                <a:cs typeface="Arial" pitchFamily="34" charset="-120"/>
              </a:rPr>
              <a:t>Inside one poll cycle</a:t>
            </a:r>
            <a:endParaRPr lang="en-US" sz="2972" dirty="0"/>
          </a:p>
        </p:txBody>
      </p:sp>
      <p:sp>
        <p:nvSpPr>
          <p:cNvPr id="4" name="Shape 2"/>
          <p:cNvSpPr/>
          <p:nvPr/>
        </p:nvSpPr>
        <p:spPr>
          <a:xfrm>
            <a:off x="2349500" y="1841698"/>
            <a:ext cx="7493000" cy="4064000"/>
          </a:xfrm>
          <a:prstGeom prst="roundRect">
            <a:avLst>
              <a:gd name="adj" fmla="val 1875"/>
            </a:avLst>
          </a:prstGeom>
          <a:solidFill>
            <a:srgbClr val="FFFFFF"/>
          </a:solidFill>
          <a:ln/>
        </p:spPr>
      </p:sp>
      <p:pic>
        <p:nvPicPr>
          <p:cNvPr id="5" name="Image 0" descr="One poll cycle in the code's order: leadership and credential, poll_once every 60 s, login capture, upkeep, refresh_bindings every 3600 s, wait.">    </p:cNvPr>
          <p:cNvPicPr>
            <a:picLocks noChangeAspect="1"/>
          </p:cNvPicPr>
          <p:nvPr/>
        </p:nvPicPr>
        <p:blipFill>
          <a:blip r:embed="rId1"/>
          <a:stretch>
            <a:fillRect/>
          </a:stretch>
        </p:blipFill>
        <p:spPr>
          <a:xfrm>
            <a:off x="3038191" y="1848048"/>
            <a:ext cx="6115619" cy="4051300"/>
          </a:xfrm>
          <a:prstGeom prst="rect">
            <a:avLst/>
          </a:prstGeom>
        </p:spPr>
      </p:pic>
      <p:sp>
        <p:nvSpPr>
          <p:cNvPr id="6" name="Shape 3"/>
          <p:cNvSpPr/>
          <p:nvPr/>
        </p:nvSpPr>
        <p:spPr>
          <a:xfrm>
            <a:off x="2352675" y="1844873"/>
            <a:ext cx="7486650" cy="4057650"/>
          </a:xfrm>
          <a:prstGeom prst="roundRect">
            <a:avLst>
              <a:gd name="adj" fmla="val 1800"/>
            </a:avLst>
          </a:prstGeom>
          <a:noFill/>
          <a:ln w="6350">
            <a:solidFill>
              <a:srgbClr val="D7DCE3"/>
            </a:solidFill>
            <a:prstDash val="solid"/>
          </a:ln>
        </p:spPr>
      </p:sp>
      <p:sp>
        <p:nvSpPr>
          <p:cNvPr id="7" name="Text 4"/>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Figure 3 of docs/guides/architecture-overview.md</a:t>
            </a:r>
            <a:endParaRPr lang="en-US" sz="1200" dirty="0"/>
          </a:p>
        </p:txBody>
      </p:sp>
      <p:sp>
        <p:nvSpPr>
          <p:cNvPr id="8" name="Text 5"/>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20 / 26</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5347"/>
          </a:xfrm>
          <a:prstGeom prst="rect">
            <a:avLst/>
          </a:prstGeom>
          <a:noFill/>
          <a:ln/>
        </p:spPr>
        <p:txBody>
          <a:bodyPr wrap="square" lIns="0" tIns="0" rIns="0" bIns="0" rtlCol="0" anchor="t">
            <a:normAutofit/>
          </a:bodyPr>
          <a:lstStyle/>
          <a:p>
            <a:pPr algn="l" indent="0" marL="0">
              <a:lnSpc>
                <a:spcPts val="1675"/>
              </a:lnSpc>
              <a:buNone/>
            </a:pPr>
            <a:r>
              <a:rPr lang="en-US" sz="1196" spc="150" kern="0" dirty="0">
                <a:solidFill>
                  <a:srgbClr val="0E6F68"/>
                </a:solidFill>
                <a:latin typeface="Courier New" pitchFamily="49" charset="0"/>
                <a:ea typeface="Courier New" pitchFamily="49" charset="-122"/>
                <a:cs typeface="Courier New" pitchFamily="49" charset="-120"/>
              </a:rPr>
              <a:t>ARCHITECTURE</a:t>
            </a:r>
            <a:endParaRPr lang="en-US" sz="1196" dirty="0"/>
          </a:p>
        </p:txBody>
      </p:sp>
      <p:sp>
        <p:nvSpPr>
          <p:cNvPr id="3" name="Text 1"/>
          <p:cNvSpPr/>
          <p:nvPr/>
        </p:nvSpPr>
        <p:spPr>
          <a:xfrm>
            <a:off x="812800" y="1225947"/>
            <a:ext cx="10883392" cy="437952"/>
          </a:xfrm>
          <a:prstGeom prst="rect">
            <a:avLst/>
          </a:prstGeom>
          <a:noFill/>
          <a:ln/>
        </p:spPr>
        <p:txBody>
          <a:bodyPr wrap="square" lIns="0" tIns="0" rIns="0" bIns="0" rtlCol="0" anchor="t">
            <a:normAutofit/>
          </a:bodyPr>
          <a:lstStyle/>
          <a:p>
            <a:pPr algn="l" indent="0" marL="0">
              <a:lnSpc>
                <a:spcPts val="3269"/>
              </a:lnSpc>
              <a:buNone/>
            </a:pPr>
            <a:r>
              <a:rPr lang="en-US" sz="2972" b="1" dirty="0">
                <a:solidFill>
                  <a:srgbClr val="18212C"/>
                </a:solidFill>
                <a:latin typeface="Arial" pitchFamily="34" charset="0"/>
                <a:ea typeface="Arial" pitchFamily="34" charset="-122"/>
                <a:cs typeface="Arial" pitchFamily="34" charset="-120"/>
              </a:rPr>
              <a:t>How a report is made</a:t>
            </a:r>
            <a:endParaRPr lang="en-US" sz="2972" dirty="0"/>
          </a:p>
        </p:txBody>
      </p:sp>
      <p:sp>
        <p:nvSpPr>
          <p:cNvPr id="4" name="Shape 2"/>
          <p:cNvSpPr/>
          <p:nvPr/>
        </p:nvSpPr>
        <p:spPr>
          <a:xfrm>
            <a:off x="2349500" y="1841698"/>
            <a:ext cx="7493000" cy="4064000"/>
          </a:xfrm>
          <a:prstGeom prst="roundRect">
            <a:avLst>
              <a:gd name="adj" fmla="val 1875"/>
            </a:avLst>
          </a:prstGeom>
          <a:solidFill>
            <a:srgbClr val="FFFFFF"/>
          </a:solidFill>
          <a:ln/>
        </p:spPr>
      </p:sp>
      <p:pic>
        <p:nvPicPr>
          <p:cNvPr id="5" name="Image 0" descr="The reporting pipeline: a person's ticket or a schedule's token, a queue of 8, a read-only snapshot, JSON then HTML, CSV and PDF, the artefacts volume, the webhook.">    </p:cNvPr>
          <p:cNvPicPr>
            <a:picLocks noChangeAspect="1"/>
          </p:cNvPicPr>
          <p:nvPr/>
        </p:nvPicPr>
        <p:blipFill>
          <a:blip r:embed="rId1"/>
          <a:stretch>
            <a:fillRect/>
          </a:stretch>
        </p:blipFill>
        <p:spPr>
          <a:xfrm>
            <a:off x="3038191" y="1848048"/>
            <a:ext cx="6115619" cy="4051300"/>
          </a:xfrm>
          <a:prstGeom prst="rect">
            <a:avLst/>
          </a:prstGeom>
        </p:spPr>
      </p:pic>
      <p:sp>
        <p:nvSpPr>
          <p:cNvPr id="6" name="Shape 3"/>
          <p:cNvSpPr/>
          <p:nvPr/>
        </p:nvSpPr>
        <p:spPr>
          <a:xfrm>
            <a:off x="2352675" y="1844873"/>
            <a:ext cx="7486650" cy="4057650"/>
          </a:xfrm>
          <a:prstGeom prst="roundRect">
            <a:avLst>
              <a:gd name="adj" fmla="val 1800"/>
            </a:avLst>
          </a:prstGeom>
          <a:noFill/>
          <a:ln w="6350">
            <a:solidFill>
              <a:srgbClr val="D7DCE3"/>
            </a:solidFill>
            <a:prstDash val="solid"/>
          </a:ln>
        </p:spPr>
      </p:sp>
      <p:sp>
        <p:nvSpPr>
          <p:cNvPr id="7" name="Text 4"/>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Figure 5 of docs/guides/architecture-overview.md</a:t>
            </a:r>
            <a:endParaRPr lang="en-US" sz="1200" dirty="0"/>
          </a:p>
        </p:txBody>
      </p:sp>
      <p:sp>
        <p:nvSpPr>
          <p:cNvPr id="8" name="Text 5"/>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21 / 26</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5347"/>
          </a:xfrm>
          <a:prstGeom prst="rect">
            <a:avLst/>
          </a:prstGeom>
          <a:noFill/>
          <a:ln/>
        </p:spPr>
        <p:txBody>
          <a:bodyPr wrap="square" lIns="0" tIns="0" rIns="0" bIns="0" rtlCol="0" anchor="t">
            <a:normAutofit/>
          </a:bodyPr>
          <a:lstStyle/>
          <a:p>
            <a:pPr algn="l" indent="0" marL="0">
              <a:lnSpc>
                <a:spcPts val="1675"/>
              </a:lnSpc>
              <a:buNone/>
            </a:pPr>
            <a:r>
              <a:rPr lang="en-US" sz="1196" spc="150" kern="0" dirty="0">
                <a:solidFill>
                  <a:srgbClr val="0E6F68"/>
                </a:solidFill>
                <a:latin typeface="Courier New" pitchFamily="49" charset="0"/>
                <a:ea typeface="Courier New" pitchFamily="49" charset="-122"/>
                <a:cs typeface="Courier New" pitchFamily="49" charset="-120"/>
              </a:rPr>
              <a:t>SECURITY</a:t>
            </a:r>
            <a:endParaRPr lang="en-US" sz="1196" dirty="0"/>
          </a:p>
        </p:txBody>
      </p:sp>
      <p:sp>
        <p:nvSpPr>
          <p:cNvPr id="3" name="Text 1"/>
          <p:cNvSpPr/>
          <p:nvPr/>
        </p:nvSpPr>
        <p:spPr>
          <a:xfrm>
            <a:off x="812800" y="1225947"/>
            <a:ext cx="10883392" cy="437952"/>
          </a:xfrm>
          <a:prstGeom prst="rect">
            <a:avLst/>
          </a:prstGeom>
          <a:noFill/>
          <a:ln/>
        </p:spPr>
        <p:txBody>
          <a:bodyPr wrap="square" lIns="0" tIns="0" rIns="0" bIns="0" rtlCol="0" anchor="t">
            <a:normAutofit/>
          </a:bodyPr>
          <a:lstStyle/>
          <a:p>
            <a:pPr algn="l" indent="0" marL="0">
              <a:lnSpc>
                <a:spcPts val="3269"/>
              </a:lnSpc>
              <a:buNone/>
            </a:pPr>
            <a:r>
              <a:rPr lang="en-US" sz="2972" b="1" dirty="0">
                <a:solidFill>
                  <a:srgbClr val="18212C"/>
                </a:solidFill>
                <a:latin typeface="Arial" pitchFamily="34" charset="0"/>
                <a:ea typeface="Arial" pitchFamily="34" charset="-122"/>
                <a:cs typeface="Arial" pitchFamily="34" charset="-120"/>
              </a:rPr>
              <a:t>Credentials and trust boundaries</a:t>
            </a:r>
            <a:endParaRPr lang="en-US" sz="2972" dirty="0"/>
          </a:p>
        </p:txBody>
      </p:sp>
      <p:sp>
        <p:nvSpPr>
          <p:cNvPr id="4" name="Shape 2"/>
          <p:cNvSpPr/>
          <p:nvPr/>
        </p:nvSpPr>
        <p:spPr>
          <a:xfrm>
            <a:off x="1079500" y="1841698"/>
            <a:ext cx="10033000" cy="4064000"/>
          </a:xfrm>
          <a:prstGeom prst="roundRect">
            <a:avLst>
              <a:gd name="adj" fmla="val 1875"/>
            </a:avLst>
          </a:prstGeom>
          <a:solidFill>
            <a:srgbClr val="FFFFFF"/>
          </a:solidFill>
          <a:ln/>
        </p:spPr>
      </p:sp>
      <p:pic>
        <p:nvPicPr>
          <p:cNvPr id="5" name="Image 0" descr="Steady state, saTokenLookup and Rejoin: what starts each, what crosses to the remote cluster, and what stays on the host.">    </p:cNvPr>
          <p:cNvPicPr>
            <a:picLocks noChangeAspect="1"/>
          </p:cNvPicPr>
          <p:nvPr/>
        </p:nvPicPr>
        <p:blipFill>
          <a:blip r:embed="rId1"/>
          <a:stretch>
            <a:fillRect/>
          </a:stretch>
        </p:blipFill>
        <p:spPr>
          <a:xfrm>
            <a:off x="1319926" y="1848048"/>
            <a:ext cx="9552148" cy="4051300"/>
          </a:xfrm>
          <a:prstGeom prst="rect">
            <a:avLst/>
          </a:prstGeom>
        </p:spPr>
      </p:pic>
      <p:sp>
        <p:nvSpPr>
          <p:cNvPr id="6" name="Shape 3"/>
          <p:cNvSpPr/>
          <p:nvPr/>
        </p:nvSpPr>
        <p:spPr>
          <a:xfrm>
            <a:off x="1082675" y="1844873"/>
            <a:ext cx="10026650" cy="4057650"/>
          </a:xfrm>
          <a:prstGeom prst="roundRect">
            <a:avLst>
              <a:gd name="adj" fmla="val 1800"/>
            </a:avLst>
          </a:prstGeom>
          <a:noFill/>
          <a:ln w="6350">
            <a:solidFill>
              <a:srgbClr val="D7DCE3"/>
            </a:solidFill>
            <a:prstDash val="solid"/>
          </a:ln>
        </p:spPr>
      </p:sp>
      <p:sp>
        <p:nvSpPr>
          <p:cNvPr id="7" name="Text 4"/>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Figure 6 of docs/guides/architecture-overview.md</a:t>
            </a:r>
            <a:endParaRPr lang="en-US" sz="1200" dirty="0"/>
          </a:p>
        </p:txBody>
      </p:sp>
      <p:sp>
        <p:nvSpPr>
          <p:cNvPr id="8" name="Text 5"/>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22 / 26</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28005"/>
          </a:xfrm>
          <a:prstGeom prst="rect">
            <a:avLst/>
          </a:prstGeom>
          <a:noFill/>
          <a:ln/>
        </p:spPr>
        <p:txBody>
          <a:bodyPr wrap="square" lIns="0" tIns="0" rIns="0" bIns="0" rtlCol="0" anchor="t">
            <a:normAutofit/>
          </a:bodyPr>
          <a:lstStyle/>
          <a:p>
            <a:pPr algn="l" indent="0" marL="0">
              <a:lnSpc>
                <a:spcPts val="1622"/>
              </a:lnSpc>
              <a:buNone/>
            </a:pPr>
            <a:r>
              <a:rPr lang="en-US" sz="1159" spc="150" kern="0" dirty="0">
                <a:solidFill>
                  <a:srgbClr val="0E6F68"/>
                </a:solidFill>
                <a:latin typeface="Courier New" pitchFamily="49" charset="0"/>
                <a:ea typeface="Courier New" pitchFamily="49" charset="-122"/>
                <a:cs typeface="Courier New" pitchFamily="49" charset="-120"/>
              </a:rPr>
              <a:t>OPERATE</a:t>
            </a:r>
            <a:endParaRPr lang="en-US" sz="1159" dirty="0"/>
          </a:p>
        </p:txBody>
      </p:sp>
      <p:sp>
        <p:nvSpPr>
          <p:cNvPr id="3" name="Text 1"/>
          <p:cNvSpPr/>
          <p:nvPr/>
        </p:nvSpPr>
        <p:spPr>
          <a:xfrm>
            <a:off x="812800" y="1269405"/>
            <a:ext cx="10883392" cy="423466"/>
          </a:xfrm>
          <a:prstGeom prst="rect">
            <a:avLst/>
          </a:prstGeom>
          <a:noFill/>
          <a:ln/>
        </p:spPr>
        <p:txBody>
          <a:bodyPr wrap="square" lIns="0" tIns="0" rIns="0" bIns="0" rtlCol="0" anchor="t">
            <a:normAutofit/>
          </a:bodyPr>
          <a:lstStyle/>
          <a:p>
            <a:pPr algn="l" indent="0" marL="0">
              <a:lnSpc>
                <a:spcPts val="3166"/>
              </a:lnSpc>
              <a:buNone/>
            </a:pPr>
            <a:r>
              <a:rPr lang="en-US" sz="2878" b="1" dirty="0">
                <a:solidFill>
                  <a:srgbClr val="18212C"/>
                </a:solidFill>
                <a:latin typeface="Arial" pitchFamily="34" charset="0"/>
                <a:ea typeface="Arial" pitchFamily="34" charset="-122"/>
                <a:cs typeface="Arial" pitchFamily="34" charset="-120"/>
              </a:rPr>
              <a:t>Operations: what the platform team runs</a:t>
            </a:r>
            <a:endParaRPr lang="en-US" sz="2878" dirty="0"/>
          </a:p>
        </p:txBody>
      </p:sp>
      <p:sp>
        <p:nvSpPr>
          <p:cNvPr id="4" name="Shape 2"/>
          <p:cNvSpPr/>
          <p:nvPr/>
        </p:nvSpPr>
        <p:spPr>
          <a:xfrm>
            <a:off x="850900" y="1921470"/>
            <a:ext cx="0" cy="445691"/>
          </a:xfrm>
          <a:prstGeom prst="line">
            <a:avLst/>
          </a:prstGeom>
          <a:noFill/>
          <a:ln w="76200">
            <a:solidFill>
              <a:srgbClr val="0E6F68"/>
            </a:solidFill>
            <a:prstDash val="solid"/>
          </a:ln>
        </p:spPr>
      </p:sp>
      <p:sp>
        <p:nvSpPr>
          <p:cNvPr id="5" name="Text 3"/>
          <p:cNvSpPr/>
          <p:nvPr/>
        </p:nvSpPr>
        <p:spPr>
          <a:xfrm>
            <a:off x="1041400" y="1921470"/>
            <a:ext cx="342722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One Helm chart, ready for Argo CD; one dashboard pod and one report pod.</a:t>
            </a:r>
            <a:endParaRPr lang="en-US" sz="1300" dirty="0"/>
          </a:p>
        </p:txBody>
      </p:sp>
      <p:sp>
        <p:nvSpPr>
          <p:cNvPr id="6" name="Shape 4"/>
          <p:cNvSpPr/>
          <p:nvPr/>
        </p:nvSpPr>
        <p:spPr>
          <a:xfrm>
            <a:off x="850900" y="2544961"/>
            <a:ext cx="0" cy="445691"/>
          </a:xfrm>
          <a:prstGeom prst="line">
            <a:avLst/>
          </a:prstGeom>
          <a:noFill/>
          <a:ln w="76200">
            <a:solidFill>
              <a:srgbClr val="0E6F68"/>
            </a:solidFill>
            <a:prstDash val="solid"/>
          </a:ln>
        </p:spPr>
      </p:sp>
      <p:sp>
        <p:nvSpPr>
          <p:cNvPr id="7" name="Text 5"/>
          <p:cNvSpPr/>
          <p:nvPr/>
        </p:nvSpPr>
        <p:spPr>
          <a:xfrm>
            <a:off x="1041400" y="2544961"/>
            <a:ext cx="342722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A database backup every 6 h with 4 kept, and an offsite copy every 6 h.</a:t>
            </a:r>
            <a:endParaRPr lang="en-US" sz="1300" dirty="0"/>
          </a:p>
        </p:txBody>
      </p:sp>
      <p:sp>
        <p:nvSpPr>
          <p:cNvPr id="8" name="Shape 6"/>
          <p:cNvSpPr/>
          <p:nvPr/>
        </p:nvSpPr>
        <p:spPr>
          <a:xfrm>
            <a:off x="850900" y="3168452"/>
            <a:ext cx="0" cy="668536"/>
          </a:xfrm>
          <a:prstGeom prst="line">
            <a:avLst/>
          </a:prstGeom>
          <a:noFill/>
          <a:ln w="76200">
            <a:solidFill>
              <a:srgbClr val="B3261E"/>
            </a:solidFill>
            <a:prstDash val="solid"/>
          </a:ln>
        </p:spPr>
      </p:sp>
      <p:sp>
        <p:nvSpPr>
          <p:cNvPr id="9" name="Text 7"/>
          <p:cNvSpPr/>
          <p:nvPr/>
        </p:nvSpPr>
        <p:spPr>
          <a:xfrm>
            <a:off x="1041400" y="3168452"/>
            <a:ext cx="3427222"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Twenty Prometheus alerts, from a cluster that stops answering to a backup or a schedule running late.</a:t>
            </a:r>
            <a:endParaRPr lang="en-US" sz="1300" dirty="0"/>
          </a:p>
        </p:txBody>
      </p:sp>
      <p:sp>
        <p:nvSpPr>
          <p:cNvPr id="10" name="Shape 8"/>
          <p:cNvSpPr/>
          <p:nvPr/>
        </p:nvSpPr>
        <p:spPr>
          <a:xfrm>
            <a:off x="850900" y="4014788"/>
            <a:ext cx="0" cy="668536"/>
          </a:xfrm>
          <a:prstGeom prst="line">
            <a:avLst/>
          </a:prstGeom>
          <a:noFill/>
          <a:ln w="76200">
            <a:solidFill>
              <a:srgbClr val="0E6F68"/>
            </a:solidFill>
            <a:prstDash val="solid"/>
          </a:ln>
        </p:spPr>
      </p:sp>
      <p:sp>
        <p:nvSpPr>
          <p:cNvPr id="11" name="Text 9"/>
          <p:cNvSpPr/>
          <p:nvPr/>
        </p:nvSpPr>
        <p:spPr>
          <a:xfrm>
            <a:off x="1041400" y="4014788"/>
            <a:ext cx="3427222"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The KPIs page shows the system's own health: memory, CPU, throttling, disk, backups.</a:t>
            </a:r>
            <a:endParaRPr lang="en-US" sz="1300" dirty="0"/>
          </a:p>
        </p:txBody>
      </p:sp>
      <p:sp>
        <p:nvSpPr>
          <p:cNvPr id="12" name="Shape 10"/>
          <p:cNvSpPr/>
          <p:nvPr/>
        </p:nvSpPr>
        <p:spPr>
          <a:xfrm>
            <a:off x="4724400" y="1921470"/>
            <a:ext cx="6604000" cy="4127500"/>
          </a:xfrm>
          <a:prstGeom prst="roundRect">
            <a:avLst>
              <a:gd name="adj" fmla="val 1846"/>
            </a:avLst>
          </a:prstGeom>
          <a:solidFill>
            <a:srgbClr val="FFFFFF"/>
          </a:solidFill>
          <a:ln/>
        </p:spPr>
      </p:sp>
      <p:pic>
        <p:nvPicPr>
          <p:cNvPr id="13" name="Image 0" descr="The KPIs tab in the light theme: system status of the dashboard and report pods, and the backups card: last copy, 4 of 4 kept, 0 failures.">    </p:cNvPr>
          <p:cNvPicPr>
            <a:picLocks noChangeAspect="1"/>
          </p:cNvPicPr>
          <p:nvPr/>
        </p:nvPicPr>
        <p:blipFill>
          <a:blip r:embed="rId1"/>
          <a:srcRect l="-58" r="-58" t="0" b="0"/>
          <a:stretch/>
        </p:blipFill>
        <p:spPr>
          <a:xfrm>
            <a:off x="4730750" y="1927820"/>
            <a:ext cx="6591300" cy="4114800"/>
          </a:xfrm>
          <a:prstGeom prst="roundRect">
            <a:avLst>
              <a:gd name="adj" fmla="val 1698"/>
            </a:avLst>
          </a:prstGeom>
        </p:spPr>
      </p:pic>
      <p:sp>
        <p:nvSpPr>
          <p:cNvPr id="14" name="Shape 11"/>
          <p:cNvSpPr/>
          <p:nvPr/>
        </p:nvSpPr>
        <p:spPr>
          <a:xfrm>
            <a:off x="4727575" y="1924645"/>
            <a:ext cx="6597650" cy="4121150"/>
          </a:xfrm>
          <a:prstGeom prst="roundRect">
            <a:avLst>
              <a:gd name="adj" fmla="val 1772"/>
            </a:avLst>
          </a:prstGeom>
          <a:noFill/>
          <a:ln w="6350">
            <a:solidFill>
              <a:srgbClr val="D7DCE3"/>
            </a:solidFill>
            <a:prstDash val="solid"/>
          </a:ln>
        </p:spPr>
      </p:sp>
      <p:sp>
        <p:nvSpPr>
          <p:cNvPr id="15" name="Text 12"/>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Screenshot: KPIs, light theme, the lab at 5.8.0 · the chart's PrometheusRule and backup settings</a:t>
            </a:r>
            <a:endParaRPr lang="en-US" sz="1200" dirty="0"/>
          </a:p>
        </p:txBody>
      </p:sp>
      <p:sp>
        <p:nvSpPr>
          <p:cNvPr id="16" name="Text 13"/>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23 / 26</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E6F68"/>
                </a:solidFill>
                <a:latin typeface="Courier New" pitchFamily="49" charset="0"/>
                <a:ea typeface="Courier New" pitchFamily="49" charset="-122"/>
                <a:cs typeface="Courier New" pitchFamily="49" charset="-120"/>
              </a:rPr>
              <a:t>LIMITS</a:t>
            </a:r>
            <a:endParaRPr lang="en-US" sz="1200" dirty="0"/>
          </a:p>
        </p:txBody>
      </p:sp>
      <p:sp>
        <p:nvSpPr>
          <p:cNvPr id="3" name="Text 1"/>
          <p:cNvSpPr/>
          <p:nvPr/>
        </p:nvSpPr>
        <p:spPr>
          <a:xfrm>
            <a:off x="812800" y="12801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8212C"/>
                </a:solidFill>
                <a:latin typeface="Arial" pitchFamily="34" charset="0"/>
                <a:ea typeface="Arial" pitchFamily="34" charset="-122"/>
                <a:cs typeface="Arial" pitchFamily="34" charset="-120"/>
              </a:rPr>
              <a:t>What it does not do</a:t>
            </a:r>
            <a:endParaRPr lang="en-US" sz="3000" dirty="0"/>
          </a:p>
        </p:txBody>
      </p:sp>
      <p:sp>
        <p:nvSpPr>
          <p:cNvPr id="4" name="Shape 2"/>
          <p:cNvSpPr/>
          <p:nvPr/>
        </p:nvSpPr>
        <p:spPr>
          <a:xfrm>
            <a:off x="812800" y="1953220"/>
            <a:ext cx="5194300" cy="1182291"/>
          </a:xfrm>
          <a:prstGeom prst="roundRect">
            <a:avLst>
              <a:gd name="adj" fmla="val 6445"/>
            </a:avLst>
          </a:prstGeom>
          <a:solidFill>
            <a:srgbClr val="FCFCFA"/>
          </a:solidFill>
          <a:ln/>
          <a:effectLst>
            <a:outerShdw sx="100000" sy="100000" kx="0" ky="0" algn="bl" rotWithShape="0" blurRad="6350" dist="0" dir="60000">
              <a:srgbClr val="D7DCE3">
                <a:alpha val="100000"/>
              </a:srgbClr>
            </a:outerShdw>
          </a:effectLst>
        </p:spPr>
      </p:sp>
      <p:sp>
        <p:nvSpPr>
          <p:cNvPr id="5" name="Shape 3"/>
          <p:cNvSpPr/>
          <p:nvPr/>
        </p:nvSpPr>
        <p:spPr>
          <a:xfrm>
            <a:off x="812800" y="1953220"/>
            <a:ext cx="5194300" cy="1182291"/>
          </a:xfrm>
          <a:custGeom>
            <a:avLst/>
            <a:gdLst/>
            <a:ahLst/>
            <a:cxnLst/>
            <a:rect l="l" t="t" r="r" b="b"/>
            <a:pathLst>
              <a:path w="5194300" h="1182291">
                <a:moveTo>
                  <a:pt x="0" y="76200"/>
                </a:moveTo>
                <a:lnTo>
                  <a:pt x="0" y="76200"/>
                </a:lnTo>
                <a:arcTo hR="76200" wR="76200" stAng="10800000" swAng="5400000"/>
                <a:lnTo>
                  <a:pt x="5118100" y="0"/>
                </a:lnTo>
                <a:arcTo hR="76200" wR="76200" stAng="16200000" swAng="5400000"/>
                <a:lnTo>
                  <a:pt x="5194300" y="76200"/>
                </a:lnTo>
                <a:lnTo>
                  <a:pt x="0" y="76200"/>
                </a:lnTo>
                <a:close/>
              </a:path>
            </a:pathLst>
          </a:custGeom>
          <a:solidFill>
            <a:srgbClr val="5F6A77"/>
          </a:solidFill>
          <a:ln/>
        </p:spPr>
      </p:sp>
      <p:sp>
        <p:nvSpPr>
          <p:cNvPr id="6" name="Text 4"/>
          <p:cNvSpPr/>
          <p:nvPr/>
        </p:nvSpPr>
        <p:spPr>
          <a:xfrm>
            <a:off x="990600" y="2207220"/>
            <a:ext cx="4983861"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8212C"/>
                </a:solidFill>
                <a:latin typeface="Arial" pitchFamily="34" charset="0"/>
                <a:ea typeface="Arial" pitchFamily="34" charset="-122"/>
                <a:cs typeface="Arial" pitchFamily="34" charset="-120"/>
              </a:rPr>
              <a:t>Direct bindings only</a:t>
            </a:r>
            <a:endParaRPr lang="en-US" sz="1500" dirty="0"/>
          </a:p>
        </p:txBody>
      </p:sp>
      <p:sp>
        <p:nvSpPr>
          <p:cNvPr id="7" name="Text 5"/>
          <p:cNvSpPr/>
          <p:nvPr/>
        </p:nvSpPr>
        <p:spPr>
          <a:xfrm>
            <a:off x="990600" y="2512020"/>
            <a:ext cx="498386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It reads who was granted which role. It never expands a role's rules, so it is not a list of every permitted action.</a:t>
            </a:r>
            <a:endParaRPr lang="en-US" sz="1300" dirty="0"/>
          </a:p>
        </p:txBody>
      </p:sp>
      <p:sp>
        <p:nvSpPr>
          <p:cNvPr id="8" name="Shape 6"/>
          <p:cNvSpPr/>
          <p:nvPr/>
        </p:nvSpPr>
        <p:spPr>
          <a:xfrm>
            <a:off x="6184900" y="1953220"/>
            <a:ext cx="5194300" cy="1182291"/>
          </a:xfrm>
          <a:prstGeom prst="roundRect">
            <a:avLst>
              <a:gd name="adj" fmla="val 6445"/>
            </a:avLst>
          </a:prstGeom>
          <a:solidFill>
            <a:srgbClr val="FCFCFA"/>
          </a:solidFill>
          <a:ln/>
          <a:effectLst>
            <a:outerShdw sx="100000" sy="100000" kx="0" ky="0" algn="bl" rotWithShape="0" blurRad="6350" dist="0" dir="60000">
              <a:srgbClr val="D7DCE3">
                <a:alpha val="100000"/>
              </a:srgbClr>
            </a:outerShdw>
          </a:effectLst>
        </p:spPr>
      </p:sp>
      <p:sp>
        <p:nvSpPr>
          <p:cNvPr id="9" name="Shape 7"/>
          <p:cNvSpPr/>
          <p:nvPr/>
        </p:nvSpPr>
        <p:spPr>
          <a:xfrm>
            <a:off x="6184900" y="1953220"/>
            <a:ext cx="5194300" cy="1182291"/>
          </a:xfrm>
          <a:custGeom>
            <a:avLst/>
            <a:gdLst/>
            <a:ahLst/>
            <a:cxnLst/>
            <a:rect l="l" t="t" r="r" b="b"/>
            <a:pathLst>
              <a:path w="5194300" h="1182291">
                <a:moveTo>
                  <a:pt x="0" y="76200"/>
                </a:moveTo>
                <a:lnTo>
                  <a:pt x="0" y="76200"/>
                </a:lnTo>
                <a:arcTo hR="76200" wR="76200" stAng="10800000" swAng="5400000"/>
                <a:lnTo>
                  <a:pt x="5118100" y="0"/>
                </a:lnTo>
                <a:arcTo hR="76200" wR="76200" stAng="16200000" swAng="5400000"/>
                <a:lnTo>
                  <a:pt x="5194300" y="76200"/>
                </a:lnTo>
                <a:lnTo>
                  <a:pt x="0" y="76200"/>
                </a:lnTo>
                <a:close/>
              </a:path>
            </a:pathLst>
          </a:custGeom>
          <a:solidFill>
            <a:srgbClr val="5F6A77"/>
          </a:solidFill>
          <a:ln/>
        </p:spPr>
      </p:sp>
      <p:sp>
        <p:nvSpPr>
          <p:cNvPr id="10" name="Text 8"/>
          <p:cNvSpPr/>
          <p:nvPr/>
        </p:nvSpPr>
        <p:spPr>
          <a:xfrm>
            <a:off x="6362700" y="2207220"/>
            <a:ext cx="4983861"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8212C"/>
                </a:solidFill>
                <a:latin typeface="Arial" pitchFamily="34" charset="0"/>
                <a:ea typeface="Arial" pitchFamily="34" charset="-122"/>
                <a:cs typeface="Arial" pitchFamily="34" charset="-120"/>
              </a:rPr>
              <a:t>It changes no access</a:t>
            </a:r>
            <a:endParaRPr lang="en-US" sz="1500" dirty="0"/>
          </a:p>
        </p:txBody>
      </p:sp>
      <p:sp>
        <p:nvSpPr>
          <p:cNvPr id="11" name="Text 9"/>
          <p:cNvSpPr/>
          <p:nvPr/>
        </p:nvSpPr>
        <p:spPr>
          <a:xfrm>
            <a:off x="6362700" y="2512020"/>
            <a:ext cx="498386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It never creates, edits or deletes a GroupSync CR, a group or a binding. Fixes happen in LDAP or on the cluster.</a:t>
            </a:r>
            <a:endParaRPr lang="en-US" sz="1300" dirty="0"/>
          </a:p>
        </p:txBody>
      </p:sp>
      <p:sp>
        <p:nvSpPr>
          <p:cNvPr id="12" name="Shape 10"/>
          <p:cNvSpPr/>
          <p:nvPr/>
        </p:nvSpPr>
        <p:spPr>
          <a:xfrm>
            <a:off x="812800" y="3313311"/>
            <a:ext cx="5194300" cy="1405136"/>
          </a:xfrm>
          <a:prstGeom prst="roundRect">
            <a:avLst>
              <a:gd name="adj" fmla="val 5423"/>
            </a:avLst>
          </a:prstGeom>
          <a:solidFill>
            <a:srgbClr val="FCFCFA"/>
          </a:solidFill>
          <a:ln/>
          <a:effectLst>
            <a:outerShdw sx="100000" sy="100000" kx="0" ky="0" algn="bl" rotWithShape="0" blurRad="6350" dist="0" dir="60000">
              <a:srgbClr val="D7DCE3">
                <a:alpha val="100000"/>
              </a:srgbClr>
            </a:outerShdw>
          </a:effectLst>
        </p:spPr>
      </p:sp>
      <p:sp>
        <p:nvSpPr>
          <p:cNvPr id="13" name="Shape 11"/>
          <p:cNvSpPr/>
          <p:nvPr/>
        </p:nvSpPr>
        <p:spPr>
          <a:xfrm>
            <a:off x="812800" y="3313311"/>
            <a:ext cx="5194300" cy="1405136"/>
          </a:xfrm>
          <a:custGeom>
            <a:avLst/>
            <a:gdLst/>
            <a:ahLst/>
            <a:cxnLst/>
            <a:rect l="l" t="t" r="r" b="b"/>
            <a:pathLst>
              <a:path w="5194300" h="1405136">
                <a:moveTo>
                  <a:pt x="0" y="76200"/>
                </a:moveTo>
                <a:lnTo>
                  <a:pt x="0" y="76200"/>
                </a:lnTo>
                <a:arcTo hR="76200" wR="76200" stAng="10800000" swAng="5400000"/>
                <a:lnTo>
                  <a:pt x="5118100" y="0"/>
                </a:lnTo>
                <a:arcTo hR="76200" wR="76200" stAng="16200000" swAng="5400000"/>
                <a:lnTo>
                  <a:pt x="5194300" y="76200"/>
                </a:lnTo>
                <a:lnTo>
                  <a:pt x="0" y="76200"/>
                </a:lnTo>
                <a:close/>
              </a:path>
            </a:pathLst>
          </a:custGeom>
          <a:solidFill>
            <a:srgbClr val="5F6A77"/>
          </a:solidFill>
          <a:ln/>
        </p:spPr>
      </p:sp>
      <p:sp>
        <p:nvSpPr>
          <p:cNvPr id="14" name="Text 12"/>
          <p:cNvSpPr/>
          <p:nvPr/>
        </p:nvSpPr>
        <p:spPr>
          <a:xfrm>
            <a:off x="990600" y="3567311"/>
            <a:ext cx="4983861"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8212C"/>
                </a:solidFill>
                <a:latin typeface="Arial" pitchFamily="34" charset="0"/>
                <a:ea typeface="Arial" pitchFamily="34" charset="-122"/>
                <a:cs typeface="Arial" pitchFamily="34" charset="-120"/>
              </a:rPr>
              <a:t>Login history has a start</a:t>
            </a:r>
            <a:endParaRPr lang="en-US" sz="1500" dirty="0"/>
          </a:p>
        </p:txBody>
      </p:sp>
      <p:sp>
        <p:nvSpPr>
          <p:cNvPr id="15" name="Text 13"/>
          <p:cNvSpPr/>
          <p:nvPr/>
        </p:nvSpPr>
        <p:spPr>
          <a:xfrm>
            <a:off x="990600" y="3872111"/>
            <a:ext cx="4983861"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Logins go back only to the oldest audit file on the cluster when capture began; nothing earlier was observed. They are kept 400 days.</a:t>
            </a:r>
            <a:endParaRPr lang="en-US" sz="1300" dirty="0"/>
          </a:p>
        </p:txBody>
      </p:sp>
      <p:sp>
        <p:nvSpPr>
          <p:cNvPr id="16" name="Shape 14"/>
          <p:cNvSpPr/>
          <p:nvPr/>
        </p:nvSpPr>
        <p:spPr>
          <a:xfrm>
            <a:off x="6184900" y="3313311"/>
            <a:ext cx="5194300" cy="1405136"/>
          </a:xfrm>
          <a:prstGeom prst="roundRect">
            <a:avLst>
              <a:gd name="adj" fmla="val 5423"/>
            </a:avLst>
          </a:prstGeom>
          <a:solidFill>
            <a:srgbClr val="FCFCFA"/>
          </a:solidFill>
          <a:ln/>
          <a:effectLst>
            <a:outerShdw sx="100000" sy="100000" kx="0" ky="0" algn="bl" rotWithShape="0" blurRad="6350" dist="0" dir="60000">
              <a:srgbClr val="D7DCE3">
                <a:alpha val="100000"/>
              </a:srgbClr>
            </a:outerShdw>
          </a:effectLst>
        </p:spPr>
      </p:sp>
      <p:sp>
        <p:nvSpPr>
          <p:cNvPr id="17" name="Shape 15"/>
          <p:cNvSpPr/>
          <p:nvPr/>
        </p:nvSpPr>
        <p:spPr>
          <a:xfrm>
            <a:off x="6184900" y="3313311"/>
            <a:ext cx="5194300" cy="1405136"/>
          </a:xfrm>
          <a:custGeom>
            <a:avLst/>
            <a:gdLst/>
            <a:ahLst/>
            <a:cxnLst/>
            <a:rect l="l" t="t" r="r" b="b"/>
            <a:pathLst>
              <a:path w="5194300" h="1405136">
                <a:moveTo>
                  <a:pt x="0" y="76200"/>
                </a:moveTo>
                <a:lnTo>
                  <a:pt x="0" y="76200"/>
                </a:lnTo>
                <a:arcTo hR="76200" wR="76200" stAng="10800000" swAng="5400000"/>
                <a:lnTo>
                  <a:pt x="5118100" y="0"/>
                </a:lnTo>
                <a:arcTo hR="76200" wR="76200" stAng="16200000" swAng="5400000"/>
                <a:lnTo>
                  <a:pt x="5194300" y="76200"/>
                </a:lnTo>
                <a:lnTo>
                  <a:pt x="0" y="76200"/>
                </a:lnTo>
                <a:close/>
              </a:path>
            </a:pathLst>
          </a:custGeom>
          <a:solidFill>
            <a:srgbClr val="5F6A77"/>
          </a:solidFill>
          <a:ln/>
        </p:spPr>
      </p:sp>
      <p:sp>
        <p:nvSpPr>
          <p:cNvPr id="18" name="Text 16"/>
          <p:cNvSpPr/>
          <p:nvPr/>
        </p:nvSpPr>
        <p:spPr>
          <a:xfrm>
            <a:off x="6362700" y="3567311"/>
            <a:ext cx="4983861"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8212C"/>
                </a:solidFill>
                <a:latin typeface="Arial" pitchFamily="34" charset="0"/>
                <a:ea typeface="Arial" pitchFamily="34" charset="-122"/>
                <a:cs typeface="Arial" pitchFamily="34" charset="-120"/>
              </a:rPr>
              <a:t>As of the last read</a:t>
            </a:r>
            <a:endParaRPr lang="en-US" sz="1500" dirty="0"/>
          </a:p>
        </p:txBody>
      </p:sp>
      <p:sp>
        <p:nvSpPr>
          <p:cNvPr id="19" name="Text 17"/>
          <p:cNvSpPr/>
          <p:nvPr/>
        </p:nvSpPr>
        <p:spPr>
          <a:xfrm>
            <a:off x="6362700" y="3872111"/>
            <a:ext cx="498386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Groups and CRs are read every 60 s and bindings every hour, so a change shows on the next read.</a:t>
            </a:r>
            <a:endParaRPr lang="en-US" sz="1300" dirty="0"/>
          </a:p>
        </p:txBody>
      </p:sp>
      <p:sp>
        <p:nvSpPr>
          <p:cNvPr id="20" name="Text 18"/>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Sources: reference-architecture.md (What it is not; the cycle) · the reports' coverage notes · values.yaml</a:t>
            </a:r>
            <a:endParaRPr lang="en-US" sz="1200" dirty="0"/>
          </a:p>
        </p:txBody>
      </p:sp>
      <p:sp>
        <p:nvSpPr>
          <p:cNvPr id="21" name="Text 19"/>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24 / 26</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E6F68"/>
                </a:solidFill>
                <a:latin typeface="Courier New" pitchFamily="49" charset="0"/>
                <a:ea typeface="Courier New" pitchFamily="49" charset="-122"/>
                <a:cs typeface="Courier New" pitchFamily="49" charset="-120"/>
              </a:rPr>
              <a:t>NEXT STEPS</a:t>
            </a:r>
            <a:endParaRPr lang="en-US" sz="1200" dirty="0"/>
          </a:p>
        </p:txBody>
      </p:sp>
      <p:sp>
        <p:nvSpPr>
          <p:cNvPr id="3" name="Text 1"/>
          <p:cNvSpPr/>
          <p:nvPr/>
        </p:nvSpPr>
        <p:spPr>
          <a:xfrm>
            <a:off x="812800" y="12801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8212C"/>
                </a:solidFill>
                <a:latin typeface="Arial" pitchFamily="34" charset="0"/>
                <a:ea typeface="Arial" pitchFamily="34" charset="-122"/>
                <a:cs typeface="Arial" pitchFamily="34" charset="-120"/>
              </a:rPr>
              <a:t>Rolling it out</a:t>
            </a:r>
            <a:endParaRPr lang="en-US" sz="3000" dirty="0"/>
          </a:p>
        </p:txBody>
      </p:sp>
      <p:sp>
        <p:nvSpPr>
          <p:cNvPr id="4" name="Shape 2"/>
          <p:cNvSpPr/>
          <p:nvPr/>
        </p:nvSpPr>
        <p:spPr>
          <a:xfrm>
            <a:off x="812800" y="1953220"/>
            <a:ext cx="2508250" cy="2197497"/>
          </a:xfrm>
          <a:prstGeom prst="roundRect">
            <a:avLst>
              <a:gd name="adj" fmla="val 3468"/>
            </a:avLst>
          </a:prstGeom>
          <a:solidFill>
            <a:srgbClr val="FCFCFA"/>
          </a:solidFill>
          <a:ln/>
          <a:effectLst>
            <a:outerShdw sx="100000" sy="100000" kx="0" ky="0" algn="bl" rotWithShape="0" blurRad="6350" dist="0" dir="60000">
              <a:srgbClr val="D7DCE3">
                <a:alpha val="100000"/>
              </a:srgbClr>
            </a:outerShdw>
          </a:effectLst>
        </p:spPr>
      </p:sp>
      <p:sp>
        <p:nvSpPr>
          <p:cNvPr id="5" name="Shape 3"/>
          <p:cNvSpPr/>
          <p:nvPr/>
        </p:nvSpPr>
        <p:spPr>
          <a:xfrm>
            <a:off x="812800" y="1953220"/>
            <a:ext cx="2508250" cy="2197497"/>
          </a:xfrm>
          <a:custGeom>
            <a:avLst/>
            <a:gdLst/>
            <a:ahLst/>
            <a:cxnLst/>
            <a:rect l="l" t="t" r="r" b="b"/>
            <a:pathLst>
              <a:path w="2508250" h="2197497">
                <a:moveTo>
                  <a:pt x="0" y="76200"/>
                </a:moveTo>
                <a:lnTo>
                  <a:pt x="0" y="76200"/>
                </a:lnTo>
                <a:arcTo hR="76200" wR="76200" stAng="10800000" swAng="5400000"/>
                <a:lnTo>
                  <a:pt x="2432050" y="0"/>
                </a:lnTo>
                <a:arcTo hR="76200" wR="76200" stAng="16200000" swAng="5400000"/>
                <a:lnTo>
                  <a:pt x="2508250" y="76200"/>
                </a:lnTo>
                <a:lnTo>
                  <a:pt x="0" y="76200"/>
                </a:lnTo>
                <a:close/>
              </a:path>
            </a:pathLst>
          </a:custGeom>
          <a:solidFill>
            <a:srgbClr val="0E6F68"/>
          </a:solidFill>
          <a:ln/>
        </p:spPr>
      </p:sp>
      <p:sp>
        <p:nvSpPr>
          <p:cNvPr id="6" name="Text 4"/>
          <p:cNvSpPr/>
          <p:nvPr/>
        </p:nvSpPr>
        <p:spPr>
          <a:xfrm>
            <a:off x="1016000" y="2232620"/>
            <a:ext cx="2164906"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0E6F68"/>
                </a:solidFill>
                <a:latin typeface="Arial" pitchFamily="34" charset="0"/>
                <a:ea typeface="Arial" pitchFamily="34" charset="-122"/>
                <a:cs typeface="Arial" pitchFamily="34" charset="-120"/>
              </a:rPr>
              <a:t>1</a:t>
            </a:r>
            <a:endParaRPr lang="en-US" sz="3200" dirty="0"/>
          </a:p>
        </p:txBody>
      </p:sp>
      <p:sp>
        <p:nvSpPr>
          <p:cNvPr id="7" name="Text 5"/>
          <p:cNvSpPr/>
          <p:nvPr/>
        </p:nvSpPr>
        <p:spPr>
          <a:xfrm>
            <a:off x="1016000" y="2715220"/>
            <a:ext cx="216490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Install</a:t>
            </a:r>
            <a:endParaRPr lang="en-US" sz="1600" dirty="0"/>
          </a:p>
        </p:txBody>
      </p:sp>
      <p:sp>
        <p:nvSpPr>
          <p:cNvPr id="8" name="Text 6"/>
          <p:cNvSpPr/>
          <p:nvPr/>
        </p:nvSpPr>
        <p:spPr>
          <a:xfrm>
            <a:off x="1016000" y="3035201"/>
            <a:ext cx="216490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the chart on the host cluster, with Helm or Argo CD.</a:t>
            </a:r>
            <a:endParaRPr lang="en-US" sz="1300" dirty="0"/>
          </a:p>
        </p:txBody>
      </p:sp>
      <p:sp>
        <p:nvSpPr>
          <p:cNvPr id="9" name="Shape 7"/>
          <p:cNvSpPr/>
          <p:nvPr/>
        </p:nvSpPr>
        <p:spPr>
          <a:xfrm>
            <a:off x="3498850" y="1953220"/>
            <a:ext cx="2508250" cy="2197497"/>
          </a:xfrm>
          <a:prstGeom prst="roundRect">
            <a:avLst>
              <a:gd name="adj" fmla="val 3468"/>
            </a:avLst>
          </a:prstGeom>
          <a:solidFill>
            <a:srgbClr val="FCFCFA"/>
          </a:solidFill>
          <a:ln/>
          <a:effectLst>
            <a:outerShdw sx="100000" sy="100000" kx="0" ky="0" algn="bl" rotWithShape="0" blurRad="6350" dist="0" dir="60000">
              <a:srgbClr val="D7DCE3">
                <a:alpha val="100000"/>
              </a:srgbClr>
            </a:outerShdw>
          </a:effectLst>
        </p:spPr>
      </p:sp>
      <p:sp>
        <p:nvSpPr>
          <p:cNvPr id="10" name="Shape 8"/>
          <p:cNvSpPr/>
          <p:nvPr/>
        </p:nvSpPr>
        <p:spPr>
          <a:xfrm>
            <a:off x="3498850" y="1953220"/>
            <a:ext cx="2508250" cy="2197497"/>
          </a:xfrm>
          <a:custGeom>
            <a:avLst/>
            <a:gdLst/>
            <a:ahLst/>
            <a:cxnLst/>
            <a:rect l="l" t="t" r="r" b="b"/>
            <a:pathLst>
              <a:path w="2508250" h="2197497">
                <a:moveTo>
                  <a:pt x="0" y="76200"/>
                </a:moveTo>
                <a:lnTo>
                  <a:pt x="0" y="76200"/>
                </a:lnTo>
                <a:arcTo hR="76200" wR="76200" stAng="10800000" swAng="5400000"/>
                <a:lnTo>
                  <a:pt x="2432050" y="0"/>
                </a:lnTo>
                <a:arcTo hR="76200" wR="76200" stAng="16200000" swAng="5400000"/>
                <a:lnTo>
                  <a:pt x="2508250" y="76200"/>
                </a:lnTo>
                <a:lnTo>
                  <a:pt x="0" y="76200"/>
                </a:lnTo>
                <a:close/>
              </a:path>
            </a:pathLst>
          </a:custGeom>
          <a:solidFill>
            <a:srgbClr val="0E6F68"/>
          </a:solidFill>
          <a:ln/>
        </p:spPr>
      </p:sp>
      <p:sp>
        <p:nvSpPr>
          <p:cNvPr id="11" name="Text 9"/>
          <p:cNvSpPr/>
          <p:nvPr/>
        </p:nvSpPr>
        <p:spPr>
          <a:xfrm>
            <a:off x="3702050" y="2232620"/>
            <a:ext cx="2164906"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0E6F68"/>
                </a:solidFill>
                <a:latin typeface="Arial" pitchFamily="34" charset="0"/>
                <a:ea typeface="Arial" pitchFamily="34" charset="-122"/>
                <a:cs typeface="Arial" pitchFamily="34" charset="-120"/>
              </a:rPr>
              <a:t>2</a:t>
            </a:r>
            <a:endParaRPr lang="en-US" sz="3200" dirty="0"/>
          </a:p>
        </p:txBody>
      </p:sp>
      <p:sp>
        <p:nvSpPr>
          <p:cNvPr id="12" name="Text 10"/>
          <p:cNvSpPr/>
          <p:nvPr/>
        </p:nvSpPr>
        <p:spPr>
          <a:xfrm>
            <a:off x="3702050" y="2715220"/>
            <a:ext cx="216490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Join clusters</a:t>
            </a:r>
            <a:endParaRPr lang="en-US" sz="1600" dirty="0"/>
          </a:p>
        </p:txBody>
      </p:sp>
      <p:sp>
        <p:nvSpPr>
          <p:cNvPr id="13" name="Text 11"/>
          <p:cNvSpPr/>
          <p:nvPr/>
        </p:nvSpPr>
        <p:spPr>
          <a:xfrm>
            <a:off x="3702050" y="3035201"/>
            <a:ext cx="216490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each with its own token: a Secret, saTokenLookup or Rejoin.</a:t>
            </a:r>
            <a:endParaRPr lang="en-US" sz="1300" dirty="0"/>
          </a:p>
        </p:txBody>
      </p:sp>
      <p:sp>
        <p:nvSpPr>
          <p:cNvPr id="14" name="Shape 12"/>
          <p:cNvSpPr/>
          <p:nvPr/>
        </p:nvSpPr>
        <p:spPr>
          <a:xfrm>
            <a:off x="6184900" y="1953220"/>
            <a:ext cx="2508250" cy="2197497"/>
          </a:xfrm>
          <a:prstGeom prst="roundRect">
            <a:avLst>
              <a:gd name="adj" fmla="val 3468"/>
            </a:avLst>
          </a:prstGeom>
          <a:solidFill>
            <a:srgbClr val="FCFCFA"/>
          </a:solidFill>
          <a:ln/>
          <a:effectLst>
            <a:outerShdw sx="100000" sy="100000" kx="0" ky="0" algn="bl" rotWithShape="0" blurRad="6350" dist="0" dir="60000">
              <a:srgbClr val="D7DCE3">
                <a:alpha val="100000"/>
              </a:srgbClr>
            </a:outerShdw>
          </a:effectLst>
        </p:spPr>
      </p:sp>
      <p:sp>
        <p:nvSpPr>
          <p:cNvPr id="15" name="Shape 13"/>
          <p:cNvSpPr/>
          <p:nvPr/>
        </p:nvSpPr>
        <p:spPr>
          <a:xfrm>
            <a:off x="6184900" y="1953220"/>
            <a:ext cx="2508250" cy="2197497"/>
          </a:xfrm>
          <a:custGeom>
            <a:avLst/>
            <a:gdLst/>
            <a:ahLst/>
            <a:cxnLst/>
            <a:rect l="l" t="t" r="r" b="b"/>
            <a:pathLst>
              <a:path w="2508250" h="2197497">
                <a:moveTo>
                  <a:pt x="0" y="76200"/>
                </a:moveTo>
                <a:lnTo>
                  <a:pt x="0" y="76200"/>
                </a:lnTo>
                <a:arcTo hR="76200" wR="76200" stAng="10800000" swAng="5400000"/>
                <a:lnTo>
                  <a:pt x="2432050" y="0"/>
                </a:lnTo>
                <a:arcTo hR="76200" wR="76200" stAng="16200000" swAng="5400000"/>
                <a:lnTo>
                  <a:pt x="2508250" y="76200"/>
                </a:lnTo>
                <a:lnTo>
                  <a:pt x="0" y="76200"/>
                </a:lnTo>
                <a:close/>
              </a:path>
            </a:pathLst>
          </a:custGeom>
          <a:solidFill>
            <a:srgbClr val="0E6F68"/>
          </a:solidFill>
          <a:ln/>
        </p:spPr>
      </p:sp>
      <p:sp>
        <p:nvSpPr>
          <p:cNvPr id="16" name="Text 14"/>
          <p:cNvSpPr/>
          <p:nvPr/>
        </p:nvSpPr>
        <p:spPr>
          <a:xfrm>
            <a:off x="6388100" y="2232620"/>
            <a:ext cx="2164906"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0E6F68"/>
                </a:solidFill>
                <a:latin typeface="Arial" pitchFamily="34" charset="0"/>
                <a:ea typeface="Arial" pitchFamily="34" charset="-122"/>
                <a:cs typeface="Arial" pitchFamily="34" charset="-120"/>
              </a:rPr>
              <a:t>3</a:t>
            </a:r>
            <a:endParaRPr lang="en-US" sz="3200" dirty="0"/>
          </a:p>
        </p:txBody>
      </p:sp>
      <p:sp>
        <p:nvSpPr>
          <p:cNvPr id="17" name="Text 15"/>
          <p:cNvSpPr/>
          <p:nvPr/>
        </p:nvSpPr>
        <p:spPr>
          <a:xfrm>
            <a:off x="6388100" y="2715220"/>
            <a:ext cx="216490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Name the auditors</a:t>
            </a:r>
            <a:endParaRPr lang="en-US" sz="1600" dirty="0"/>
          </a:p>
        </p:txBody>
      </p:sp>
      <p:sp>
        <p:nvSpPr>
          <p:cNvPr id="18" name="Text 16"/>
          <p:cNvSpPr/>
          <p:nvPr/>
        </p:nvSpPr>
        <p:spPr>
          <a:xfrm>
            <a:off x="6388100" y="3035201"/>
            <a:ext cx="216490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the groups that review access everywhere.</a:t>
            </a:r>
            <a:endParaRPr lang="en-US" sz="1300" dirty="0"/>
          </a:p>
        </p:txBody>
      </p:sp>
      <p:sp>
        <p:nvSpPr>
          <p:cNvPr id="19" name="Shape 17"/>
          <p:cNvSpPr/>
          <p:nvPr/>
        </p:nvSpPr>
        <p:spPr>
          <a:xfrm>
            <a:off x="8870950" y="1953220"/>
            <a:ext cx="2508250" cy="2197497"/>
          </a:xfrm>
          <a:prstGeom prst="roundRect">
            <a:avLst>
              <a:gd name="adj" fmla="val 3468"/>
            </a:avLst>
          </a:prstGeom>
          <a:solidFill>
            <a:srgbClr val="FCFCFA"/>
          </a:solidFill>
          <a:ln/>
          <a:effectLst>
            <a:outerShdw sx="100000" sy="100000" kx="0" ky="0" algn="bl" rotWithShape="0" blurRad="6350" dist="0" dir="60000">
              <a:srgbClr val="D7DCE3">
                <a:alpha val="100000"/>
              </a:srgbClr>
            </a:outerShdw>
          </a:effectLst>
        </p:spPr>
      </p:sp>
      <p:sp>
        <p:nvSpPr>
          <p:cNvPr id="20" name="Shape 18"/>
          <p:cNvSpPr/>
          <p:nvPr/>
        </p:nvSpPr>
        <p:spPr>
          <a:xfrm>
            <a:off x="8870950" y="1953220"/>
            <a:ext cx="2508250" cy="2197497"/>
          </a:xfrm>
          <a:custGeom>
            <a:avLst/>
            <a:gdLst/>
            <a:ahLst/>
            <a:cxnLst/>
            <a:rect l="l" t="t" r="r" b="b"/>
            <a:pathLst>
              <a:path w="2508250" h="2197497">
                <a:moveTo>
                  <a:pt x="0" y="76200"/>
                </a:moveTo>
                <a:lnTo>
                  <a:pt x="0" y="76200"/>
                </a:lnTo>
                <a:arcTo hR="76200" wR="76200" stAng="10800000" swAng="5400000"/>
                <a:lnTo>
                  <a:pt x="2432050" y="0"/>
                </a:lnTo>
                <a:arcTo hR="76200" wR="76200" stAng="16200000" swAng="5400000"/>
                <a:lnTo>
                  <a:pt x="2508250" y="76200"/>
                </a:lnTo>
                <a:lnTo>
                  <a:pt x="0" y="76200"/>
                </a:lnTo>
                <a:close/>
              </a:path>
            </a:pathLst>
          </a:custGeom>
          <a:solidFill>
            <a:srgbClr val="0E6F68"/>
          </a:solidFill>
          <a:ln/>
        </p:spPr>
      </p:sp>
      <p:sp>
        <p:nvSpPr>
          <p:cNvPr id="21" name="Text 19"/>
          <p:cNvSpPr/>
          <p:nvPr/>
        </p:nvSpPr>
        <p:spPr>
          <a:xfrm>
            <a:off x="9074150" y="2232620"/>
            <a:ext cx="2164906"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0E6F68"/>
                </a:solidFill>
                <a:latin typeface="Arial" pitchFamily="34" charset="0"/>
                <a:ea typeface="Arial" pitchFamily="34" charset="-122"/>
                <a:cs typeface="Arial" pitchFamily="34" charset="-120"/>
              </a:rPr>
              <a:t>4</a:t>
            </a:r>
            <a:endParaRPr lang="en-US" sz="3200" dirty="0"/>
          </a:p>
        </p:txBody>
      </p:sp>
      <p:sp>
        <p:nvSpPr>
          <p:cNvPr id="22" name="Text 20"/>
          <p:cNvSpPr/>
          <p:nvPr/>
        </p:nvSpPr>
        <p:spPr>
          <a:xfrm>
            <a:off x="9074150" y="2715220"/>
            <a:ext cx="2164906" cy="512961"/>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Schedule the evidence</a:t>
            </a:r>
            <a:endParaRPr lang="en-US" sz="1600" dirty="0"/>
          </a:p>
        </p:txBody>
      </p:sp>
      <p:sp>
        <p:nvSpPr>
          <p:cNvPr id="23" name="Text 21"/>
          <p:cNvSpPr/>
          <p:nvPr/>
        </p:nvSpPr>
        <p:spPr>
          <a:xfrm>
            <a:off x="9074150" y="3278981"/>
            <a:ext cx="216490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a quarterly compliance schedule, and a webhook for delivery.</a:t>
            </a:r>
            <a:endParaRPr lang="en-US" sz="1300" dirty="0"/>
          </a:p>
        </p:txBody>
      </p:sp>
      <p:sp>
        <p:nvSpPr>
          <p:cNvPr id="24" name="Shape 22"/>
          <p:cNvSpPr/>
          <p:nvPr/>
        </p:nvSpPr>
        <p:spPr>
          <a:xfrm>
            <a:off x="812800" y="4404717"/>
            <a:ext cx="10566400" cy="1083866"/>
          </a:xfrm>
          <a:prstGeom prst="roundRect">
            <a:avLst>
              <a:gd name="adj" fmla="val 7030"/>
            </a:avLst>
          </a:prstGeom>
          <a:solidFill>
            <a:srgbClr val="E3F1EF"/>
          </a:solidFill>
          <a:ln/>
        </p:spPr>
      </p:sp>
      <p:sp>
        <p:nvSpPr>
          <p:cNvPr id="25" name="Shape 23"/>
          <p:cNvSpPr/>
          <p:nvPr/>
        </p:nvSpPr>
        <p:spPr>
          <a:xfrm>
            <a:off x="812800" y="4404717"/>
            <a:ext cx="10566400" cy="1083866"/>
          </a:xfrm>
          <a:custGeom>
            <a:avLst/>
            <a:gdLst/>
            <a:ahLst/>
            <a:cxnLst/>
            <a:rect l="l" t="t" r="r" b="b"/>
            <a:pathLst>
              <a:path w="10566400" h="1083866">
                <a:moveTo>
                  <a:pt x="76200" y="1083866"/>
                </a:moveTo>
                <a:lnTo>
                  <a:pt x="76200" y="1083866"/>
                </a:lnTo>
                <a:arcTo hR="76200" wR="76200" stAng="5400000" swAng="5400000"/>
                <a:lnTo>
                  <a:pt x="0" y="76200"/>
                </a:lnTo>
                <a:arcTo hR="76200" wR="76200" stAng="10800000" swAng="5400000"/>
                <a:lnTo>
                  <a:pt x="76200" y="0"/>
                </a:lnTo>
                <a:lnTo>
                  <a:pt x="76200" y="1083866"/>
                </a:lnTo>
                <a:close/>
              </a:path>
            </a:pathLst>
          </a:custGeom>
          <a:solidFill>
            <a:srgbClr val="0E6F68"/>
          </a:solidFill>
          <a:ln/>
        </p:spPr>
      </p:sp>
      <p:sp>
        <p:nvSpPr>
          <p:cNvPr id="26" name="Text 24"/>
          <p:cNvSpPr/>
          <p:nvPr/>
        </p:nvSpPr>
        <p:spPr>
          <a:xfrm>
            <a:off x="1092200" y="4557117"/>
            <a:ext cx="10386314" cy="282575"/>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18212C"/>
                </a:solidFill>
                <a:latin typeface="Arial" pitchFamily="34" charset="0"/>
                <a:ea typeface="Arial" pitchFamily="34" charset="-122"/>
                <a:cs typeface="Arial" pitchFamily="34" charset="-120"/>
              </a:rPr>
              <a:t>No access changes on any cluster: the dashboard reads, and the reports record what it read.</a:t>
            </a:r>
            <a:endParaRPr lang="en-US" sz="1500" dirty="0"/>
          </a:p>
        </p:txBody>
      </p:sp>
      <p:sp>
        <p:nvSpPr>
          <p:cNvPr id="27" name="Text 25"/>
          <p:cNvSpPr/>
          <p:nvPr/>
        </p:nvSpPr>
        <p:spPr>
          <a:xfrm>
            <a:off x="1092200" y="4890492"/>
            <a:ext cx="10386314"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Its only writes are its own: a leader Lease on the host and, when a cluster joins by saTokenLookup or Rejoin, that cluster's token Secret on the host and a login on the remote that it revokes.</a:t>
            </a:r>
            <a:endParaRPr lang="en-US" sz="1300" dirty="0"/>
          </a:p>
        </p:txBody>
      </p:sp>
      <p:sp>
        <p:nvSpPr>
          <p:cNvPr id="28" name="Text 26"/>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Sources: the chart's values.yaml · CLUSTER_CREDENTIALS.md</a:t>
            </a:r>
            <a:endParaRPr lang="en-US" sz="1200" dirty="0"/>
          </a:p>
        </p:txBody>
      </p:sp>
      <p:sp>
        <p:nvSpPr>
          <p:cNvPr id="29" name="Text 27"/>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25 / 26</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E6F68"/>
                </a:solidFill>
                <a:latin typeface="Courier New" pitchFamily="49" charset="0"/>
                <a:ea typeface="Courier New" pitchFamily="49" charset="-122"/>
                <a:cs typeface="Courier New" pitchFamily="49" charset="-120"/>
              </a:rPr>
              <a:t>THANK YOU</a:t>
            </a:r>
            <a:endParaRPr lang="en-US" sz="1200" dirty="0"/>
          </a:p>
        </p:txBody>
      </p:sp>
      <p:sp>
        <p:nvSpPr>
          <p:cNvPr id="3" name="Text 1"/>
          <p:cNvSpPr/>
          <p:nvPr/>
        </p:nvSpPr>
        <p:spPr>
          <a:xfrm>
            <a:off x="812800" y="12801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8212C"/>
                </a:solidFill>
                <a:latin typeface="Arial" pitchFamily="34" charset="0"/>
                <a:ea typeface="Arial" pitchFamily="34" charset="-122"/>
                <a:cs typeface="Arial" pitchFamily="34" charset="-120"/>
              </a:rPr>
              <a:t>Questions, and where to read more</a:t>
            </a:r>
            <a:endParaRPr lang="en-US" sz="3000" dirty="0"/>
          </a:p>
        </p:txBody>
      </p:sp>
      <p:sp>
        <p:nvSpPr>
          <p:cNvPr id="4" name="Text 2"/>
          <p:cNvSpPr/>
          <p:nvPr/>
        </p:nvSpPr>
        <p:spPr>
          <a:xfrm>
            <a:off x="812800" y="1959570"/>
            <a:ext cx="4055110"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E6F68"/>
                </a:solidFill>
                <a:latin typeface="Courier New" pitchFamily="49" charset="0"/>
                <a:ea typeface="Courier New" pitchFamily="49" charset="-122"/>
                <a:cs typeface="Courier New" pitchFamily="49" charset="-120"/>
              </a:rPr>
              <a:t>architecture-overview.md</a:t>
            </a:r>
            <a:endParaRPr lang="en-US" sz="1400" dirty="0"/>
          </a:p>
        </p:txBody>
      </p:sp>
      <p:sp>
        <p:nvSpPr>
          <p:cNvPr id="5" name="Text 3"/>
          <p:cNvSpPr/>
          <p:nvPr/>
        </p:nvSpPr>
        <p:spPr>
          <a:xfrm>
            <a:off x="4902200" y="1953220"/>
            <a:ext cx="3024307"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E4A57"/>
                </a:solidFill>
                <a:latin typeface="Arial" pitchFamily="34" charset="0"/>
                <a:ea typeface="Arial" pitchFamily="34" charset="-122"/>
                <a:cs typeface="Arial" pitchFamily="34" charset="-120"/>
              </a:rPr>
              <a:t>the architecture in seven figures</a:t>
            </a:r>
            <a:endParaRPr lang="en-US" sz="1400" dirty="0"/>
          </a:p>
        </p:txBody>
      </p:sp>
      <p:sp>
        <p:nvSpPr>
          <p:cNvPr id="6" name="Text 4"/>
          <p:cNvSpPr/>
          <p:nvPr/>
        </p:nvSpPr>
        <p:spPr>
          <a:xfrm>
            <a:off x="812800" y="2367161"/>
            <a:ext cx="4055110"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E6F68"/>
                </a:solidFill>
                <a:latin typeface="Courier New" pitchFamily="49" charset="0"/>
                <a:ea typeface="Courier New" pitchFamily="49" charset="-122"/>
                <a:cs typeface="Courier New" pitchFamily="49" charset="-120"/>
              </a:rPr>
              <a:t>reference-architecture.md</a:t>
            </a:r>
            <a:endParaRPr lang="en-US" sz="1400" dirty="0"/>
          </a:p>
        </p:txBody>
      </p:sp>
      <p:sp>
        <p:nvSpPr>
          <p:cNvPr id="7" name="Text 5"/>
          <p:cNvSpPr/>
          <p:nvPr/>
        </p:nvSpPr>
        <p:spPr>
          <a:xfrm>
            <a:off x="4902200" y="2360811"/>
            <a:ext cx="3083243"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E4A57"/>
                </a:solidFill>
                <a:latin typeface="Arial" pitchFamily="34" charset="0"/>
                <a:ea typeface="Arial" pitchFamily="34" charset="-122"/>
                <a:cs typeface="Arial" pitchFamily="34" charset="-120"/>
              </a:rPr>
              <a:t>the full reasoning, claim by claim</a:t>
            </a:r>
            <a:endParaRPr lang="en-US" sz="1400" dirty="0"/>
          </a:p>
        </p:txBody>
      </p:sp>
      <p:sp>
        <p:nvSpPr>
          <p:cNvPr id="8" name="Text 6"/>
          <p:cNvSpPr/>
          <p:nvPr/>
        </p:nvSpPr>
        <p:spPr>
          <a:xfrm>
            <a:off x="812800" y="2774752"/>
            <a:ext cx="4055110"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E6F68"/>
                </a:solidFill>
                <a:latin typeface="Courier New" pitchFamily="49" charset="0"/>
                <a:ea typeface="Courier New" pitchFamily="49" charset="-122"/>
                <a:cs typeface="Courier New" pitchFamily="49" charset="-120"/>
              </a:rPr>
              <a:t>ACCESS_CONTROL.md</a:t>
            </a:r>
            <a:endParaRPr lang="en-US" sz="1400" dirty="0"/>
          </a:p>
        </p:txBody>
      </p:sp>
      <p:sp>
        <p:nvSpPr>
          <p:cNvPr id="9" name="Text 7"/>
          <p:cNvSpPr/>
          <p:nvPr/>
        </p:nvSpPr>
        <p:spPr>
          <a:xfrm>
            <a:off x="4902200" y="2768402"/>
            <a:ext cx="2324576"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E4A57"/>
                </a:solidFill>
                <a:latin typeface="Arial" pitchFamily="34" charset="0"/>
                <a:ea typeface="Arial" pitchFamily="34" charset="-122"/>
                <a:cs typeface="Arial" pitchFamily="34" charset="-120"/>
              </a:rPr>
              <a:t>who sees what, and why</a:t>
            </a:r>
            <a:endParaRPr lang="en-US" sz="1400" dirty="0"/>
          </a:p>
        </p:txBody>
      </p:sp>
      <p:sp>
        <p:nvSpPr>
          <p:cNvPr id="10" name="Text 8"/>
          <p:cNvSpPr/>
          <p:nvPr/>
        </p:nvSpPr>
        <p:spPr>
          <a:xfrm>
            <a:off x="812800" y="3182342"/>
            <a:ext cx="4055110"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E6F68"/>
                </a:solidFill>
                <a:latin typeface="Courier New" pitchFamily="49" charset="0"/>
                <a:ea typeface="Courier New" pitchFamily="49" charset="-122"/>
                <a:cs typeface="Courier New" pitchFamily="49" charset="-120"/>
              </a:rPr>
              <a:t>docs/reports/README.md</a:t>
            </a:r>
            <a:endParaRPr lang="en-US" sz="1400" dirty="0"/>
          </a:p>
        </p:txBody>
      </p:sp>
      <p:sp>
        <p:nvSpPr>
          <p:cNvPr id="11" name="Text 9"/>
          <p:cNvSpPr/>
          <p:nvPr/>
        </p:nvSpPr>
        <p:spPr>
          <a:xfrm>
            <a:off x="4902200" y="3175992"/>
            <a:ext cx="3617595"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E4A57"/>
                </a:solidFill>
                <a:latin typeface="Arial" pitchFamily="34" charset="0"/>
                <a:ea typeface="Arial" pitchFamily="34" charset="-122"/>
                <a:cs typeface="Arial" pitchFamily="34" charset="-120"/>
              </a:rPr>
              <a:t>the eleven reports and their schedules</a:t>
            </a:r>
            <a:endParaRPr lang="en-US" sz="1400" dirty="0"/>
          </a:p>
        </p:txBody>
      </p:sp>
      <p:sp>
        <p:nvSpPr>
          <p:cNvPr id="12" name="Text 10"/>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All documents are in the group-sync-dashboard repository, under docs/</a:t>
            </a:r>
            <a:endParaRPr lang="en-US" sz="1200" dirty="0"/>
          </a:p>
        </p:txBody>
      </p:sp>
      <p:sp>
        <p:nvSpPr>
          <p:cNvPr id="13" name="Text 11"/>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26 / 26</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OpenShift Access Tracking &amp; Reporting</dc:title>
  <dc:subject/>
  <dc:creator/>
  <cp:lastModifiedBy/>
  <cp:revision>1</cp:revision>
  <dcterms:created xsi:type="dcterms:W3CDTF">2026-10-13T13:42:09Z</dcterms:created>
  <dcterms:modified xsi:type="dcterms:W3CDTF">2026-10-13T13:42:09Z</dcterms:modified>
</cp:coreProperties>
</file>